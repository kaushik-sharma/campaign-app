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4db49233-373d-c7ff-fb28-2bad74efadd8}">
          <p14:sldIdLst>
            <p14:sldId id="256"/>
            <p14:sldId id="257"/>
            <p14:sldId id="258"/>
          </p14:sldIdLst>
        </p14:section>
        <p14:section name="Architecture" id="{2d8e6914-1bd5-6995-6081-c4ba81987f2d}">
          <p14:sldIdLst>
            <p14:sldId id="259"/>
            <p14:sldId id="260"/>
            <p14:sldId id="261"/>
            <p14:sldId id="262"/>
            <p14:sldId id="263"/>
          </p14:sldIdLst>
        </p14:section>
        <p14:section name="Domain and data" id="{a781b886-ac83-6633-bdf3-4cbd3cf0f9b3}">
          <p14:sldIdLst>
            <p14:sldId id="264"/>
            <p14:sldId id="265"/>
            <p14:sldId id="266"/>
            <p14:sldId id="267"/>
            <p14:sldId id="268"/>
          </p14:sldIdLst>
        </p14:section>
        <p14:section name="Platform" id="{329f84c1-56bb-1e52-15e1-a86cbcd105f8}">
          <p14:sldIdLst>
            <p14:sldId id="269"/>
            <p14:sldId id="270"/>
            <p14:sldId id="271"/>
            <p14:sldId id="272"/>
            <p14:sldId id="273"/>
          </p14:sldIdLst>
        </p14:section>
        <p14:section name="Delivery" id="{5119814a-1a15-4cc2-9080-b3e9f472eb7c}">
          <p14:sldIdLst>
            <p14:sldId id="274"/>
            <p14:sldId id="275"/>
            <p14:sldId id="276"/>
            <p14:sldId id="277"/>
            <p14:sldId id="278"/>
          </p14:sldIdLst>
        </p14:section>
        <p14:section name="Review" id="{92547271-6f7f-2ea2-c559-931eb1eb65d5}">
          <p14:sldIdLst>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Campaigns is a mobile app for community-funded message amplification: creators publish a sourced message, it is reviewed, and backers pool money that pays for ads to carry it to new audiences. This deck walks through the architecture and every significant technical decision, including the trade-offs and the known gaps, so it can be reviewed critically.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headline: one service (auth) runs on a real backend; the other eight run on a deliberately realistic on-device backend behind the same typed contracts. That let us build and test every product flow, including failure and loading states, without a server, while keeping a clean path to production. Numbers are from the repository as of this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constraint maps to a concrete architectural consequence. The most important: because there was no server, we invested in a mock backend that fails like a real one, rather than happy-path stubs. That is why the UI already handles offline, timeouts, server errors and retries.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Versions are pinned exactly for Expo-bundled native modules (react, react-native, reanimated, worklets, svg, flash-list, async-storage) and use tilde ranges elsewhere; packages are added with npx expo install so they match the SDK. FlashList is installed but not yet used: lists are currently ScrollView-based, which is a known follow-up for long feeds.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Dependencies point one way: routes use components and feature hooks; hooks call the services facade; the facade exposes typed contracts. Business rules live in pure domain modules with no I/O, so the same fee and reach maths runs in the UI and in the mock server. ESLint fails the build if a screen imports the mock backend directly, so the swap path stays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Swapping a backend is a change in services/index.ts plus a new implementation of one contract; no screen changes. Auth is the proof: Firebase was added without touching any UI except the sign-in screen copy. The mock data services ask a session source for the current user, so they work with either auth backend.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mock call goes through simulateRequest, which adds latency, may fail with a typed ServiceError, and respects abort. Errors carry a code and a retryable flag; the UI picks copy from the code, never from raw messages. This is what makes the mock a credible stand-in: the client-side resilience we built is the same code that will face a real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100 dollar contribution: the backer pays 103.20 (processing on top), the pool receives 100, 10 dollars is the platform fee and 90 dollars buys ads, estimated at about 3,600 people, shown as a ±30% range. Keeping these rules pure and shared means the numbers can never disagree between screens.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Fourteen statuses with an explicit transition table in src/domain/lifecycle.ts. Key product rule encoded here: reaching the funding goal never means ads are live; promotion only follows distribution prep. The simulator lives in the mock backend and only uses legal transitions, so a real server can enforce the same table.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Polling intervals are adaptive: they only run while something can change, for example a payment in the pending state or a campaign in a moving status, and stop otherwise. Zustand is kept deliberately small; anything that comes from the server lives in TanStack Query, never in a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real money moves, but the flow models a real payment provider: an authorization that can be pending, declined or canceled, receipts with numbers, and idempotent retries. Replacing the mock with Stripe means implementing ContributionService.checkout against a PaymentIntent and moving the pending settle to a webhook.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Native Firebase defaults to Swift Package Manager with dynamic frameworks on RN 0.75+. We chose its documented CocoaPods mode with static frameworks because it is the long-established Expo combination and avoids dynamic-framework issues with prebuilt React Native. The token itself is not used by the mock services yet; it is carried in the Session so a real API can send it as a bearer token.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JS tab bar was chosen because it runs in Expo Go and gave full control over the design. Developer routes (dev/…) are hidden in release builds behind a long-press on the version number.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hero transition was built in JS because shared-element transitions were not available in Expo Go. Its first version animated the image size and swapped z-index mid-flight; that worked on iOS and broke on Android (next slide). The redesign keeps the image a fixed size and animates only transforms, which is cheaper on both platforms.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four were reproduced on a physical Android device; none appeared on iOS. The pattern behind the two serious ones: anything that changes view size or stacking order per frame is risky on Android. The deck’s motion principle "transforms over layout" comes directly from these fixes.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Continuous Native Generation means ios/ and android/ are build artifacts: all native behavior is declared in app.json and config plugins, so SDK upgrades are a prebuild away. Local iOS builds currently use Xcode 26.3; SDK 57 asks for 26.4, which needs macOS 26.2. It builds today, but CI should pin a supported Xcode.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Being direct about the gap: the hackathon timeline traded tests for scope. The architecture makes tests cheap to add: the domain is pure functions, services are behind interfaces, and the mock backend already has controllable latency and failure injection for deterministic integration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Severity reflects the cost if the app went to real users as-is. Most items are deliberate consequences of the hackathon scope rather than design flaws; the contracts layer exists precisely so the top risk is retired one service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Ordering principle: first make what exists safe to change (tests, monitoring, builds), then move services server-side in order of risk (data loss and multi-device first), then add the integrations that need real infrastructure. Nothing on the list requires changing screen code thanks to the contracts layer, except new features such as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open decisions with the largest long-term cost. Each has a recommendation in the speaker’s view, but they are best decided with this group: they affect hosting cost, team skills and compliance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331720"/>
            <a:ext cx="8686800" cy="1371600"/>
          </a:xfrm>
          <a:prstGeom prst="rect">
            <a:avLst/>
          </a:prstGeom>
          <a:noFill/>
          <a:ln/>
        </p:spPr>
        <p:txBody>
          <a:bodyPr wrap="square" rtlCol="0"/>
          <a:lstStyle>
            <a:lvl1pPr algn="l" indent="0" marL="0">
              <a:buNone/>
              <a:defRPr lang="en-US" sz="4600" dirty="0">
                <a:solidFill>
                  <a:schemeClr val="bg1"/>
                </a:solidFill>
                <a:latin typeface="Georgia" pitchFamily="34" charset="0"/>
                <a:ea typeface="Georgia" pitchFamily="34" charset="-122"/>
                <a:cs typeface="Georgia" pitchFamily="34" charset="-120"/>
              </a:defRPr>
            </a:lvl1pPr>
          </a:lstStyle>
          <a:p>
            <a:pPr algn="l" indent="0" marL="0">
              <a:buNone/>
            </a:pPr>
            <a:endParaRPr lang="en-US" sz="4600" dirty="0"/>
          </a:p>
        </p:txBody>
      </p:sp>
      <p:sp>
        <p:nvSpPr>
          <p:cNvPr id="3" name="Text 0"/>
          <p:cNvSpPr/>
          <p:nvPr>
            <p:ph idx="101" type="body" hasCustomPrompt="1"/>
          </p:nvPr>
        </p:nvSpPr>
        <p:spPr>
          <a:xfrm>
            <a:off x="731520" y="3794760"/>
            <a:ext cx="8686800" cy="1097280"/>
          </a:xfrm>
          <a:prstGeom prst="rect">
            <a:avLst/>
          </a:prstGeom>
          <a:noFill/>
          <a:ln/>
        </p:spPr>
        <p:txBody>
          <a:bodyPr wrap="square" rtlCol="0"/>
          <a:lstStyle>
            <a:lvl1pPr indent="0" marL="0">
              <a:buNone/>
              <a:defRPr lang="en-US" sz="1800" dirty="0">
                <a:solidFill>
                  <a:schemeClr val="accent2"/>
                </a:solidFill>
                <a:latin typeface="Arial" pitchFamily="34" charset="0"/>
                <a:ea typeface="Arial" pitchFamily="34" charset="-122"/>
                <a:cs typeface="Arial" pitchFamily="34" charset="-120"/>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tx1"/>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731520" y="2240280"/>
            <a:ext cx="5486400" cy="457200"/>
          </a:xfrm>
          <a:prstGeom prst="rect">
            <a:avLst/>
          </a:prstGeom>
          <a:noFill/>
          <a:ln/>
        </p:spPr>
        <p:txBody>
          <a:bodyPr wrap="square" rtlCol="0"/>
          <a:lstStyle>
            <a:lvl1pPr indent="0" marL="0">
              <a:buNone/>
              <a:defRPr lang="en-US" sz="1600" b="1" dirty="0">
                <a:solidFill>
                  <a:schemeClr val="accent2"/>
                </a:solidFill>
                <a:latin typeface="Arial" pitchFamily="34" charset="0"/>
                <a:ea typeface="Arial" pitchFamily="34" charset="-122"/>
                <a:cs typeface="Arial" pitchFamily="34" charset="-120"/>
              </a:defRPr>
            </a:lvl1pPr>
          </a:lstStyle>
          <a:p>
            <a:pPr indent="0" marL="0">
              <a:buNone/>
            </a:pPr>
            <a:endParaRPr lang="en-US" sz="1600" dirty="0"/>
          </a:p>
        </p:txBody>
      </p:sp>
      <p:sp>
        <p:nvSpPr>
          <p:cNvPr id="3" name="Text 0"/>
          <p:cNvSpPr/>
          <p:nvPr>
            <p:ph idx="101" type="title" hasCustomPrompt="1"/>
          </p:nvPr>
        </p:nvSpPr>
        <p:spPr>
          <a:xfrm>
            <a:off x="731520" y="2743200"/>
            <a:ext cx="10058400" cy="1005840"/>
          </a:xfrm>
          <a:prstGeom prst="rect">
            <a:avLst/>
          </a:prstGeom>
          <a:noFill/>
          <a:ln/>
        </p:spPr>
        <p:txBody>
          <a:bodyPr wrap="square" rtlCol="0"/>
          <a:lstStyle>
            <a:lvl1pPr algn="l" indent="0" marL="0">
              <a:buNone/>
              <a:defRPr lang="en-US" sz="4200" dirty="0">
                <a:solidFill>
                  <a:schemeClr val="bg1"/>
                </a:solidFill>
                <a:latin typeface="Georgia" pitchFamily="34" charset="0"/>
                <a:ea typeface="Georgia" pitchFamily="34" charset="-122"/>
                <a:cs typeface="Georgia" pitchFamily="34" charset="-120"/>
              </a:defRPr>
            </a:lvl1pPr>
          </a:lstStyle>
          <a:p>
            <a:pPr algn="l" indent="0" marL="0">
              <a:buNone/>
            </a:pPr>
            <a:endParaRPr lang="en-US" sz="4200" dirty="0"/>
          </a:p>
        </p:txBody>
      </p:sp>
      <p:sp>
        <p:nvSpPr>
          <p:cNvPr id="4" name="Text 0"/>
          <p:cNvSpPr/>
          <p:nvPr>
            <p:ph idx="102" type="body" hasCustomPrompt="1"/>
          </p:nvPr>
        </p:nvSpPr>
        <p:spPr>
          <a:xfrm>
            <a:off x="731520" y="3886200"/>
            <a:ext cx="9601200" cy="914400"/>
          </a:xfrm>
          <a:prstGeom prst="rect">
            <a:avLst/>
          </a:prstGeom>
          <a:noFill/>
          <a:ln/>
        </p:spPr>
        <p:txBody>
          <a:bodyPr wrap="square" rtlCol="0"/>
          <a:lstStyle>
            <a:lvl1pPr indent="0" marL="0">
              <a:buNone/>
              <a:defRPr lang="en-US" sz="1800" dirty="0">
                <a:solidFill>
                  <a:schemeClr val="accent6"/>
                </a:solidFill>
                <a:latin typeface="Arial" pitchFamily="34" charset="0"/>
                <a:ea typeface="Arial" pitchFamily="34" charset="-122"/>
                <a:cs typeface="Arial" pitchFamily="34" charset="-120"/>
              </a:defRPr>
            </a:lvl1pPr>
          </a:lstStyle>
          <a:p>
            <a:pPr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rtlCol="0"/>
          <a:lstStyle>
            <a:lvl1pPr algn="l" indent="0" marL="0">
              <a:buNone/>
              <a:defRPr lang="en-US" sz="3200" dirty="0">
                <a:solidFill>
                  <a:schemeClr val="tx1"/>
                </a:solidFill>
                <a:latin typeface="Georgia" pitchFamily="34" charset="0"/>
                <a:ea typeface="Georgia" pitchFamily="34" charset="-122"/>
                <a:cs typeface="Georgia" pitchFamily="34" charset="-120"/>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latin typeface="Arial" pitchFamily="34" charset="0"/>
                <a:ea typeface="Arial" pitchFamily="34" charset="-122"/>
                <a:cs typeface="Arial" pitchFamily="34" charset="-120"/>
              </a:rPr>
              <a:t>Campaigns · Technical overview</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rtlCol="0"/>
          <a:lstStyle>
            <a:lvl1pPr algn="l" indent="0" marL="0">
              <a:buNone/>
              <a:defRPr lang="en-US" sz="3200" dirty="0">
                <a:solidFill>
                  <a:schemeClr val="bg1"/>
                </a:solidFill>
                <a:latin typeface="Georgia" pitchFamily="34" charset="0"/>
                <a:ea typeface="Georgia" pitchFamily="34" charset="-122"/>
                <a:cs typeface="Georgia" pitchFamily="34" charset="-120"/>
              </a:defRPr>
            </a:lvl1pPr>
          </a:lstStyle>
          <a:p>
            <a:pPr algn="l" indent="0" marL="0">
              <a:buNone/>
            </a:pPr>
            <a:endParaRPr lang="en-US" sz="32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chemeClr val="accent6"/>
                </a:solidFill>
                <a:latin typeface="Arial" pitchFamily="34" charset="0"/>
                <a:ea typeface="Arial" pitchFamily="34" charset="-122"/>
                <a:cs typeface="Arial" pitchFamily="34" charset="-120"/>
              </a:rPr>
              <a:t>Campaigns · Technical overview</a:t>
            </a:r>
            <a:endParaRPr lang="en-US" sz="10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4.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4.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4.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slideLayout" Target="../slideLayouts/slideLayout4.xml"/><Relationship Id="rId5"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image" Target="../media/image-21-5.png"/><Relationship Id="rId6" Type="http://schemas.openxmlformats.org/officeDocument/2006/relationships/slideLayout" Target="../slideLayouts/slideLayout4.xml"/><Relationship Id="rId7"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logo" descr="/Users/kaushiksharma/Desktop/campaign-app/assets/images/splash-icon-dark.png">    </p:cNvPr>
          <p:cNvPicPr>
            <a:picLocks noChangeAspect="1"/>
          </p:cNvPicPr>
          <p:nvPr/>
        </p:nvPicPr>
        <p:blipFill>
          <a:blip r:embed="rId1"/>
          <a:stretch>
            <a:fillRect/>
          </a:stretch>
        </p:blipFill>
        <p:spPr>
          <a:xfrm>
            <a:off x="566928" y="960120"/>
            <a:ext cx="1234440" cy="1234440"/>
          </a:xfrm>
          <a:prstGeom prst="rect">
            <a:avLst/>
          </a:prstGeom>
        </p:spPr>
      </p:pic>
      <p:sp>
        <p:nvSpPr>
          <p:cNvPr id="3" name="Text 0"/>
          <p:cNvSpPr/>
          <p:nvPr>
            <p:ph idx="100" type="title" hasCustomPrompt="1"/>
          </p:nvPr>
        </p:nvSpPr>
        <p:spPr>
          <a:xfrm>
            <a:off x="731520" y="2331720"/>
            <a:ext cx="8686800" cy="1371600"/>
          </a:xfrm>
          <a:prstGeom prst="rect">
            <a:avLst/>
          </a:prstGeom>
          <a:noFill/>
          <a:ln/>
        </p:spPr>
        <p:txBody>
          <a:bodyPr wrap="square" lIns="0" tIns="0" rIns="0" bIns="0" rtlCol="0" anchor="t"/>
          <a:lstStyle/>
          <a:p>
            <a:pPr algn="l" indent="0" marL="0">
              <a:buNone/>
            </a:pPr>
            <a:r>
              <a:rPr lang="en-US" sz="4600" dirty="0">
                <a:solidFill>
                  <a:schemeClr val="bg1"/>
                </a:solidFill>
                <a:latin typeface="Georgia" pitchFamily="34" charset="0"/>
                <a:ea typeface="Georgia" pitchFamily="34" charset="-122"/>
                <a:cs typeface="Georgia" pitchFamily="34" charset="-120"/>
              </a:rPr>
              <a:t>Campaigns: technical overview</a:t>
            </a:r>
            <a:endParaRPr lang="en-US" sz="4600" dirty="0"/>
          </a:p>
        </p:txBody>
      </p:sp>
      <p:sp>
        <p:nvSpPr>
          <p:cNvPr id="4" name="Text 0"/>
          <p:cNvSpPr/>
          <p:nvPr>
            <p:ph idx="101" type="body" hasCustomPrompt="1"/>
          </p:nvPr>
        </p:nvSpPr>
        <p:spPr>
          <a:xfrm>
            <a:off x="731520" y="3794760"/>
            <a:ext cx="8686800" cy="1097280"/>
          </a:xfrm>
          <a:prstGeom prst="rect">
            <a:avLst/>
          </a:prstGeom>
          <a:noFill/>
          <a:ln/>
        </p:spPr>
        <p:txBody>
          <a:bodyPr wrap="square" lIns="0" tIns="0" rIns="0" bIns="0" rtlCol="0" anchor="t"/>
          <a:lstStyle/>
          <a:p>
            <a:pPr indent="0" marL="0">
              <a:buNone/>
            </a:pPr>
            <a:r>
              <a:rPr lang="en-US" sz="1800" dirty="0">
                <a:solidFill>
                  <a:schemeClr val="accent2"/>
                </a:solidFill>
                <a:latin typeface="Arial" pitchFamily="34" charset="0"/>
                <a:ea typeface="Arial" pitchFamily="34" charset="-122"/>
                <a:cs typeface="Arial" pitchFamily="34" charset="-120"/>
              </a:rPr>
              <a:t>Architecture, system design and the decisions behind them. For review by engineering leadership.</a:t>
            </a:r>
            <a:endParaRPr lang="en-US" sz="1800" dirty="0"/>
          </a:p>
        </p:txBody>
      </p:sp>
      <p:sp>
        <p:nvSpPr>
          <p:cNvPr id="5" name="text-1"/>
          <p:cNvSpPr txBox="1"/>
          <p:nvPr/>
        </p:nvSpPr>
        <p:spPr>
          <a:xfrm>
            <a:off x="731520" y="5989320"/>
            <a:ext cx="10058400" cy="365760"/>
          </a:xfrm>
          <a:prstGeom prst="rect">
            <a:avLst/>
          </a:prstGeom>
          <a:noFill/>
          <a:ln/>
        </p:spPr>
        <p:txBody>
          <a:bodyPr wrap="square" lIns="0" tIns="0" rIns="0" bIns="0" rtlCol="0" anchor="t"/>
          <a:lstStyle/>
          <a:p>
            <a:pPr indent="0" marL="0">
              <a:buNone/>
            </a:pPr>
            <a:r>
              <a:rPr lang="en-US" sz="1400" dirty="0">
                <a:solidFill>
                  <a:schemeClr val="accent6"/>
                </a:solidFill>
                <a:latin typeface="Arial" pitchFamily="34" charset="0"/>
                <a:ea typeface="Arial" pitchFamily="34" charset="-122"/>
                <a:cs typeface="Arial" pitchFamily="34" charset="-120"/>
              </a:rPr>
              <a:t>Expo SDK 57  ·  React Native 0.86 (New Architecture)  ·  TypeScript strict  ·  Firebase Auth</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dirty="0">
                <a:solidFill>
                  <a:schemeClr val="tx1"/>
                </a:solidFill>
                <a:latin typeface="Georgia" pitchFamily="34" charset="0"/>
                <a:ea typeface="Georgia" pitchFamily="34" charset="-122"/>
                <a:cs typeface="Georgia" pitchFamily="34" charset="-120"/>
              </a:rPr>
              <a:t>One real service today, a contract for every other one</a:t>
            </a:r>
            <a:endParaRPr lang="en-US" sz="3200" dirty="0"/>
          </a:p>
        </p:txBody>
      </p:sp>
      <p:sp>
        <p:nvSpPr>
          <p:cNvPr id="3" name="card-2"/>
          <p:cNvSpPr/>
          <p:nvPr/>
        </p:nvSpPr>
        <p:spPr>
          <a:xfrm>
            <a:off x="548640" y="1371600"/>
            <a:ext cx="2567864" cy="1417320"/>
          </a:xfrm>
          <a:prstGeom prst="roundRect">
            <a:avLst>
              <a:gd name="adj" fmla="val 7742"/>
            </a:avLst>
          </a:prstGeom>
          <a:solidFill>
            <a:schemeClr val="bg2"/>
          </a:solidFill>
          <a:ln/>
        </p:spPr>
      </p:sp>
      <p:sp>
        <p:nvSpPr>
          <p:cNvPr id="4" name="text-3"/>
          <p:cNvSpPr txBox="1"/>
          <p:nvPr/>
        </p:nvSpPr>
        <p:spPr>
          <a:xfrm>
            <a:off x="822960" y="1536192"/>
            <a:ext cx="2019224" cy="685800"/>
          </a:xfrm>
          <a:prstGeom prst="rect">
            <a:avLst/>
          </a:prstGeom>
          <a:noFill/>
          <a:ln/>
        </p:spPr>
        <p:txBody>
          <a:bodyPr wrap="square" lIns="0" tIns="0" rIns="0" bIns="0" rtlCol="0" anchor="t"/>
          <a:lstStyle/>
          <a:p>
            <a:pPr indent="0" marL="0">
              <a:buNone/>
            </a:pPr>
            <a:r>
              <a:rPr lang="en-US" sz="4000" b="1" dirty="0">
                <a:solidFill>
                  <a:schemeClr val="accent1"/>
                </a:solidFill>
                <a:latin typeface="Georgia" pitchFamily="34" charset="0"/>
                <a:ea typeface="Georgia" pitchFamily="34" charset="-122"/>
                <a:cs typeface="Georgia" pitchFamily="34" charset="-120"/>
              </a:rPr>
              <a:t>23</a:t>
            </a:r>
            <a:endParaRPr lang="en-US" sz="4000" dirty="0"/>
          </a:p>
        </p:txBody>
      </p:sp>
      <p:sp>
        <p:nvSpPr>
          <p:cNvPr id="5" name="text-4"/>
          <p:cNvSpPr txBox="1"/>
          <p:nvPr/>
        </p:nvSpPr>
        <p:spPr>
          <a:xfrm>
            <a:off x="822960" y="2240280"/>
            <a:ext cx="2019224" cy="41148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screens (Expo Router routes)</a:t>
            </a:r>
            <a:endParaRPr lang="en-US" sz="1400" dirty="0"/>
          </a:p>
        </p:txBody>
      </p:sp>
      <p:sp>
        <p:nvSpPr>
          <p:cNvPr id="6" name="card-5"/>
          <p:cNvSpPr/>
          <p:nvPr/>
        </p:nvSpPr>
        <p:spPr>
          <a:xfrm>
            <a:off x="3390824" y="1371600"/>
            <a:ext cx="2567864" cy="1417320"/>
          </a:xfrm>
          <a:prstGeom prst="roundRect">
            <a:avLst>
              <a:gd name="adj" fmla="val 7742"/>
            </a:avLst>
          </a:prstGeom>
          <a:solidFill>
            <a:schemeClr val="bg2"/>
          </a:solidFill>
          <a:ln/>
        </p:spPr>
      </p:sp>
      <p:sp>
        <p:nvSpPr>
          <p:cNvPr id="7" name="text-6"/>
          <p:cNvSpPr txBox="1"/>
          <p:nvPr/>
        </p:nvSpPr>
        <p:spPr>
          <a:xfrm>
            <a:off x="3665144" y="1536192"/>
            <a:ext cx="2019224" cy="685800"/>
          </a:xfrm>
          <a:prstGeom prst="rect">
            <a:avLst/>
          </a:prstGeom>
          <a:noFill/>
          <a:ln/>
        </p:spPr>
        <p:txBody>
          <a:bodyPr wrap="square" lIns="0" tIns="0" rIns="0" bIns="0" rtlCol="0" anchor="t"/>
          <a:lstStyle/>
          <a:p>
            <a:pPr indent="0" marL="0">
              <a:buNone/>
            </a:pPr>
            <a:r>
              <a:rPr lang="en-US" sz="4000" b="1" dirty="0">
                <a:solidFill>
                  <a:schemeClr val="accent1"/>
                </a:solidFill>
                <a:latin typeface="Georgia" pitchFamily="34" charset="0"/>
                <a:ea typeface="Georgia" pitchFamily="34" charset="-122"/>
                <a:cs typeface="Georgia" pitchFamily="34" charset="-120"/>
              </a:rPr>
              <a:t>~19.8k</a:t>
            </a:r>
            <a:endParaRPr lang="en-US" sz="4000" dirty="0"/>
          </a:p>
        </p:txBody>
      </p:sp>
      <p:sp>
        <p:nvSpPr>
          <p:cNvPr id="8" name="text-7"/>
          <p:cNvSpPr txBox="1"/>
          <p:nvPr/>
        </p:nvSpPr>
        <p:spPr>
          <a:xfrm>
            <a:off x="3665144" y="2240280"/>
            <a:ext cx="2019224" cy="41148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lines of TypeScript</a:t>
            </a:r>
            <a:endParaRPr lang="en-US" sz="1400" dirty="0"/>
          </a:p>
        </p:txBody>
      </p:sp>
      <p:sp>
        <p:nvSpPr>
          <p:cNvPr id="9" name="card-8"/>
          <p:cNvSpPr/>
          <p:nvPr/>
        </p:nvSpPr>
        <p:spPr>
          <a:xfrm>
            <a:off x="6233008" y="1371600"/>
            <a:ext cx="2567864" cy="1417320"/>
          </a:xfrm>
          <a:prstGeom prst="roundRect">
            <a:avLst>
              <a:gd name="adj" fmla="val 7742"/>
            </a:avLst>
          </a:prstGeom>
          <a:solidFill>
            <a:schemeClr val="bg2"/>
          </a:solidFill>
          <a:ln/>
        </p:spPr>
      </p:sp>
      <p:sp>
        <p:nvSpPr>
          <p:cNvPr id="10" name="text-9"/>
          <p:cNvSpPr txBox="1"/>
          <p:nvPr/>
        </p:nvSpPr>
        <p:spPr>
          <a:xfrm>
            <a:off x="6507328" y="1536192"/>
            <a:ext cx="2019224" cy="685800"/>
          </a:xfrm>
          <a:prstGeom prst="rect">
            <a:avLst/>
          </a:prstGeom>
          <a:noFill/>
          <a:ln/>
        </p:spPr>
        <p:txBody>
          <a:bodyPr wrap="square" lIns="0" tIns="0" rIns="0" bIns="0" rtlCol="0" anchor="t"/>
          <a:lstStyle/>
          <a:p>
            <a:pPr indent="0" marL="0">
              <a:buNone/>
            </a:pPr>
            <a:r>
              <a:rPr lang="en-US" sz="4000" b="1" dirty="0">
                <a:solidFill>
                  <a:schemeClr val="accent1"/>
                </a:solidFill>
                <a:latin typeface="Georgia" pitchFamily="34" charset="0"/>
                <a:ea typeface="Georgia" pitchFamily="34" charset="-122"/>
                <a:cs typeface="Georgia" pitchFamily="34" charset="-120"/>
              </a:rPr>
              <a:t>14</a:t>
            </a:r>
            <a:endParaRPr lang="en-US" sz="4000" dirty="0"/>
          </a:p>
        </p:txBody>
      </p:sp>
      <p:sp>
        <p:nvSpPr>
          <p:cNvPr id="11" name="text-10"/>
          <p:cNvSpPr txBox="1"/>
          <p:nvPr/>
        </p:nvSpPr>
        <p:spPr>
          <a:xfrm>
            <a:off x="6507328" y="2240280"/>
            <a:ext cx="2019224" cy="41148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campaign lifecycle states</a:t>
            </a:r>
            <a:endParaRPr lang="en-US" sz="1400" dirty="0"/>
          </a:p>
        </p:txBody>
      </p:sp>
      <p:sp>
        <p:nvSpPr>
          <p:cNvPr id="12" name="card-11"/>
          <p:cNvSpPr/>
          <p:nvPr/>
        </p:nvSpPr>
        <p:spPr>
          <a:xfrm>
            <a:off x="9075191" y="1371600"/>
            <a:ext cx="2567864" cy="1417320"/>
          </a:xfrm>
          <a:prstGeom prst="roundRect">
            <a:avLst>
              <a:gd name="adj" fmla="val 7742"/>
            </a:avLst>
          </a:prstGeom>
          <a:solidFill>
            <a:schemeClr val="bg2"/>
          </a:solidFill>
          <a:ln/>
        </p:spPr>
      </p:sp>
      <p:sp>
        <p:nvSpPr>
          <p:cNvPr id="13" name="text-12"/>
          <p:cNvSpPr txBox="1"/>
          <p:nvPr/>
        </p:nvSpPr>
        <p:spPr>
          <a:xfrm>
            <a:off x="9349511" y="1536192"/>
            <a:ext cx="2019224" cy="685800"/>
          </a:xfrm>
          <a:prstGeom prst="rect">
            <a:avLst/>
          </a:prstGeom>
          <a:noFill/>
          <a:ln/>
        </p:spPr>
        <p:txBody>
          <a:bodyPr wrap="square" lIns="0" tIns="0" rIns="0" bIns="0" rtlCol="0" anchor="t"/>
          <a:lstStyle/>
          <a:p>
            <a:pPr indent="0" marL="0">
              <a:buNone/>
            </a:pPr>
            <a:r>
              <a:rPr lang="en-US" sz="4000" b="1" dirty="0">
                <a:solidFill>
                  <a:schemeClr val="accent1"/>
                </a:solidFill>
                <a:latin typeface="Georgia" pitchFamily="34" charset="0"/>
                <a:ea typeface="Georgia" pitchFamily="34" charset="-122"/>
                <a:cs typeface="Georgia" pitchFamily="34" charset="-120"/>
              </a:rPr>
              <a:t>1 of 9</a:t>
            </a:r>
            <a:endParaRPr lang="en-US" sz="4000" dirty="0"/>
          </a:p>
        </p:txBody>
      </p:sp>
      <p:sp>
        <p:nvSpPr>
          <p:cNvPr id="14" name="text-13"/>
          <p:cNvSpPr txBox="1"/>
          <p:nvPr/>
        </p:nvSpPr>
        <p:spPr>
          <a:xfrm>
            <a:off x="9349511" y="2240280"/>
            <a:ext cx="2019224" cy="41148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services on a real backend (auth)</a:t>
            </a:r>
            <a:endParaRPr lang="en-US" sz="1400" dirty="0"/>
          </a:p>
        </p:txBody>
      </p:sp>
      <p:sp>
        <p:nvSpPr>
          <p:cNvPr id="15" name="icon-bg-14"/>
          <p:cNvSpPr/>
          <p:nvPr/>
        </p:nvSpPr>
        <p:spPr>
          <a:xfrm>
            <a:off x="548640" y="3154680"/>
            <a:ext cx="502920" cy="502920"/>
          </a:xfrm>
          <a:prstGeom prst="ellipse">
            <a:avLst/>
          </a:prstGeom>
          <a:solidFill>
            <a:schemeClr val="accent1"/>
          </a:solidFill>
          <a:ln/>
        </p:spPr>
      </p:sp>
      <p:pic>
        <p:nvPicPr>
          <p:cNvPr id="16" name="icon-15" descr="preencoded.png">    </p:cNvPr>
          <p:cNvPicPr>
            <a:picLocks noChangeAspect="1"/>
          </p:cNvPicPr>
          <p:nvPr/>
        </p:nvPicPr>
        <p:blipFill>
          <a:blip r:embed="rId1"/>
          <a:stretch>
            <a:fillRect/>
          </a:stretch>
        </p:blipFill>
        <p:spPr>
          <a:xfrm>
            <a:off x="659282" y="3265322"/>
            <a:ext cx="281635" cy="281635"/>
          </a:xfrm>
          <a:prstGeom prst="rect">
            <a:avLst/>
          </a:prstGeom>
        </p:spPr>
      </p:pic>
      <p:sp>
        <p:nvSpPr>
          <p:cNvPr id="17" name="text-16"/>
          <p:cNvSpPr txBox="1"/>
          <p:nvPr/>
        </p:nvSpPr>
        <p:spPr>
          <a:xfrm>
            <a:off x="1280160" y="3108960"/>
            <a:ext cx="4678528"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Contract-first service layer</a:t>
            </a:r>
            <a:endParaRPr lang="en-US" sz="1600" dirty="0"/>
          </a:p>
        </p:txBody>
      </p:sp>
      <p:sp>
        <p:nvSpPr>
          <p:cNvPr id="18" name="text-17"/>
          <p:cNvSpPr txBox="1"/>
          <p:nvPr/>
        </p:nvSpPr>
        <p:spPr>
          <a:xfrm>
            <a:off x="1280160" y="3493008"/>
            <a:ext cx="4587088" cy="91440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Screens reach data only through typed contracts. Each service can move to a real backend on its own; ESLint enforces the boundary.</a:t>
            </a:r>
            <a:endParaRPr lang="en-US" sz="1400" dirty="0"/>
          </a:p>
        </p:txBody>
      </p:sp>
      <p:sp>
        <p:nvSpPr>
          <p:cNvPr id="19" name="icon-bg-18"/>
          <p:cNvSpPr/>
          <p:nvPr/>
        </p:nvSpPr>
        <p:spPr>
          <a:xfrm>
            <a:off x="6233008" y="3154680"/>
            <a:ext cx="502920" cy="502920"/>
          </a:xfrm>
          <a:prstGeom prst="ellipse">
            <a:avLst/>
          </a:prstGeom>
          <a:solidFill>
            <a:schemeClr val="accent1"/>
          </a:solidFill>
          <a:ln/>
        </p:spPr>
      </p:sp>
      <p:pic>
        <p:nvPicPr>
          <p:cNvPr id="20" name="icon-19" descr="preencoded.png">    </p:cNvPr>
          <p:cNvPicPr>
            <a:picLocks noChangeAspect="1"/>
          </p:cNvPicPr>
          <p:nvPr/>
        </p:nvPicPr>
        <p:blipFill>
          <a:blip r:embed="rId2"/>
          <a:stretch>
            <a:fillRect/>
          </a:stretch>
        </p:blipFill>
        <p:spPr>
          <a:xfrm>
            <a:off x="6343650" y="3265322"/>
            <a:ext cx="281635" cy="281635"/>
          </a:xfrm>
          <a:prstGeom prst="rect">
            <a:avLst/>
          </a:prstGeom>
        </p:spPr>
      </p:pic>
      <p:sp>
        <p:nvSpPr>
          <p:cNvPr id="21" name="text-20"/>
          <p:cNvSpPr txBox="1"/>
          <p:nvPr/>
        </p:nvSpPr>
        <p:spPr>
          <a:xfrm>
            <a:off x="6964528" y="3108960"/>
            <a:ext cx="4678528"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A mock backend that behaves like a network</a:t>
            </a:r>
            <a:endParaRPr lang="en-US" sz="1600" dirty="0"/>
          </a:p>
        </p:txBody>
      </p:sp>
      <p:sp>
        <p:nvSpPr>
          <p:cNvPr id="22" name="text-21"/>
          <p:cNvSpPr txBox="1"/>
          <p:nvPr/>
        </p:nvSpPr>
        <p:spPr>
          <a:xfrm>
            <a:off x="6964528" y="3493008"/>
            <a:ext cx="4587088" cy="91440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Latency, injected failures, cancellation, pagination, validation and permissions, persisted on device, so every UI state is real.</a:t>
            </a:r>
            <a:endParaRPr lang="en-US" sz="1400" dirty="0"/>
          </a:p>
        </p:txBody>
      </p:sp>
      <p:sp>
        <p:nvSpPr>
          <p:cNvPr id="23" name="icon-bg-22"/>
          <p:cNvSpPr/>
          <p:nvPr/>
        </p:nvSpPr>
        <p:spPr>
          <a:xfrm>
            <a:off x="548640" y="4663440"/>
            <a:ext cx="502920" cy="502920"/>
          </a:xfrm>
          <a:prstGeom prst="ellipse">
            <a:avLst/>
          </a:prstGeom>
          <a:solidFill>
            <a:schemeClr val="accent1"/>
          </a:solidFill>
          <a:ln/>
        </p:spPr>
      </p:sp>
      <p:pic>
        <p:nvPicPr>
          <p:cNvPr id="24" name="icon-23" descr="preencoded.png">    </p:cNvPr>
          <p:cNvPicPr>
            <a:picLocks noChangeAspect="1"/>
          </p:cNvPicPr>
          <p:nvPr/>
        </p:nvPicPr>
        <p:blipFill>
          <a:blip r:embed="rId3"/>
          <a:stretch>
            <a:fillRect/>
          </a:stretch>
        </p:blipFill>
        <p:spPr>
          <a:xfrm>
            <a:off x="659282" y="4774082"/>
            <a:ext cx="281635" cy="281635"/>
          </a:xfrm>
          <a:prstGeom prst="rect">
            <a:avLst/>
          </a:prstGeom>
        </p:spPr>
      </p:pic>
      <p:sp>
        <p:nvSpPr>
          <p:cNvPr id="25" name="text-24"/>
          <p:cNvSpPr txBox="1"/>
          <p:nvPr/>
        </p:nvSpPr>
        <p:spPr>
          <a:xfrm>
            <a:off x="1280160" y="4617720"/>
            <a:ext cx="4678528"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Real auth on Firebase</a:t>
            </a:r>
            <a:endParaRPr lang="en-US" sz="1600" dirty="0"/>
          </a:p>
        </p:txBody>
      </p:sp>
      <p:sp>
        <p:nvSpPr>
          <p:cNvPr id="26" name="text-25"/>
          <p:cNvSpPr txBox="1"/>
          <p:nvPr/>
        </p:nvSpPr>
        <p:spPr>
          <a:xfrm>
            <a:off x="1280160" y="5001768"/>
            <a:ext cx="4587088" cy="91440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Email and password through React Native Firebase; the rest of the app keys its data off the Firebase user.</a:t>
            </a:r>
            <a:endParaRPr lang="en-US" sz="1400" dirty="0"/>
          </a:p>
        </p:txBody>
      </p:sp>
      <p:sp>
        <p:nvSpPr>
          <p:cNvPr id="27" name="icon-bg-26"/>
          <p:cNvSpPr/>
          <p:nvPr/>
        </p:nvSpPr>
        <p:spPr>
          <a:xfrm>
            <a:off x="6233008" y="4663440"/>
            <a:ext cx="502920" cy="502920"/>
          </a:xfrm>
          <a:prstGeom prst="ellipse">
            <a:avLst/>
          </a:prstGeom>
          <a:solidFill>
            <a:schemeClr val="accent1"/>
          </a:solidFill>
          <a:ln/>
        </p:spPr>
      </p:sp>
      <p:pic>
        <p:nvPicPr>
          <p:cNvPr id="28" name="icon-27" descr="preencoded.png">    </p:cNvPr>
          <p:cNvPicPr>
            <a:picLocks noChangeAspect="1"/>
          </p:cNvPicPr>
          <p:nvPr/>
        </p:nvPicPr>
        <p:blipFill>
          <a:blip r:embed="rId4"/>
          <a:stretch>
            <a:fillRect/>
          </a:stretch>
        </p:blipFill>
        <p:spPr>
          <a:xfrm>
            <a:off x="6343650" y="4774082"/>
            <a:ext cx="281635" cy="281635"/>
          </a:xfrm>
          <a:prstGeom prst="rect">
            <a:avLst/>
          </a:prstGeom>
        </p:spPr>
      </p:pic>
      <p:sp>
        <p:nvSpPr>
          <p:cNvPr id="29" name="text-28"/>
          <p:cNvSpPr txBox="1"/>
          <p:nvPr/>
        </p:nvSpPr>
        <p:spPr>
          <a:xfrm>
            <a:off x="6964528" y="4617720"/>
            <a:ext cx="4678528"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Motion on the UI thread</a:t>
            </a:r>
            <a:endParaRPr lang="en-US" sz="1600" dirty="0"/>
          </a:p>
        </p:txBody>
      </p:sp>
      <p:sp>
        <p:nvSpPr>
          <p:cNvPr id="30" name="text-29"/>
          <p:cNvSpPr txBox="1"/>
          <p:nvPr/>
        </p:nvSpPr>
        <p:spPr>
          <a:xfrm>
            <a:off x="6964528" y="5001768"/>
            <a:ext cx="4587088" cy="91440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Reanimated 4 worklets for every animation, shared tokens, and a live reduced-motion setting.</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dirty="0">
                <a:solidFill>
                  <a:schemeClr val="tx1"/>
                </a:solidFill>
                <a:latin typeface="Georgia" pitchFamily="34" charset="0"/>
                <a:ea typeface="Georgia" pitchFamily="34" charset="-122"/>
                <a:cs typeface="Georgia" pitchFamily="34" charset="-120"/>
              </a:rPr>
              <a:t>Constraints that shaped the architecture</a:t>
            </a:r>
            <a:endParaRPr lang="en-US" sz="3200" dirty="0"/>
          </a:p>
        </p:txBody>
      </p:sp>
      <p:sp>
        <p:nvSpPr>
          <p:cNvPr id="3" name="card-30"/>
          <p:cNvSpPr/>
          <p:nvPr/>
        </p:nvSpPr>
        <p:spPr>
          <a:xfrm>
            <a:off x="548640" y="1371600"/>
            <a:ext cx="4023360" cy="777240"/>
          </a:xfrm>
          <a:prstGeom prst="roundRect">
            <a:avLst>
              <a:gd name="adj" fmla="val 14118"/>
            </a:avLst>
          </a:prstGeom>
          <a:solidFill>
            <a:schemeClr val="bg2"/>
          </a:solidFill>
          <a:ln/>
        </p:spPr>
      </p:sp>
      <p:sp>
        <p:nvSpPr>
          <p:cNvPr id="4" name="text-31"/>
          <p:cNvSpPr txBox="1"/>
          <p:nvPr/>
        </p:nvSpPr>
        <p:spPr>
          <a:xfrm>
            <a:off x="822960" y="1371600"/>
            <a:ext cx="3566160" cy="77724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A 3-day hackathon build</a:t>
            </a:r>
            <a:endParaRPr lang="en-US" sz="1600" dirty="0"/>
          </a:p>
        </p:txBody>
      </p:sp>
      <p:sp>
        <p:nvSpPr>
          <p:cNvPr id="5" name="arrow-32"/>
          <p:cNvSpPr/>
          <p:nvPr/>
        </p:nvSpPr>
        <p:spPr>
          <a:xfrm>
            <a:off x="4709160" y="1760220"/>
            <a:ext cx="640080" cy="914"/>
          </a:xfrm>
          <a:prstGeom prst="line">
            <a:avLst/>
          </a:prstGeom>
          <a:noFill/>
          <a:ln w="25400">
            <a:solidFill>
              <a:schemeClr val="accent1"/>
            </a:solidFill>
            <a:prstDash val="solid"/>
            <a:tailEnd type="triangle"/>
          </a:ln>
        </p:spPr>
      </p:sp>
      <p:sp>
        <p:nvSpPr>
          <p:cNvPr id="6" name="text-33"/>
          <p:cNvSpPr txBox="1"/>
          <p:nvPr/>
        </p:nvSpPr>
        <p:spPr>
          <a:xfrm>
            <a:off x="5532120" y="1371600"/>
            <a:ext cx="6110935" cy="777240"/>
          </a:xfrm>
          <a:prstGeom prst="rect">
            <a:avLst/>
          </a:prstGeom>
          <a:noFill/>
          <a:ln/>
        </p:spPr>
        <p:txBody>
          <a:bodyPr wrap="square" lIns="0" tIns="0" rIns="0" bIns="0" rtlCol="0" anchor="ctr"/>
          <a:lstStyle/>
          <a:p>
            <a:pPr indent="0" marL="0">
              <a:buNone/>
            </a:pPr>
            <a:r>
              <a:rPr lang="en-US" sz="1400" dirty="0">
                <a:solidFill>
                  <a:schemeClr val="tx2"/>
                </a:solidFill>
                <a:latin typeface="Arial" pitchFamily="34" charset="0"/>
                <a:ea typeface="Arial" pitchFamily="34" charset="-122"/>
                <a:cs typeface="Arial" pitchFamily="34" charset="-120"/>
              </a:rPr>
              <a:t>Scope went to UI, flows and motion; infrastructure is simulated behind contracts rather than half-built.</a:t>
            </a:r>
            <a:endParaRPr lang="en-US" sz="1400" dirty="0"/>
          </a:p>
        </p:txBody>
      </p:sp>
      <p:sp>
        <p:nvSpPr>
          <p:cNvPr id="7" name="card-34"/>
          <p:cNvSpPr/>
          <p:nvPr/>
        </p:nvSpPr>
        <p:spPr>
          <a:xfrm>
            <a:off x="548640" y="2313432"/>
            <a:ext cx="4023360" cy="777240"/>
          </a:xfrm>
          <a:prstGeom prst="roundRect">
            <a:avLst>
              <a:gd name="adj" fmla="val 14118"/>
            </a:avLst>
          </a:prstGeom>
          <a:solidFill>
            <a:schemeClr val="bg2"/>
          </a:solidFill>
          <a:ln/>
        </p:spPr>
      </p:sp>
      <p:sp>
        <p:nvSpPr>
          <p:cNvPr id="8" name="text-35"/>
          <p:cNvSpPr txBox="1"/>
          <p:nvPr/>
        </p:nvSpPr>
        <p:spPr>
          <a:xfrm>
            <a:off x="822960" y="2313432"/>
            <a:ext cx="3566160" cy="77724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Expo Go for phases 1–5</a:t>
            </a:r>
            <a:endParaRPr lang="en-US" sz="1600" dirty="0"/>
          </a:p>
        </p:txBody>
      </p:sp>
      <p:sp>
        <p:nvSpPr>
          <p:cNvPr id="9" name="arrow-36"/>
          <p:cNvSpPr/>
          <p:nvPr/>
        </p:nvSpPr>
        <p:spPr>
          <a:xfrm>
            <a:off x="4709160" y="2702052"/>
            <a:ext cx="640080" cy="914"/>
          </a:xfrm>
          <a:prstGeom prst="line">
            <a:avLst/>
          </a:prstGeom>
          <a:noFill/>
          <a:ln w="25400">
            <a:solidFill>
              <a:schemeClr val="accent1"/>
            </a:solidFill>
            <a:prstDash val="solid"/>
            <a:tailEnd type="triangle"/>
          </a:ln>
        </p:spPr>
      </p:sp>
      <p:sp>
        <p:nvSpPr>
          <p:cNvPr id="10" name="text-37"/>
          <p:cNvSpPr txBox="1"/>
          <p:nvPr/>
        </p:nvSpPr>
        <p:spPr>
          <a:xfrm>
            <a:off x="5532120" y="2313432"/>
            <a:ext cx="6110935" cy="777240"/>
          </a:xfrm>
          <a:prstGeom prst="rect">
            <a:avLst/>
          </a:prstGeom>
          <a:noFill/>
          <a:ln/>
        </p:spPr>
        <p:txBody>
          <a:bodyPr wrap="square" lIns="0" tIns="0" rIns="0" bIns="0" rtlCol="0" anchor="ctr"/>
          <a:lstStyle/>
          <a:p>
            <a:pPr indent="0" marL="0">
              <a:buNone/>
            </a:pPr>
            <a:r>
              <a:rPr lang="en-US" sz="1400" dirty="0">
                <a:solidFill>
                  <a:schemeClr val="tx2"/>
                </a:solidFill>
                <a:latin typeface="Arial" pitchFamily="34" charset="0"/>
                <a:ea typeface="Arial" pitchFamily="34" charset="-122"/>
                <a:cs typeface="Arial" pitchFamily="34" charset="-120"/>
              </a:rPr>
              <a:t>No custom native code until the end: a JS tab bar, a custom hero transition, and Expo-bundled modules only.</a:t>
            </a:r>
            <a:endParaRPr lang="en-US" sz="1400" dirty="0"/>
          </a:p>
        </p:txBody>
      </p:sp>
      <p:sp>
        <p:nvSpPr>
          <p:cNvPr id="11" name="card-38"/>
          <p:cNvSpPr/>
          <p:nvPr/>
        </p:nvSpPr>
        <p:spPr>
          <a:xfrm>
            <a:off x="548640" y="3255264"/>
            <a:ext cx="4023360" cy="777240"/>
          </a:xfrm>
          <a:prstGeom prst="roundRect">
            <a:avLst>
              <a:gd name="adj" fmla="val 14118"/>
            </a:avLst>
          </a:prstGeom>
          <a:solidFill>
            <a:schemeClr val="bg2"/>
          </a:solidFill>
          <a:ln/>
        </p:spPr>
      </p:sp>
      <p:sp>
        <p:nvSpPr>
          <p:cNvPr id="12" name="text-39"/>
          <p:cNvSpPr txBox="1"/>
          <p:nvPr/>
        </p:nvSpPr>
        <p:spPr>
          <a:xfrm>
            <a:off x="822960" y="3255264"/>
            <a:ext cx="3566160" cy="77724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No backend team or server</a:t>
            </a:r>
            <a:endParaRPr lang="en-US" sz="1600" dirty="0"/>
          </a:p>
        </p:txBody>
      </p:sp>
      <p:sp>
        <p:nvSpPr>
          <p:cNvPr id="13" name="arrow-40"/>
          <p:cNvSpPr/>
          <p:nvPr/>
        </p:nvSpPr>
        <p:spPr>
          <a:xfrm>
            <a:off x="4709160" y="3643884"/>
            <a:ext cx="640080" cy="914"/>
          </a:xfrm>
          <a:prstGeom prst="line">
            <a:avLst/>
          </a:prstGeom>
          <a:noFill/>
          <a:ln w="25400">
            <a:solidFill>
              <a:schemeClr val="accent1"/>
            </a:solidFill>
            <a:prstDash val="solid"/>
            <a:tailEnd type="triangle"/>
          </a:ln>
        </p:spPr>
      </p:sp>
      <p:sp>
        <p:nvSpPr>
          <p:cNvPr id="14" name="text-41"/>
          <p:cNvSpPr txBox="1"/>
          <p:nvPr/>
        </p:nvSpPr>
        <p:spPr>
          <a:xfrm>
            <a:off x="5532120" y="3255264"/>
            <a:ext cx="6110935" cy="777240"/>
          </a:xfrm>
          <a:prstGeom prst="rect">
            <a:avLst/>
          </a:prstGeom>
          <a:noFill/>
          <a:ln/>
        </p:spPr>
        <p:txBody>
          <a:bodyPr wrap="square" lIns="0" tIns="0" rIns="0" bIns="0" rtlCol="0" anchor="ctr"/>
          <a:lstStyle/>
          <a:p>
            <a:pPr indent="0" marL="0">
              <a:buNone/>
            </a:pPr>
            <a:r>
              <a:rPr lang="en-US" sz="1400" dirty="0">
                <a:solidFill>
                  <a:schemeClr val="tx2"/>
                </a:solidFill>
                <a:latin typeface="Arial" pitchFamily="34" charset="0"/>
                <a:ea typeface="Arial" pitchFamily="34" charset="-122"/>
                <a:cs typeface="Arial" pitchFamily="34" charset="-120"/>
              </a:rPr>
              <a:t>A local "server" with realistic failure modes, so loading, error and retry states are exercised daily.</a:t>
            </a:r>
            <a:endParaRPr lang="en-US" sz="1400" dirty="0"/>
          </a:p>
        </p:txBody>
      </p:sp>
      <p:sp>
        <p:nvSpPr>
          <p:cNvPr id="15" name="card-42"/>
          <p:cNvSpPr/>
          <p:nvPr/>
        </p:nvSpPr>
        <p:spPr>
          <a:xfrm>
            <a:off x="548640" y="4197096"/>
            <a:ext cx="4023360" cy="777240"/>
          </a:xfrm>
          <a:prstGeom prst="roundRect">
            <a:avLst>
              <a:gd name="adj" fmla="val 14118"/>
            </a:avLst>
          </a:prstGeom>
          <a:solidFill>
            <a:schemeClr val="bg2"/>
          </a:solidFill>
          <a:ln/>
        </p:spPr>
      </p:sp>
      <p:sp>
        <p:nvSpPr>
          <p:cNvPr id="16" name="text-43"/>
          <p:cNvSpPr txBox="1"/>
          <p:nvPr/>
        </p:nvSpPr>
        <p:spPr>
          <a:xfrm>
            <a:off x="822960" y="4197096"/>
            <a:ext cx="3566160" cy="77724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Real sign-in required</a:t>
            </a:r>
            <a:endParaRPr lang="en-US" sz="1600" dirty="0"/>
          </a:p>
        </p:txBody>
      </p:sp>
      <p:sp>
        <p:nvSpPr>
          <p:cNvPr id="17" name="arrow-44"/>
          <p:cNvSpPr/>
          <p:nvPr/>
        </p:nvSpPr>
        <p:spPr>
          <a:xfrm>
            <a:off x="4709160" y="4585716"/>
            <a:ext cx="640080" cy="914"/>
          </a:xfrm>
          <a:prstGeom prst="line">
            <a:avLst/>
          </a:prstGeom>
          <a:noFill/>
          <a:ln w="25400">
            <a:solidFill>
              <a:schemeClr val="accent1"/>
            </a:solidFill>
            <a:prstDash val="solid"/>
            <a:tailEnd type="triangle"/>
          </a:ln>
        </p:spPr>
      </p:sp>
      <p:sp>
        <p:nvSpPr>
          <p:cNvPr id="18" name="text-45"/>
          <p:cNvSpPr txBox="1"/>
          <p:nvPr/>
        </p:nvSpPr>
        <p:spPr>
          <a:xfrm>
            <a:off x="5532120" y="4197096"/>
            <a:ext cx="6110935" cy="777240"/>
          </a:xfrm>
          <a:prstGeom prst="rect">
            <a:avLst/>
          </a:prstGeom>
          <a:noFill/>
          <a:ln/>
        </p:spPr>
        <p:txBody>
          <a:bodyPr wrap="square" lIns="0" tIns="0" rIns="0" bIns="0" rtlCol="0" anchor="ctr"/>
          <a:lstStyle/>
          <a:p>
            <a:pPr indent="0" marL="0">
              <a:buNone/>
            </a:pPr>
            <a:r>
              <a:rPr lang="en-US" sz="1400" dirty="0">
                <a:solidFill>
                  <a:schemeClr val="tx2"/>
                </a:solidFill>
                <a:latin typeface="Arial" pitchFamily="34" charset="0"/>
                <a:ea typeface="Arial" pitchFamily="34" charset="-122"/>
                <a:cs typeface="Arial" pitchFamily="34" charset="-120"/>
              </a:rPr>
              <a:t>Firebase Auth added in phase 6, which moved the app to a development build (CNG, expo-dev-client).</a:t>
            </a:r>
            <a:endParaRPr lang="en-US" sz="1400" dirty="0"/>
          </a:p>
        </p:txBody>
      </p:sp>
      <p:sp>
        <p:nvSpPr>
          <p:cNvPr id="19" name="card-46"/>
          <p:cNvSpPr/>
          <p:nvPr/>
        </p:nvSpPr>
        <p:spPr>
          <a:xfrm>
            <a:off x="548640" y="5138928"/>
            <a:ext cx="4023360" cy="777240"/>
          </a:xfrm>
          <a:prstGeom prst="roundRect">
            <a:avLst>
              <a:gd name="adj" fmla="val 14118"/>
            </a:avLst>
          </a:prstGeom>
          <a:solidFill>
            <a:schemeClr val="bg2"/>
          </a:solidFill>
          <a:ln/>
        </p:spPr>
      </p:sp>
      <p:sp>
        <p:nvSpPr>
          <p:cNvPr id="20" name="text-47"/>
          <p:cNvSpPr txBox="1"/>
          <p:nvPr/>
        </p:nvSpPr>
        <p:spPr>
          <a:xfrm>
            <a:off x="822960" y="5138928"/>
            <a:ext cx="3566160" cy="77724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iOS first, Android verified</a:t>
            </a:r>
            <a:endParaRPr lang="en-US" sz="1600" dirty="0"/>
          </a:p>
        </p:txBody>
      </p:sp>
      <p:sp>
        <p:nvSpPr>
          <p:cNvPr id="21" name="arrow-48"/>
          <p:cNvSpPr/>
          <p:nvPr/>
        </p:nvSpPr>
        <p:spPr>
          <a:xfrm>
            <a:off x="4709160" y="5527548"/>
            <a:ext cx="640080" cy="914"/>
          </a:xfrm>
          <a:prstGeom prst="line">
            <a:avLst/>
          </a:prstGeom>
          <a:noFill/>
          <a:ln w="25400">
            <a:solidFill>
              <a:schemeClr val="accent1"/>
            </a:solidFill>
            <a:prstDash val="solid"/>
            <a:tailEnd type="triangle"/>
          </a:ln>
        </p:spPr>
      </p:sp>
      <p:sp>
        <p:nvSpPr>
          <p:cNvPr id="22" name="text-49"/>
          <p:cNvSpPr txBox="1"/>
          <p:nvPr/>
        </p:nvSpPr>
        <p:spPr>
          <a:xfrm>
            <a:off x="5532120" y="5138928"/>
            <a:ext cx="6110935" cy="777240"/>
          </a:xfrm>
          <a:prstGeom prst="rect">
            <a:avLst/>
          </a:prstGeom>
          <a:noFill/>
          <a:ln/>
        </p:spPr>
        <p:txBody>
          <a:bodyPr wrap="square" lIns="0" tIns="0" rIns="0" bIns="0" rtlCol="0" anchor="ctr"/>
          <a:lstStyle/>
          <a:p>
            <a:pPr indent="0" marL="0">
              <a:buNone/>
            </a:pPr>
            <a:r>
              <a:rPr lang="en-US" sz="1400" dirty="0">
                <a:solidFill>
                  <a:schemeClr val="tx2"/>
                </a:solidFill>
                <a:latin typeface="Arial" pitchFamily="34" charset="0"/>
                <a:ea typeface="Arial" pitchFamily="34" charset="-122"/>
                <a:cs typeface="Arial" pitchFamily="34" charset="-120"/>
              </a:rPr>
              <a:t>Designed and tuned on iOS; Android-specific rendering bugs found on device and fixed at the root cause.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731520" y="2240280"/>
            <a:ext cx="5486400" cy="457200"/>
          </a:xfrm>
          <a:prstGeom prst="rect">
            <a:avLst/>
          </a:prstGeom>
          <a:noFill/>
          <a:ln/>
        </p:spPr>
        <p:txBody>
          <a:bodyPr wrap="square" lIns="0" tIns="0" rIns="0" bIns="0" rtlCol="0"/>
          <a:lstStyle/>
          <a:p>
            <a:pPr indent="0" marL="0">
              <a:buNone/>
            </a:pPr>
            <a:r>
              <a:rPr lang="en-US" sz="1600" b="1" dirty="0">
                <a:solidFill>
                  <a:schemeClr val="accent2"/>
                </a:solidFill>
                <a:latin typeface="Arial" pitchFamily="34" charset="0"/>
                <a:ea typeface="Arial" pitchFamily="34" charset="-122"/>
                <a:cs typeface="Arial" pitchFamily="34" charset="-120"/>
              </a:rPr>
              <a:t>01  ARCHITECTURE</a:t>
            </a:r>
            <a:endParaRPr lang="en-US" sz="1600" dirty="0"/>
          </a:p>
        </p:txBody>
      </p:sp>
      <p:sp>
        <p:nvSpPr>
          <p:cNvPr id="3" name="Text 0"/>
          <p:cNvSpPr/>
          <p:nvPr>
            <p:ph idx="101" type="title" hasCustomPrompt="1"/>
          </p:nvPr>
        </p:nvSpPr>
        <p:spPr>
          <a:xfrm>
            <a:off x="731520" y="2743200"/>
            <a:ext cx="10058400" cy="1005840"/>
          </a:xfrm>
          <a:prstGeom prst="rect">
            <a:avLst/>
          </a:prstGeom>
          <a:noFill/>
          <a:ln/>
        </p:spPr>
        <p:txBody>
          <a:bodyPr wrap="square" lIns="0" tIns="0" rIns="0" bIns="0" rtlCol="0" anchor="t"/>
          <a:lstStyle/>
          <a:p>
            <a:pPr algn="l" indent="0" marL="0">
              <a:buNone/>
            </a:pPr>
            <a:r>
              <a:rPr lang="en-US" sz="4200" dirty="0">
                <a:solidFill>
                  <a:schemeClr val="bg1"/>
                </a:solidFill>
                <a:latin typeface="Georgia" pitchFamily="34" charset="0"/>
                <a:ea typeface="Georgia" pitchFamily="34" charset="-122"/>
                <a:cs typeface="Georgia" pitchFamily="34" charset="-120"/>
              </a:rPr>
              <a:t>Stack and system design</a:t>
            </a:r>
            <a:endParaRPr lang="en-US" sz="4200" dirty="0"/>
          </a:p>
        </p:txBody>
      </p:sp>
      <p:sp>
        <p:nvSpPr>
          <p:cNvPr id="4" name="Text 0"/>
          <p:cNvSpPr/>
          <p:nvPr>
            <p:ph idx="102" type="body" hasCustomPrompt="1"/>
          </p:nvPr>
        </p:nvSpPr>
        <p:spPr>
          <a:xfrm>
            <a:off x="731520" y="3886200"/>
            <a:ext cx="9601200" cy="914400"/>
          </a:xfrm>
          <a:prstGeom prst="rect">
            <a:avLst/>
          </a:prstGeom>
          <a:noFill/>
          <a:ln/>
        </p:spPr>
        <p:txBody>
          <a:bodyPr wrap="square" lIns="0" tIns="0" rIns="0" bIns="0" rtlCol="0" anchor="t"/>
          <a:lstStyle/>
          <a:p>
            <a:pPr indent="0" marL="0">
              <a:buNone/>
            </a:pPr>
            <a:r>
              <a:rPr lang="en-US" sz="1800" dirty="0">
                <a:solidFill>
                  <a:schemeClr val="accent6"/>
                </a:solidFill>
                <a:latin typeface="Arial" pitchFamily="34" charset="0"/>
                <a:ea typeface="Arial" pitchFamily="34" charset="-122"/>
                <a:cs typeface="Arial" pitchFamily="34" charset="-120"/>
              </a:rPr>
              <a:t>Why each library, how the layers fit, and how a backend gets swapped in.</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dirty="0">
                <a:solidFill>
                  <a:schemeClr val="tx1"/>
                </a:solidFill>
                <a:latin typeface="Georgia" pitchFamily="34" charset="0"/>
                <a:ea typeface="Georgia" pitchFamily="34" charset="-122"/>
                <a:cs typeface="Georgia" pitchFamily="34" charset="-120"/>
              </a:rPr>
              <a:t>The stack, and why each piece is there</a:t>
            </a:r>
            <a:endParaRPr lang="en-US" sz="3200" dirty="0"/>
          </a:p>
        </p:txBody>
      </p:sp>
      <p:graphicFrame>
        <p:nvGraphicFramePr>
          <p:cNvPr id="6" name="stack-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1737360"/>
                <a:gridCol w="3749040"/>
                <a:gridCol w="5608015"/>
              </a:tblGrid>
              <a:tr h="512064">
                <a:tc>
                  <a:txBody>
                    <a:bodyPr/>
                    <a:lstStyle/>
                    <a:p>
                      <a:pPr indent="0" marL="0">
                        <a:buNone/>
                      </a:pPr>
                      <a:r>
                        <a:rPr lang="en-US" sz="1400" b="1" dirty="0">
                          <a:solidFill>
                            <a:schemeClr val="bg1"/>
                          </a:solidFill>
                          <a:latin typeface="Arial" pitchFamily="34" charset="0"/>
                          <a:ea typeface="Arial" pitchFamily="34" charset="-122"/>
                          <a:cs typeface="Arial" pitchFamily="34" charset="-120"/>
                        </a:rPr>
                        <a:t>Layer</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Choice</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accent1"/>
                    </a:solidFill>
                  </a:tcPr>
                </a:tc>
                <a:tc>
                  <a:txBody>
                    <a:bodyPr/>
                    <a:lstStyle/>
                    <a:p>
                      <a:pPr indent="0" marL="0">
                        <a:buNone/>
                      </a:pPr>
                      <a:r>
                        <a:rPr lang="en-US" sz="1400" b="1" dirty="0">
                          <a:solidFill>
                            <a:schemeClr val="bg1"/>
                          </a:solidFill>
                          <a:latin typeface="Arial" pitchFamily="34" charset="0"/>
                          <a:ea typeface="Arial" pitchFamily="34" charset="-122"/>
                          <a:cs typeface="Arial" pitchFamily="34" charset="-120"/>
                        </a:rPr>
                        <a:t>Why</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accent1"/>
                    </a:solidFill>
                  </a:tcPr>
                </a:tc>
              </a:tr>
              <a:tr h="512064">
                <a:tc>
                  <a:txBody>
                    <a:bodyPr/>
                    <a:lstStyle/>
                    <a:p>
                      <a:pPr indent="0" marL="0">
                        <a:buNone/>
                      </a:pPr>
                      <a:r>
                        <a:rPr lang="en-US" sz="1400" b="1" dirty="0">
                          <a:solidFill>
                            <a:schemeClr val="tx1"/>
                          </a:solidFill>
                          <a:latin typeface="Arial" pitchFamily="34" charset="0"/>
                          <a:ea typeface="Arial" pitchFamily="34" charset="-122"/>
                          <a:cs typeface="Arial" pitchFamily="34" charset="-120"/>
                        </a:rPr>
                        <a:t>Runtime</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Expo SDK 57 · RN 0.86 · React 19.2</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2"/>
                          </a:solidFill>
                          <a:latin typeface="Arial" pitchFamily="34" charset="0"/>
                          <a:ea typeface="Arial" pitchFamily="34" charset="-122"/>
                          <a:cs typeface="Arial" pitchFamily="34" charset="-120"/>
                        </a:rPr>
                        <a:t>New Architecture by default; React Compiler on, so no manual memoization</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400" b="1" dirty="0">
                          <a:solidFill>
                            <a:schemeClr val="tx1"/>
                          </a:solidFill>
                          <a:latin typeface="Arial" pitchFamily="34" charset="0"/>
                          <a:ea typeface="Arial" pitchFamily="34" charset="-122"/>
                          <a:cs typeface="Arial" pitchFamily="34" charset="-120"/>
                        </a:rPr>
                        <a:t>Navigation</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Expo Router (typed routes) + JS tabs</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2"/>
                          </a:solidFill>
                          <a:latin typeface="Arial" pitchFamily="34" charset="0"/>
                          <a:ea typeface="Arial" pitchFamily="34" charset="-122"/>
                          <a:cs typeface="Arial" pitchFamily="34" charset="-120"/>
                        </a:rPr>
                        <a:t>File-based routes; a custom JS tab bar that ran in Expo Go</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512064">
                <a:tc>
                  <a:txBody>
                    <a:bodyPr/>
                    <a:lstStyle/>
                    <a:p>
                      <a:pPr indent="0" marL="0">
                        <a:buNone/>
                      </a:pPr>
                      <a:r>
                        <a:rPr lang="en-US" sz="1400" b="1" dirty="0">
                          <a:solidFill>
                            <a:schemeClr val="tx1"/>
                          </a:solidFill>
                          <a:latin typeface="Arial" pitchFamily="34" charset="0"/>
                          <a:ea typeface="Arial" pitchFamily="34" charset="-122"/>
                          <a:cs typeface="Arial" pitchFamily="34" charset="-120"/>
                        </a:rPr>
                        <a:t>Motion</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Reanimated 4 + worklets · Gesture Handler</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2"/>
                          </a:solidFill>
                          <a:latin typeface="Arial" pitchFamily="34" charset="0"/>
                          <a:ea typeface="Arial" pitchFamily="34" charset="-122"/>
                          <a:cs typeface="Arial" pitchFamily="34" charset="-120"/>
                        </a:rPr>
                        <a:t>All animation and gesture work on the UI thread</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400" b="1" dirty="0">
                          <a:solidFill>
                            <a:schemeClr val="tx1"/>
                          </a:solidFill>
                          <a:latin typeface="Arial" pitchFamily="34" charset="0"/>
                          <a:ea typeface="Arial" pitchFamily="34" charset="-122"/>
                          <a:cs typeface="Arial" pitchFamily="34" charset="-120"/>
                        </a:rPr>
                        <a:t>Server state</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TanStack Query 5</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2"/>
                          </a:solidFill>
                          <a:latin typeface="Arial" pitchFamily="34" charset="0"/>
                          <a:ea typeface="Arial" pitchFamily="34" charset="-122"/>
                          <a:cs typeface="Arial" pitchFamily="34" charset="-120"/>
                        </a:rPr>
                        <a:t>Caching, retries, adaptive polling, cache invalidation per key</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512064">
                <a:tc>
                  <a:txBody>
                    <a:bodyPr/>
                    <a:lstStyle/>
                    <a:p>
                      <a:pPr indent="0" marL="0">
                        <a:buNone/>
                      </a:pPr>
                      <a:r>
                        <a:rPr lang="en-US" sz="1400" b="1" dirty="0">
                          <a:solidFill>
                            <a:schemeClr val="tx1"/>
                          </a:solidFill>
                          <a:latin typeface="Arial" pitchFamily="34" charset="0"/>
                          <a:ea typeface="Arial" pitchFamily="34" charset="-122"/>
                          <a:cs typeface="Arial" pitchFamily="34" charset="-120"/>
                        </a:rPr>
                        <a:t>Client state</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Zustand 5 (persist)</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2"/>
                          </a:solidFill>
                          <a:latin typeface="Arial" pitchFamily="34" charset="0"/>
                          <a:ea typeface="Arial" pitchFamily="34" charset="-122"/>
                          <a:cs typeface="Arial" pitchFamily="34" charset="-120"/>
                        </a:rPr>
                        <a:t>Small stores: preferences, toasts, hero transition</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400" b="1" dirty="0">
                          <a:solidFill>
                            <a:schemeClr val="tx1"/>
                          </a:solidFill>
                          <a:latin typeface="Arial" pitchFamily="34" charset="0"/>
                          <a:ea typeface="Arial" pitchFamily="34" charset="-122"/>
                          <a:cs typeface="Arial" pitchFamily="34" charset="-120"/>
                        </a:rPr>
                        <a:t>Forms</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react-hook-form + zod 4</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2"/>
                          </a:solidFill>
                          <a:latin typeface="Arial" pitchFamily="34" charset="0"/>
                          <a:ea typeface="Arial" pitchFamily="34" charset="-122"/>
                          <a:cs typeface="Arial" pitchFamily="34" charset="-120"/>
                        </a:rPr>
                        <a:t>One schema validates in the form and again in the service</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r h="512064">
                <a:tc>
                  <a:txBody>
                    <a:bodyPr/>
                    <a:lstStyle/>
                    <a:p>
                      <a:pPr indent="0" marL="0">
                        <a:buNone/>
                      </a:pPr>
                      <a:r>
                        <a:rPr lang="en-US" sz="1400" b="1" dirty="0">
                          <a:solidFill>
                            <a:schemeClr val="tx1"/>
                          </a:solidFill>
                          <a:latin typeface="Arial" pitchFamily="34" charset="0"/>
                          <a:ea typeface="Arial" pitchFamily="34" charset="-122"/>
                          <a:cs typeface="Arial" pitchFamily="34" charset="-120"/>
                        </a:rPr>
                        <a:t>Media</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expo-image · react-native-svg</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2"/>
                          </a:solidFill>
                          <a:latin typeface="Arial" pitchFamily="34" charset="0"/>
                          <a:ea typeface="Arial" pitchFamily="34" charset="-122"/>
                          <a:cs typeface="Arial" pitchFamily="34" charset="-120"/>
                        </a:rPr>
                        <a:t>Blurhash placeholders and caching; vector logo and charts</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2"/>
                    </a:solidFill>
                  </a:tcPr>
                </a:tc>
              </a:tr>
              <a:tr h="512064">
                <a:tc>
                  <a:txBody>
                    <a:bodyPr/>
                    <a:lstStyle/>
                    <a:p>
                      <a:pPr indent="0" marL="0">
                        <a:buNone/>
                      </a:pPr>
                      <a:r>
                        <a:rPr lang="en-US" sz="1400" b="1" dirty="0">
                          <a:solidFill>
                            <a:schemeClr val="tx1"/>
                          </a:solidFill>
                          <a:latin typeface="Arial" pitchFamily="34" charset="0"/>
                          <a:ea typeface="Arial" pitchFamily="34" charset="-122"/>
                          <a:cs typeface="Arial" pitchFamily="34" charset="-120"/>
                        </a:rPr>
                        <a:t>Auth</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latin typeface="Arial" pitchFamily="34" charset="0"/>
                          <a:ea typeface="Arial" pitchFamily="34" charset="-122"/>
                          <a:cs typeface="Arial" pitchFamily="34" charset="-120"/>
                        </a:rPr>
                        <a:t>React Native Firebase 26 (Auth)</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2"/>
                          </a:solidFill>
                          <a:latin typeface="Arial" pitchFamily="34" charset="0"/>
                          <a:ea typeface="Arial" pitchFamily="34" charset="-122"/>
                          <a:cs typeface="Arial" pitchFamily="34" charset="-120"/>
                        </a:rPr>
                        <a:t>Native SDK: persistent sessions and token refresh handled natively</a:t>
                      </a:r>
                      <a:endParaRPr lang="en-US" sz="1400" dirty="0">
                        <a:latin typeface="Arial" charset="0"/>
                        <a:ea typeface="Arial" charset="0"/>
                        <a:cs typeface="Arial" charset="0"/>
                      </a:endParaRPr>
                    </a:p>
                  </a:txBody>
                  <a:tcPr marL="109728" marR="109728" marT="0" marB="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dirty="0">
                <a:solidFill>
                  <a:schemeClr val="tx1"/>
                </a:solidFill>
                <a:latin typeface="Georgia" pitchFamily="34" charset="0"/>
                <a:ea typeface="Georgia" pitchFamily="34" charset="-122"/>
                <a:cs typeface="Georgia" pitchFamily="34" charset="-120"/>
              </a:rPr>
              <a:t>Screens never talk to a backend directly</a:t>
            </a:r>
            <a:endParaRPr lang="en-US" sz="3200" dirty="0"/>
          </a:p>
        </p:txBody>
      </p:sp>
      <p:sp>
        <p:nvSpPr>
          <p:cNvPr id="3" name="card-50"/>
          <p:cNvSpPr/>
          <p:nvPr/>
        </p:nvSpPr>
        <p:spPr>
          <a:xfrm>
            <a:off x="548640" y="1371600"/>
            <a:ext cx="6949440" cy="676656"/>
          </a:xfrm>
          <a:prstGeom prst="roundRect">
            <a:avLst>
              <a:gd name="adj" fmla="val 16216"/>
            </a:avLst>
          </a:prstGeom>
          <a:solidFill>
            <a:schemeClr val="bg2"/>
          </a:solidFill>
          <a:ln/>
        </p:spPr>
      </p:sp>
      <p:sp>
        <p:nvSpPr>
          <p:cNvPr id="4" name="text-51"/>
          <p:cNvSpPr txBox="1"/>
          <p:nvPr/>
        </p:nvSpPr>
        <p:spPr>
          <a:xfrm>
            <a:off x="777240" y="1371600"/>
            <a:ext cx="1920240" cy="676656"/>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src/app</a:t>
            </a:r>
            <a:endParaRPr lang="en-US" sz="1400" dirty="0"/>
          </a:p>
        </p:txBody>
      </p:sp>
      <p:sp>
        <p:nvSpPr>
          <p:cNvPr id="5" name="text-52"/>
          <p:cNvSpPr txBox="1"/>
          <p:nvPr/>
        </p:nvSpPr>
        <p:spPr>
          <a:xfrm>
            <a:off x="2743200" y="1371600"/>
            <a:ext cx="4572000" cy="676656"/>
          </a:xfrm>
          <a:prstGeom prst="rect">
            <a:avLst/>
          </a:prstGeom>
          <a:noFill/>
          <a:ln/>
        </p:spPr>
        <p:txBody>
          <a:bodyPr wrap="square" lIns="0" tIns="0" rIns="0" bIns="0" rtlCol="0" anchor="ctr"/>
          <a:lstStyle/>
          <a:p>
            <a:pPr indent="0" marL="0">
              <a:buNone/>
            </a:pPr>
            <a:r>
              <a:rPr lang="en-US" sz="1400" dirty="0">
                <a:solidFill>
                  <a:schemeClr val="tx2"/>
                </a:solidFill>
                <a:latin typeface="Arial" pitchFamily="34" charset="0"/>
                <a:ea typeface="Arial" pitchFamily="34" charset="-122"/>
                <a:cs typeface="Arial" pitchFamily="34" charset="-120"/>
              </a:rPr>
              <a:t>Routes only. Every file is a screen; layouts define navigators.</a:t>
            </a:r>
            <a:endParaRPr lang="en-US" sz="1400" dirty="0"/>
          </a:p>
        </p:txBody>
      </p:sp>
      <p:sp>
        <p:nvSpPr>
          <p:cNvPr id="6" name="arrow-53"/>
          <p:cNvSpPr/>
          <p:nvPr/>
        </p:nvSpPr>
        <p:spPr>
          <a:xfrm>
            <a:off x="4023360" y="2066544"/>
            <a:ext cx="914" cy="182880"/>
          </a:xfrm>
          <a:prstGeom prst="line">
            <a:avLst/>
          </a:prstGeom>
          <a:noFill/>
          <a:ln w="19050">
            <a:solidFill>
              <a:schemeClr val="accent6"/>
            </a:solidFill>
            <a:prstDash val="solid"/>
            <a:tailEnd type="triangle"/>
          </a:ln>
        </p:spPr>
      </p:sp>
      <p:sp>
        <p:nvSpPr>
          <p:cNvPr id="7" name="card-54"/>
          <p:cNvSpPr/>
          <p:nvPr/>
        </p:nvSpPr>
        <p:spPr>
          <a:xfrm>
            <a:off x="548640" y="2267712"/>
            <a:ext cx="6949440" cy="676656"/>
          </a:xfrm>
          <a:prstGeom prst="roundRect">
            <a:avLst>
              <a:gd name="adj" fmla="val 16216"/>
            </a:avLst>
          </a:prstGeom>
          <a:solidFill>
            <a:schemeClr val="bg2"/>
          </a:solidFill>
          <a:ln/>
        </p:spPr>
      </p:sp>
      <p:sp>
        <p:nvSpPr>
          <p:cNvPr id="8" name="text-55"/>
          <p:cNvSpPr txBox="1"/>
          <p:nvPr/>
        </p:nvSpPr>
        <p:spPr>
          <a:xfrm>
            <a:off x="777240" y="2267712"/>
            <a:ext cx="1920240" cy="676656"/>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src/components</a:t>
            </a:r>
            <a:endParaRPr lang="en-US" sz="1400" dirty="0"/>
          </a:p>
        </p:txBody>
      </p:sp>
      <p:sp>
        <p:nvSpPr>
          <p:cNvPr id="9" name="text-56"/>
          <p:cNvSpPr txBox="1"/>
          <p:nvPr/>
        </p:nvSpPr>
        <p:spPr>
          <a:xfrm>
            <a:off x="2743200" y="2267712"/>
            <a:ext cx="4572000" cy="676656"/>
          </a:xfrm>
          <a:prstGeom prst="rect">
            <a:avLst/>
          </a:prstGeom>
          <a:noFill/>
          <a:ln/>
        </p:spPr>
        <p:txBody>
          <a:bodyPr wrap="square" lIns="0" tIns="0" rIns="0" bIns="0" rtlCol="0" anchor="ctr"/>
          <a:lstStyle/>
          <a:p>
            <a:pPr indent="0" marL="0">
              <a:buNone/>
            </a:pPr>
            <a:r>
              <a:rPr lang="en-US" sz="1400" dirty="0">
                <a:solidFill>
                  <a:schemeClr val="tx2"/>
                </a:solidFill>
                <a:latin typeface="Arial" pitchFamily="34" charset="0"/>
                <a:ea typeface="Arial" pitchFamily="34" charset="-122"/>
                <a:cs typeface="Arial" pitchFamily="34" charset="-120"/>
              </a:rPr>
              <a:t>Presentational UI by feature; primitives in components/ui.</a:t>
            </a:r>
            <a:endParaRPr lang="en-US" sz="1400" dirty="0"/>
          </a:p>
        </p:txBody>
      </p:sp>
      <p:sp>
        <p:nvSpPr>
          <p:cNvPr id="10" name="arrow-57"/>
          <p:cNvSpPr/>
          <p:nvPr/>
        </p:nvSpPr>
        <p:spPr>
          <a:xfrm>
            <a:off x="4023360" y="2962656"/>
            <a:ext cx="914" cy="182880"/>
          </a:xfrm>
          <a:prstGeom prst="line">
            <a:avLst/>
          </a:prstGeom>
          <a:noFill/>
          <a:ln w="19050">
            <a:solidFill>
              <a:schemeClr val="accent6"/>
            </a:solidFill>
            <a:prstDash val="solid"/>
            <a:tailEnd type="triangle"/>
          </a:ln>
        </p:spPr>
      </p:sp>
      <p:sp>
        <p:nvSpPr>
          <p:cNvPr id="11" name="card-58"/>
          <p:cNvSpPr/>
          <p:nvPr/>
        </p:nvSpPr>
        <p:spPr>
          <a:xfrm>
            <a:off x="548640" y="3163824"/>
            <a:ext cx="6949440" cy="676656"/>
          </a:xfrm>
          <a:prstGeom prst="roundRect">
            <a:avLst>
              <a:gd name="adj" fmla="val 16216"/>
            </a:avLst>
          </a:prstGeom>
          <a:solidFill>
            <a:schemeClr val="bg2"/>
          </a:solidFill>
          <a:ln/>
        </p:spPr>
      </p:sp>
      <p:sp>
        <p:nvSpPr>
          <p:cNvPr id="12" name="text-59"/>
          <p:cNvSpPr txBox="1"/>
          <p:nvPr/>
        </p:nvSpPr>
        <p:spPr>
          <a:xfrm>
            <a:off x="777240" y="3163824"/>
            <a:ext cx="1920240" cy="676656"/>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src/features</a:t>
            </a:r>
            <a:endParaRPr lang="en-US" sz="1400" dirty="0"/>
          </a:p>
        </p:txBody>
      </p:sp>
      <p:sp>
        <p:nvSpPr>
          <p:cNvPr id="13" name="text-60"/>
          <p:cNvSpPr txBox="1"/>
          <p:nvPr/>
        </p:nvSpPr>
        <p:spPr>
          <a:xfrm>
            <a:off x="2743200" y="3163824"/>
            <a:ext cx="4572000" cy="676656"/>
          </a:xfrm>
          <a:prstGeom prst="rect">
            <a:avLst/>
          </a:prstGeom>
          <a:noFill/>
          <a:ln/>
        </p:spPr>
        <p:txBody>
          <a:bodyPr wrap="square" lIns="0" tIns="0" rIns="0" bIns="0" rtlCol="0" anchor="ctr"/>
          <a:lstStyle/>
          <a:p>
            <a:pPr indent="0" marL="0">
              <a:buNone/>
            </a:pPr>
            <a:r>
              <a:rPr lang="en-US" sz="1400" dirty="0">
                <a:solidFill>
                  <a:schemeClr val="tx2"/>
                </a:solidFill>
                <a:latin typeface="Arial" pitchFamily="34" charset="0"/>
                <a:ea typeface="Arial" pitchFamily="34" charset="-122"/>
                <a:cs typeface="Arial" pitchFamily="34" charset="-120"/>
              </a:rPr>
              <a:t>TanStack Query hooks and query keys; auth provider and gating.</a:t>
            </a:r>
            <a:endParaRPr lang="en-US" sz="1400" dirty="0"/>
          </a:p>
        </p:txBody>
      </p:sp>
      <p:sp>
        <p:nvSpPr>
          <p:cNvPr id="14" name="arrow-61"/>
          <p:cNvSpPr/>
          <p:nvPr/>
        </p:nvSpPr>
        <p:spPr>
          <a:xfrm>
            <a:off x="4023360" y="3858768"/>
            <a:ext cx="914" cy="182880"/>
          </a:xfrm>
          <a:prstGeom prst="line">
            <a:avLst/>
          </a:prstGeom>
          <a:noFill/>
          <a:ln w="19050">
            <a:solidFill>
              <a:schemeClr val="accent6"/>
            </a:solidFill>
            <a:prstDash val="solid"/>
            <a:tailEnd type="triangle"/>
          </a:ln>
        </p:spPr>
      </p:sp>
      <p:sp>
        <p:nvSpPr>
          <p:cNvPr id="15" name="card-62"/>
          <p:cNvSpPr/>
          <p:nvPr/>
        </p:nvSpPr>
        <p:spPr>
          <a:xfrm>
            <a:off x="548640" y="4059936"/>
            <a:ext cx="6949440" cy="676656"/>
          </a:xfrm>
          <a:prstGeom prst="roundRect">
            <a:avLst>
              <a:gd name="adj" fmla="val 16216"/>
            </a:avLst>
          </a:prstGeom>
          <a:solidFill>
            <a:schemeClr val="accent1"/>
          </a:solidFill>
          <a:ln/>
        </p:spPr>
      </p:sp>
      <p:sp>
        <p:nvSpPr>
          <p:cNvPr id="16" name="text-63"/>
          <p:cNvSpPr txBox="1"/>
          <p:nvPr/>
        </p:nvSpPr>
        <p:spPr>
          <a:xfrm>
            <a:off x="777240" y="4059936"/>
            <a:ext cx="1920240" cy="676656"/>
          </a:xfrm>
          <a:prstGeom prst="rect">
            <a:avLst/>
          </a:prstGeom>
          <a:noFill/>
          <a:ln/>
        </p:spPr>
        <p:txBody>
          <a:bodyPr wrap="square" lIns="0" tIns="0" rIns="0" bIns="0" rtlCol="0" anchor="ctr"/>
          <a:lstStyle/>
          <a:p>
            <a:pPr indent="0" marL="0">
              <a:buNone/>
            </a:pPr>
            <a:r>
              <a:rPr lang="en-US" sz="1400" b="1" dirty="0">
                <a:solidFill>
                  <a:schemeClr val="bg1"/>
                </a:solidFill>
                <a:latin typeface="Courier New" pitchFamily="34" charset="0"/>
                <a:ea typeface="Courier New" pitchFamily="34" charset="-122"/>
                <a:cs typeface="Courier New" pitchFamily="34" charset="-120"/>
              </a:rPr>
              <a:t>@/services</a:t>
            </a:r>
            <a:endParaRPr lang="en-US" sz="1400" dirty="0"/>
          </a:p>
        </p:txBody>
      </p:sp>
      <p:sp>
        <p:nvSpPr>
          <p:cNvPr id="17" name="text-64"/>
          <p:cNvSpPr txBox="1"/>
          <p:nvPr/>
        </p:nvSpPr>
        <p:spPr>
          <a:xfrm>
            <a:off x="2743200" y="4059936"/>
            <a:ext cx="4572000" cy="676656"/>
          </a:xfrm>
          <a:prstGeom prst="rect">
            <a:avLst/>
          </a:prstGeom>
          <a:noFill/>
          <a:ln/>
        </p:spPr>
        <p:txBody>
          <a:bodyPr wrap="square" lIns="0" tIns="0" rIns="0" bIns="0" rtlCol="0" anchor="ctr"/>
          <a:lstStyle/>
          <a:p>
            <a:pPr indent="0" marL="0">
              <a:buNone/>
            </a:pPr>
            <a:r>
              <a:rPr lang="en-US" sz="1400" dirty="0">
                <a:solidFill>
                  <a:schemeClr val="bg1"/>
                </a:solidFill>
                <a:latin typeface="Arial" pitchFamily="34" charset="0"/>
                <a:ea typeface="Arial" pitchFamily="34" charset="-122"/>
                <a:cs typeface="Arial" pitchFamily="34" charset="-120"/>
              </a:rPr>
              <a:t>Facade: picks a backend per service and re-exports the contracts.</a:t>
            </a:r>
            <a:endParaRPr lang="en-US" sz="1400" dirty="0"/>
          </a:p>
        </p:txBody>
      </p:sp>
      <p:sp>
        <p:nvSpPr>
          <p:cNvPr id="18" name="arrow-65"/>
          <p:cNvSpPr/>
          <p:nvPr/>
        </p:nvSpPr>
        <p:spPr>
          <a:xfrm>
            <a:off x="4023360" y="4754880"/>
            <a:ext cx="914" cy="182880"/>
          </a:xfrm>
          <a:prstGeom prst="line">
            <a:avLst/>
          </a:prstGeom>
          <a:noFill/>
          <a:ln w="19050">
            <a:solidFill>
              <a:schemeClr val="accent6"/>
            </a:solidFill>
            <a:prstDash val="solid"/>
            <a:tailEnd type="triangle"/>
          </a:ln>
        </p:spPr>
      </p:sp>
      <p:sp>
        <p:nvSpPr>
          <p:cNvPr id="19" name="card-66"/>
          <p:cNvSpPr/>
          <p:nvPr/>
        </p:nvSpPr>
        <p:spPr>
          <a:xfrm>
            <a:off x="548640" y="4956048"/>
            <a:ext cx="6949440" cy="676656"/>
          </a:xfrm>
          <a:prstGeom prst="roundRect">
            <a:avLst>
              <a:gd name="adj" fmla="val 16216"/>
            </a:avLst>
          </a:prstGeom>
          <a:solidFill>
            <a:schemeClr val="bg2"/>
          </a:solidFill>
          <a:ln/>
        </p:spPr>
      </p:sp>
      <p:sp>
        <p:nvSpPr>
          <p:cNvPr id="20" name="text-67"/>
          <p:cNvSpPr txBox="1"/>
          <p:nvPr/>
        </p:nvSpPr>
        <p:spPr>
          <a:xfrm>
            <a:off x="777240" y="4956048"/>
            <a:ext cx="1920240" cy="676656"/>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contracts.ts</a:t>
            </a:r>
            <a:endParaRPr lang="en-US" sz="1400" dirty="0"/>
          </a:p>
        </p:txBody>
      </p:sp>
      <p:sp>
        <p:nvSpPr>
          <p:cNvPr id="21" name="text-68"/>
          <p:cNvSpPr txBox="1"/>
          <p:nvPr/>
        </p:nvSpPr>
        <p:spPr>
          <a:xfrm>
            <a:off x="2743200" y="4956048"/>
            <a:ext cx="4572000" cy="676656"/>
          </a:xfrm>
          <a:prstGeom prst="rect">
            <a:avLst/>
          </a:prstGeom>
          <a:noFill/>
          <a:ln/>
        </p:spPr>
        <p:txBody>
          <a:bodyPr wrap="square" lIns="0" tIns="0" rIns="0" bIns="0" rtlCol="0" anchor="ctr"/>
          <a:lstStyle/>
          <a:p>
            <a:pPr indent="0" marL="0">
              <a:buNone/>
            </a:pPr>
            <a:r>
              <a:rPr lang="en-US" sz="1400" dirty="0">
                <a:solidFill>
                  <a:schemeClr val="tx2"/>
                </a:solidFill>
                <a:latin typeface="Arial" pitchFamily="34" charset="0"/>
                <a:ea typeface="Arial" pitchFamily="34" charset="-122"/>
                <a:cs typeface="Arial" pitchFamily="34" charset="-120"/>
              </a:rPr>
              <a:t>Typed interfaces for all 9 services; errors as ServiceError codes.</a:t>
            </a:r>
            <a:endParaRPr lang="en-US" sz="1400" dirty="0"/>
          </a:p>
        </p:txBody>
      </p:sp>
      <p:sp>
        <p:nvSpPr>
          <p:cNvPr id="22" name="card-69"/>
          <p:cNvSpPr/>
          <p:nvPr/>
        </p:nvSpPr>
        <p:spPr>
          <a:xfrm>
            <a:off x="7818120" y="1371600"/>
            <a:ext cx="1234440" cy="4261104"/>
          </a:xfrm>
          <a:prstGeom prst="roundRect">
            <a:avLst>
              <a:gd name="adj" fmla="val 8889"/>
            </a:avLst>
          </a:prstGeom>
          <a:solidFill>
            <a:schemeClr val="tx1"/>
          </a:solidFill>
          <a:ln/>
        </p:spPr>
      </p:sp>
      <p:sp>
        <p:nvSpPr>
          <p:cNvPr id="23" name="text-70"/>
          <p:cNvSpPr txBox="1"/>
          <p:nvPr/>
        </p:nvSpPr>
        <p:spPr>
          <a:xfrm>
            <a:off x="7818120" y="1508760"/>
            <a:ext cx="1234440" cy="365760"/>
          </a:xfrm>
          <a:prstGeom prst="rect">
            <a:avLst/>
          </a:prstGeom>
          <a:noFill/>
          <a:ln/>
        </p:spPr>
        <p:txBody>
          <a:bodyPr wrap="square" lIns="0" tIns="0" rIns="0" bIns="0" rtlCol="0" anchor="t"/>
          <a:lstStyle/>
          <a:p>
            <a:pPr algn="ctr" indent="0" marL="0">
              <a:buNone/>
            </a:pPr>
            <a:r>
              <a:rPr lang="en-US" sz="1300" b="1" dirty="0">
                <a:solidFill>
                  <a:schemeClr val="accent2"/>
                </a:solidFill>
                <a:latin typeface="Courier New" pitchFamily="34" charset="0"/>
                <a:ea typeface="Courier New" pitchFamily="34" charset="-122"/>
                <a:cs typeface="Courier New" pitchFamily="34" charset="-120"/>
              </a:rPr>
              <a:t>src/domain</a:t>
            </a:r>
            <a:endParaRPr lang="en-US" sz="1300" dirty="0"/>
          </a:p>
        </p:txBody>
      </p:sp>
      <p:sp>
        <p:nvSpPr>
          <p:cNvPr id="24" name="text-71"/>
          <p:cNvSpPr txBox="1"/>
          <p:nvPr/>
        </p:nvSpPr>
        <p:spPr>
          <a:xfrm>
            <a:off x="7927848" y="1965960"/>
            <a:ext cx="1014984" cy="3291840"/>
          </a:xfrm>
          <a:prstGeom prst="rect">
            <a:avLst/>
          </a:prstGeom>
          <a:noFill/>
          <a:ln/>
        </p:spPr>
        <p:txBody>
          <a:bodyPr wrap="square" lIns="0" tIns="0" rIns="0" bIns="0" rtlCol="0" anchor="t"/>
          <a:lstStyle/>
          <a:p>
            <a:pPr indent="0" marL="0">
              <a:buNone/>
            </a:pPr>
            <a:r>
              <a:rPr lang="en-US" sz="1300" dirty="0">
                <a:solidFill>
                  <a:schemeClr val="bg1"/>
                </a:solidFill>
                <a:latin typeface="Arial" pitchFamily="34" charset="0"/>
                <a:ea typeface="Arial" pitchFamily="34" charset="-122"/>
                <a:cs typeface="Arial" pitchFamily="34" charset="-120"/>
              </a:rPr>
              <a:t>Pure rules: fees, reach, lifecycle, reports. Used by every layer. No I/O.</a:t>
            </a:r>
            <a:endParaRPr lang="en-US" sz="1300" dirty="0"/>
          </a:p>
        </p:txBody>
      </p:sp>
      <p:sp>
        <p:nvSpPr>
          <p:cNvPr id="25" name="text-72"/>
          <p:cNvSpPr txBox="1"/>
          <p:nvPr/>
        </p:nvSpPr>
        <p:spPr>
          <a:xfrm>
            <a:off x="9326880" y="1371600"/>
            <a:ext cx="2316175"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Enforced by ESLint</a:t>
            </a:r>
            <a:endParaRPr lang="en-US" sz="1600" dirty="0"/>
          </a:p>
        </p:txBody>
      </p:sp>
      <p:sp>
        <p:nvSpPr>
          <p:cNvPr id="26" name="text-73"/>
          <p:cNvSpPr txBox="1"/>
          <p:nvPr/>
        </p:nvSpPr>
        <p:spPr>
          <a:xfrm>
            <a:off x="9326880" y="1783080"/>
            <a:ext cx="2316175" cy="1371600"/>
          </a:xfrm>
          <a:prstGeom prst="rect">
            <a:avLst/>
          </a:prstGeom>
          <a:noFill/>
          <a:ln/>
        </p:spPr>
        <p:txBody>
          <a:bodyPr wrap="square" lIns="0" tIns="0" rIns="0" bIns="0" rtlCol="0" anchor="t"/>
          <a:lstStyle/>
          <a:p>
            <a:pPr marL="177800" indent="-177800">
              <a:spcAft>
                <a:spcPts val="600"/>
              </a:spcAft>
              <a:buSzPct val="100000"/>
              <a:buChar char="•"/>
            </a:pPr>
            <a:r>
              <a:rPr lang="en-US" sz="1400" b="1" dirty="0">
                <a:solidFill>
                  <a:schemeClr val="tx2"/>
                </a:solidFill>
                <a:latin typeface="Arial" pitchFamily="34" charset="0"/>
                <a:ea typeface="Arial" pitchFamily="34" charset="-122"/>
                <a:cs typeface="Arial" pitchFamily="34" charset="-120"/>
              </a:rPr>
              <a:t>No mock imports</a:t>
            </a:r>
            <a:pPr indent="0" marL="0">
              <a:buNone/>
            </a:pPr>
            <a:r>
              <a:rPr lang="en-US" sz="1400" dirty="0">
                <a:solidFill>
                  <a:schemeClr val="tx2"/>
                </a:solidFill>
                <a:latin typeface="Arial" pitchFamily="34" charset="0"/>
                <a:ea typeface="Arial" pitchFamily="34" charset="-122"/>
                <a:cs typeface="Arial" pitchFamily="34" charset="-120"/>
              </a:rPr>
              <a:t> outside src/services</a:t>
            </a:r>
            <a:endParaRPr lang="en-US" sz="1400" dirty="0"/>
          </a:p>
          <a:p>
            <a:pPr marL="177800" indent="-177800">
              <a:spcAft>
                <a:spcPts val="600"/>
              </a:spcAft>
              <a:buSzPct val="100000"/>
              <a:buChar char="•"/>
            </a:pPr>
            <a:r>
              <a:rPr lang="en-US" sz="1400" b="1" dirty="0">
                <a:solidFill>
                  <a:schemeClr val="tx2"/>
                </a:solidFill>
                <a:latin typeface="Arial" pitchFamily="34" charset="0"/>
                <a:ea typeface="Arial" pitchFamily="34" charset="-122"/>
                <a:cs typeface="Arial" pitchFamily="34" charset="-120"/>
              </a:rPr>
              <a:t>Icons</a:t>
            </a:r>
            <a:pPr indent="0" marL="0">
              <a:buNone/>
            </a:pPr>
            <a:r>
              <a:rPr lang="en-US" sz="1400" dirty="0">
                <a:solidFill>
                  <a:schemeClr val="tx2"/>
                </a:solidFill>
                <a:latin typeface="Arial" pitchFamily="34" charset="0"/>
                <a:ea typeface="Arial" pitchFamily="34" charset="-122"/>
                <a:cs typeface="Arial" pitchFamily="34" charset="-120"/>
              </a:rPr>
              <a:t> only via one barrel file</a:t>
            </a:r>
            <a:endParaRPr lang="en-US" sz="1400" dirty="0"/>
          </a:p>
          <a:p>
            <a:pPr marL="177800" indent="-177800">
              <a:spcAft>
                <a:spcPts val="600"/>
              </a:spcAft>
              <a:buSzPct val="100000"/>
              <a:buChar char="•"/>
            </a:pPr>
            <a:r>
              <a:rPr lang="en-US" sz="1400" b="1" dirty="0">
                <a:solidFill>
                  <a:schemeClr val="tx2"/>
                </a:solidFill>
                <a:latin typeface="Arial" pitchFamily="34" charset="0"/>
                <a:ea typeface="Arial" pitchFamily="34" charset="-122"/>
                <a:cs typeface="Arial" pitchFamily="34" charset="-120"/>
              </a:rPr>
              <a:t>Reduced motion</a:t>
            </a:r>
            <a:pPr indent="0" marL="0">
              <a:buNone/>
            </a:pPr>
            <a:r>
              <a:rPr lang="en-US" sz="1400" dirty="0">
                <a:solidFill>
                  <a:schemeClr val="tx2"/>
                </a:solidFill>
                <a:latin typeface="Arial" pitchFamily="34" charset="0"/>
                <a:ea typeface="Arial" pitchFamily="34" charset="-122"/>
                <a:cs typeface="Arial" pitchFamily="34" charset="-120"/>
              </a:rPr>
              <a:t> only via the live hook</a:t>
            </a:r>
            <a:endParaRPr lang="en-US" sz="1400" dirty="0"/>
          </a:p>
        </p:txBody>
      </p:sp>
      <p:sp>
        <p:nvSpPr>
          <p:cNvPr id="27" name="text-74"/>
          <p:cNvSpPr txBox="1"/>
          <p:nvPr/>
        </p:nvSpPr>
        <p:spPr>
          <a:xfrm>
            <a:off x="9326880" y="3291840"/>
            <a:ext cx="2316175"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Implementations</a:t>
            </a:r>
            <a:endParaRPr lang="en-US" sz="1600" dirty="0"/>
          </a:p>
        </p:txBody>
      </p:sp>
      <p:sp>
        <p:nvSpPr>
          <p:cNvPr id="28" name="card-75"/>
          <p:cNvSpPr/>
          <p:nvPr/>
        </p:nvSpPr>
        <p:spPr>
          <a:xfrm>
            <a:off x="9326880" y="3703320"/>
            <a:ext cx="2316175" cy="822960"/>
          </a:xfrm>
          <a:prstGeom prst="roundRect">
            <a:avLst>
              <a:gd name="adj" fmla="val 13333"/>
            </a:avLst>
          </a:prstGeom>
          <a:solidFill>
            <a:schemeClr val="bg2"/>
          </a:solidFill>
          <a:ln/>
        </p:spPr>
      </p:sp>
      <p:sp>
        <p:nvSpPr>
          <p:cNvPr id="29" name="text-76"/>
          <p:cNvSpPr txBox="1"/>
          <p:nvPr/>
        </p:nvSpPr>
        <p:spPr>
          <a:xfrm>
            <a:off x="9509760" y="3767328"/>
            <a:ext cx="1950415" cy="73152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firebase/</a:t>
            </a:r>
            <a:endParaRPr lang="en-US" sz="1400" dirty="0"/>
          </a:p>
          <a:p>
            <a:pPr indent="0" marL="0">
              <a:buNone/>
            </a:pPr>
            <a:r>
              <a:rPr lang="en-US" sz="1400" dirty="0">
                <a:solidFill>
                  <a:schemeClr val="tx2"/>
                </a:solidFill>
                <a:latin typeface="Arial" pitchFamily="34" charset="0"/>
                <a:ea typeface="Arial" pitchFamily="34" charset="-122"/>
                <a:cs typeface="Arial" pitchFamily="34" charset="-120"/>
              </a:rPr>
              <a:t>auth</a:t>
            </a:r>
            <a:endParaRPr lang="en-US" sz="1400" dirty="0"/>
          </a:p>
        </p:txBody>
      </p:sp>
      <p:sp>
        <p:nvSpPr>
          <p:cNvPr id="30" name="card-77"/>
          <p:cNvSpPr/>
          <p:nvPr/>
        </p:nvSpPr>
        <p:spPr>
          <a:xfrm>
            <a:off x="9326880" y="4663440"/>
            <a:ext cx="2316175" cy="960120"/>
          </a:xfrm>
          <a:prstGeom prst="roundRect">
            <a:avLst>
              <a:gd name="adj" fmla="val 11429"/>
            </a:avLst>
          </a:prstGeom>
          <a:solidFill>
            <a:schemeClr val="bg2"/>
          </a:solidFill>
          <a:ln/>
        </p:spPr>
      </p:sp>
      <p:sp>
        <p:nvSpPr>
          <p:cNvPr id="31" name="text-78"/>
          <p:cNvSpPr txBox="1"/>
          <p:nvPr/>
        </p:nvSpPr>
        <p:spPr>
          <a:xfrm>
            <a:off x="9509760" y="4727448"/>
            <a:ext cx="1950415" cy="86868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mock/</a:t>
            </a:r>
            <a:endParaRPr lang="en-US" sz="1400" dirty="0"/>
          </a:p>
          <a:p>
            <a:pPr indent="0" marL="0">
              <a:buNone/>
            </a:pPr>
            <a:r>
              <a:rPr lang="en-US" sz="1400" dirty="0">
                <a:solidFill>
                  <a:schemeClr val="tx2"/>
                </a:solidFill>
                <a:latin typeface="Arial" pitchFamily="34" charset="0"/>
                <a:ea typeface="Arial" pitchFamily="34" charset="-122"/>
                <a:cs typeface="Arial" pitchFamily="34" charset="-120"/>
              </a:rPr>
              <a:t>the other 8, persisted on device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dirty="0">
                <a:solidFill>
                  <a:schemeClr val="tx1"/>
                </a:solidFill>
                <a:latin typeface="Georgia" pitchFamily="34" charset="0"/>
                <a:ea typeface="Georgia" pitchFamily="34" charset="-122"/>
                <a:cs typeface="Georgia" pitchFamily="34" charset="-120"/>
              </a:rPr>
              <a:t>Backends are chosen per service, in one file</a:t>
            </a:r>
            <a:endParaRPr lang="en-US" sz="3200" dirty="0"/>
          </a:p>
        </p:txBody>
      </p:sp>
      <p:sp>
        <p:nvSpPr>
          <p:cNvPr id="3" name="card-79"/>
          <p:cNvSpPr/>
          <p:nvPr/>
        </p:nvSpPr>
        <p:spPr>
          <a:xfrm>
            <a:off x="548640" y="1371600"/>
            <a:ext cx="6309360" cy="4663440"/>
          </a:xfrm>
          <a:prstGeom prst="roundRect">
            <a:avLst>
              <a:gd name="adj" fmla="val 2353"/>
            </a:avLst>
          </a:prstGeom>
          <a:solidFill>
            <a:schemeClr val="tx1"/>
          </a:solidFill>
          <a:ln/>
        </p:spPr>
      </p:sp>
      <p:sp>
        <p:nvSpPr>
          <p:cNvPr id="4" name="text-80"/>
          <p:cNvSpPr txBox="1"/>
          <p:nvPr/>
        </p:nvSpPr>
        <p:spPr>
          <a:xfrm>
            <a:off x="868680" y="1600200"/>
            <a:ext cx="5760720" cy="4297680"/>
          </a:xfrm>
          <a:prstGeom prst="rect">
            <a:avLst/>
          </a:prstGeom>
          <a:noFill/>
          <a:ln/>
        </p:spPr>
        <p:txBody>
          <a:bodyPr wrap="square" lIns="0" tIns="0" rIns="0" bIns="0" rtlCol="0" anchor="t"/>
          <a:lstStyle/>
          <a:p>
            <a:pPr indent="0" marL="0">
              <a:buNone/>
            </a:pPr>
            <a:r>
              <a:rPr lang="en-US" sz="1400" dirty="0">
                <a:solidFill>
                  <a:schemeClr val="bg1"/>
                </a:solidFill>
                <a:latin typeface="Courier New" pitchFamily="34" charset="0"/>
                <a:ea typeface="Courier New" pitchFamily="34" charset="-122"/>
                <a:cs typeface="Courier New" pitchFamily="34" charset="-120"/>
              </a:rPr>
              <a:t>const authBackend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EXPO_PUBLIC_AUTH === 'mock' || inExpoGo</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 'mock' : 'firebase';</a:t>
            </a:r>
            <a:endParaRPr lang="en-US" sz="1400" dirty="0"/>
          </a:p>
          <a:p>
            <a:pPr indent="0" marL="0">
              <a:buNone/>
            </a:pP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function createServices(): Services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if (authBackend === 'firebase')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 lazy: Firebase native module is</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 absent in Expo Go</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const { createFirebaseAuthService }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require('./firebase/auth');</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return createMockServices(</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createFirebaseAuthService());</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  return createMockServices();</a:t>
            </a:r>
            <a:endParaRPr lang="en-US" sz="1400" dirty="0"/>
          </a:p>
          <a:p>
            <a:pPr indent="0" marL="0">
              <a:buNone/>
            </a:pPr>
            <a:r>
              <a:rPr lang="en-US" sz="1400" dirty="0">
                <a:solidFill>
                  <a:schemeClr val="bg1"/>
                </a:solidFill>
                <a:latin typeface="Courier New" pitchFamily="34" charset="0"/>
                <a:ea typeface="Courier New" pitchFamily="34" charset="-122"/>
                <a:cs typeface="Courier New" pitchFamily="34" charset="-120"/>
              </a:rPr>
              <a:t>}</a:t>
            </a:r>
            <a:endParaRPr lang="en-US" sz="1400" dirty="0"/>
          </a:p>
        </p:txBody>
      </p:sp>
      <p:sp>
        <p:nvSpPr>
          <p:cNvPr id="5" name="icon-bg-81"/>
          <p:cNvSpPr/>
          <p:nvPr/>
        </p:nvSpPr>
        <p:spPr>
          <a:xfrm>
            <a:off x="7223760" y="1371600"/>
            <a:ext cx="457200" cy="457200"/>
          </a:xfrm>
          <a:prstGeom prst="ellipse">
            <a:avLst/>
          </a:prstGeom>
          <a:solidFill>
            <a:schemeClr val="accent1"/>
          </a:solidFill>
          <a:ln/>
        </p:spPr>
      </p:sp>
      <p:pic>
        <p:nvPicPr>
          <p:cNvPr id="6" name="icon-82" descr="preencoded.png">    </p:cNvPr>
          <p:cNvPicPr>
            <a:picLocks noChangeAspect="1"/>
          </p:cNvPicPr>
          <p:nvPr/>
        </p:nvPicPr>
        <p:blipFill>
          <a:blip r:embed="rId1"/>
          <a:stretch>
            <a:fillRect/>
          </a:stretch>
        </p:blipFill>
        <p:spPr>
          <a:xfrm>
            <a:off x="7324344" y="1472184"/>
            <a:ext cx="256032" cy="256032"/>
          </a:xfrm>
          <a:prstGeom prst="rect">
            <a:avLst/>
          </a:prstGeom>
        </p:spPr>
      </p:pic>
      <p:sp>
        <p:nvSpPr>
          <p:cNvPr id="7" name="text-83"/>
          <p:cNvSpPr txBox="1"/>
          <p:nvPr/>
        </p:nvSpPr>
        <p:spPr>
          <a:xfrm>
            <a:off x="7863840" y="1389888"/>
            <a:ext cx="3779215"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Injectable auth</a:t>
            </a:r>
            <a:endParaRPr lang="en-US" sz="1600" dirty="0"/>
          </a:p>
        </p:txBody>
      </p:sp>
      <p:sp>
        <p:nvSpPr>
          <p:cNvPr id="8" name="text-84"/>
          <p:cNvSpPr txBox="1"/>
          <p:nvPr/>
        </p:nvSpPr>
        <p:spPr>
          <a:xfrm>
            <a:off x="7863840" y="1783080"/>
            <a:ext cx="3779215" cy="100584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createMockServices(auth) takes any AuthService; sample data reads the user from whichever is active.</a:t>
            </a:r>
            <a:endParaRPr lang="en-US" sz="1400" dirty="0"/>
          </a:p>
        </p:txBody>
      </p:sp>
      <p:sp>
        <p:nvSpPr>
          <p:cNvPr id="9" name="icon-bg-85"/>
          <p:cNvSpPr/>
          <p:nvPr/>
        </p:nvSpPr>
        <p:spPr>
          <a:xfrm>
            <a:off x="7223760" y="2944368"/>
            <a:ext cx="457200" cy="457200"/>
          </a:xfrm>
          <a:prstGeom prst="ellipse">
            <a:avLst/>
          </a:prstGeom>
          <a:solidFill>
            <a:schemeClr val="accent1"/>
          </a:solidFill>
          <a:ln/>
        </p:spPr>
      </p:sp>
      <p:pic>
        <p:nvPicPr>
          <p:cNvPr id="10" name="icon-86" descr="preencoded.png">    </p:cNvPr>
          <p:cNvPicPr>
            <a:picLocks noChangeAspect="1"/>
          </p:cNvPicPr>
          <p:nvPr/>
        </p:nvPicPr>
        <p:blipFill>
          <a:blip r:embed="rId2"/>
          <a:stretch>
            <a:fillRect/>
          </a:stretch>
        </p:blipFill>
        <p:spPr>
          <a:xfrm>
            <a:off x="7324344" y="3044952"/>
            <a:ext cx="256032" cy="256032"/>
          </a:xfrm>
          <a:prstGeom prst="rect">
            <a:avLst/>
          </a:prstGeom>
        </p:spPr>
      </p:pic>
      <p:sp>
        <p:nvSpPr>
          <p:cNvPr id="11" name="text-87"/>
          <p:cNvSpPr txBox="1"/>
          <p:nvPr/>
        </p:nvSpPr>
        <p:spPr>
          <a:xfrm>
            <a:off x="7863840" y="2962656"/>
            <a:ext cx="3779215"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Expo Go still runs</a:t>
            </a:r>
            <a:endParaRPr lang="en-US" sz="1600" dirty="0"/>
          </a:p>
        </p:txBody>
      </p:sp>
      <p:sp>
        <p:nvSpPr>
          <p:cNvPr id="12" name="text-88"/>
          <p:cNvSpPr txBox="1"/>
          <p:nvPr/>
        </p:nvSpPr>
        <p:spPr>
          <a:xfrm>
            <a:off x="7863840" y="3355848"/>
            <a:ext cx="3779215" cy="100584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Firebase is required lazily, so Expo Go falls back to on-device auth instead of crashing at import.</a:t>
            </a:r>
            <a:endParaRPr lang="en-US" sz="1400" dirty="0"/>
          </a:p>
        </p:txBody>
      </p:sp>
      <p:sp>
        <p:nvSpPr>
          <p:cNvPr id="13" name="icon-bg-89"/>
          <p:cNvSpPr/>
          <p:nvPr/>
        </p:nvSpPr>
        <p:spPr>
          <a:xfrm>
            <a:off x="7223760" y="4517136"/>
            <a:ext cx="457200" cy="457200"/>
          </a:xfrm>
          <a:prstGeom prst="ellipse">
            <a:avLst/>
          </a:prstGeom>
          <a:solidFill>
            <a:schemeClr val="accent1"/>
          </a:solidFill>
          <a:ln/>
        </p:spPr>
      </p:sp>
      <p:pic>
        <p:nvPicPr>
          <p:cNvPr id="14" name="icon-90" descr="preencoded.png">    </p:cNvPr>
          <p:cNvPicPr>
            <a:picLocks noChangeAspect="1"/>
          </p:cNvPicPr>
          <p:nvPr/>
        </p:nvPicPr>
        <p:blipFill>
          <a:blip r:embed="rId3"/>
          <a:stretch>
            <a:fillRect/>
          </a:stretch>
        </p:blipFill>
        <p:spPr>
          <a:xfrm>
            <a:off x="7324344" y="4617720"/>
            <a:ext cx="256032" cy="256032"/>
          </a:xfrm>
          <a:prstGeom prst="rect">
            <a:avLst/>
          </a:prstGeom>
        </p:spPr>
      </p:pic>
      <p:sp>
        <p:nvSpPr>
          <p:cNvPr id="15" name="text-91"/>
          <p:cNvSpPr txBox="1"/>
          <p:nvPr/>
        </p:nvSpPr>
        <p:spPr>
          <a:xfrm>
            <a:off x="7863840" y="4535424"/>
            <a:ext cx="3779215"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Same wrapper for both</a:t>
            </a:r>
            <a:endParaRPr lang="en-US" sz="1600" dirty="0"/>
          </a:p>
        </p:txBody>
      </p:sp>
      <p:sp>
        <p:nvSpPr>
          <p:cNvPr id="16" name="text-92"/>
          <p:cNvSpPr txBox="1"/>
          <p:nvPr/>
        </p:nvSpPr>
        <p:spPr>
          <a:xfrm>
            <a:off x="7863840" y="4928616"/>
            <a:ext cx="3779215" cy="100584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Account events (welcome, new sign-in) wrap any auth backend, so Activity behaves identically.</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dirty="0">
                <a:solidFill>
                  <a:schemeClr val="tx1"/>
                </a:solidFill>
                <a:latin typeface="Georgia" pitchFamily="34" charset="0"/>
                <a:ea typeface="Georgia" pitchFamily="34" charset="-122"/>
                <a:cs typeface="Georgia" pitchFamily="34" charset="-120"/>
              </a:rPr>
              <a:t>The mock backend fails the way a real one does</a:t>
            </a:r>
            <a:endParaRPr lang="en-US" sz="3200" dirty="0"/>
          </a:p>
        </p:txBody>
      </p:sp>
      <p:sp>
        <p:nvSpPr>
          <p:cNvPr id="3" name="card-93"/>
          <p:cNvSpPr/>
          <p:nvPr/>
        </p:nvSpPr>
        <p:spPr>
          <a:xfrm>
            <a:off x="548640" y="1371600"/>
            <a:ext cx="3515258" cy="2194560"/>
          </a:xfrm>
          <a:prstGeom prst="roundRect">
            <a:avLst>
              <a:gd name="adj" fmla="val 5000"/>
            </a:avLst>
          </a:prstGeom>
          <a:solidFill>
            <a:schemeClr val="bg2"/>
          </a:solidFill>
          <a:ln/>
        </p:spPr>
      </p:sp>
      <p:sp>
        <p:nvSpPr>
          <p:cNvPr id="4" name="icon-bg-94"/>
          <p:cNvSpPr/>
          <p:nvPr/>
        </p:nvSpPr>
        <p:spPr>
          <a:xfrm>
            <a:off x="822960" y="1645920"/>
            <a:ext cx="457200" cy="457200"/>
          </a:xfrm>
          <a:prstGeom prst="ellipse">
            <a:avLst/>
          </a:prstGeom>
          <a:solidFill>
            <a:schemeClr val="accent1"/>
          </a:solidFill>
          <a:ln/>
        </p:spPr>
      </p:sp>
      <p:pic>
        <p:nvPicPr>
          <p:cNvPr id="5" name="icon-95" descr="preencoded.png">    </p:cNvPr>
          <p:cNvPicPr>
            <a:picLocks noChangeAspect="1"/>
          </p:cNvPicPr>
          <p:nvPr/>
        </p:nvPicPr>
        <p:blipFill>
          <a:blip r:embed="rId1"/>
          <a:stretch>
            <a:fillRect/>
          </a:stretch>
        </p:blipFill>
        <p:spPr>
          <a:xfrm>
            <a:off x="923544" y="1746504"/>
            <a:ext cx="256032" cy="256032"/>
          </a:xfrm>
          <a:prstGeom prst="rect">
            <a:avLst/>
          </a:prstGeom>
        </p:spPr>
      </p:pic>
      <p:sp>
        <p:nvSpPr>
          <p:cNvPr id="6" name="text-96"/>
          <p:cNvSpPr txBox="1"/>
          <p:nvPr/>
        </p:nvSpPr>
        <p:spPr>
          <a:xfrm>
            <a:off x="822960" y="2240280"/>
            <a:ext cx="2966618"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Latency</a:t>
            </a:r>
            <a:endParaRPr lang="en-US" sz="1600" dirty="0"/>
          </a:p>
        </p:txBody>
      </p:sp>
      <p:sp>
        <p:nvSpPr>
          <p:cNvPr id="7" name="text-97"/>
          <p:cNvSpPr txBox="1"/>
          <p:nvPr/>
        </p:nvSpPr>
        <p:spPr>
          <a:xfrm>
            <a:off x="822960" y="2633472"/>
            <a:ext cx="2966618" cy="86868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300–1,200 ms per request (fast and slow presets), so every screen has a real loading state.</a:t>
            </a:r>
            <a:endParaRPr lang="en-US" sz="1400" dirty="0"/>
          </a:p>
        </p:txBody>
      </p:sp>
      <p:sp>
        <p:nvSpPr>
          <p:cNvPr id="8" name="card-98"/>
          <p:cNvSpPr/>
          <p:nvPr/>
        </p:nvSpPr>
        <p:spPr>
          <a:xfrm>
            <a:off x="4338218" y="1371600"/>
            <a:ext cx="3515258" cy="2194560"/>
          </a:xfrm>
          <a:prstGeom prst="roundRect">
            <a:avLst>
              <a:gd name="adj" fmla="val 5000"/>
            </a:avLst>
          </a:prstGeom>
          <a:solidFill>
            <a:schemeClr val="bg2"/>
          </a:solidFill>
          <a:ln/>
        </p:spPr>
      </p:sp>
      <p:sp>
        <p:nvSpPr>
          <p:cNvPr id="9" name="icon-bg-99"/>
          <p:cNvSpPr/>
          <p:nvPr/>
        </p:nvSpPr>
        <p:spPr>
          <a:xfrm>
            <a:off x="4612538" y="1645920"/>
            <a:ext cx="457200" cy="457200"/>
          </a:xfrm>
          <a:prstGeom prst="ellipse">
            <a:avLst/>
          </a:prstGeom>
          <a:solidFill>
            <a:schemeClr val="accent1"/>
          </a:solidFill>
          <a:ln/>
        </p:spPr>
      </p:sp>
      <p:pic>
        <p:nvPicPr>
          <p:cNvPr id="10" name="icon-100" descr="preencoded.png">    </p:cNvPr>
          <p:cNvPicPr>
            <a:picLocks noChangeAspect="1"/>
          </p:cNvPicPr>
          <p:nvPr/>
        </p:nvPicPr>
        <p:blipFill>
          <a:blip r:embed="rId2"/>
          <a:stretch>
            <a:fillRect/>
          </a:stretch>
        </p:blipFill>
        <p:spPr>
          <a:xfrm>
            <a:off x="4713122" y="1746504"/>
            <a:ext cx="256032" cy="256032"/>
          </a:xfrm>
          <a:prstGeom prst="rect">
            <a:avLst/>
          </a:prstGeom>
        </p:spPr>
      </p:pic>
      <p:sp>
        <p:nvSpPr>
          <p:cNvPr id="11" name="text-101"/>
          <p:cNvSpPr txBox="1"/>
          <p:nvPr/>
        </p:nvSpPr>
        <p:spPr>
          <a:xfrm>
            <a:off x="4612538" y="2240280"/>
            <a:ext cx="2966618"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Injected failures</a:t>
            </a:r>
            <a:endParaRPr lang="en-US" sz="1600" dirty="0"/>
          </a:p>
        </p:txBody>
      </p:sp>
      <p:sp>
        <p:nvSpPr>
          <p:cNvPr id="12" name="text-102"/>
          <p:cNvSpPr txBox="1"/>
          <p:nvPr/>
        </p:nvSpPr>
        <p:spPr>
          <a:xfrm>
            <a:off x="4612538" y="2633472"/>
            <a:ext cx="2966618" cy="86868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5% of requests fail: 40% network, 30% timeout, 30% server. Offline mode and "fail next N" in developer controls.</a:t>
            </a:r>
            <a:endParaRPr lang="en-US" sz="1400" dirty="0"/>
          </a:p>
        </p:txBody>
      </p:sp>
      <p:sp>
        <p:nvSpPr>
          <p:cNvPr id="13" name="card-103"/>
          <p:cNvSpPr/>
          <p:nvPr/>
        </p:nvSpPr>
        <p:spPr>
          <a:xfrm>
            <a:off x="8127797" y="1371600"/>
            <a:ext cx="3515258" cy="2194560"/>
          </a:xfrm>
          <a:prstGeom prst="roundRect">
            <a:avLst>
              <a:gd name="adj" fmla="val 5000"/>
            </a:avLst>
          </a:prstGeom>
          <a:solidFill>
            <a:schemeClr val="bg2"/>
          </a:solidFill>
          <a:ln/>
        </p:spPr>
      </p:sp>
      <p:sp>
        <p:nvSpPr>
          <p:cNvPr id="14" name="icon-bg-104"/>
          <p:cNvSpPr/>
          <p:nvPr/>
        </p:nvSpPr>
        <p:spPr>
          <a:xfrm>
            <a:off x="8402117" y="1645920"/>
            <a:ext cx="457200" cy="457200"/>
          </a:xfrm>
          <a:prstGeom prst="ellipse">
            <a:avLst/>
          </a:prstGeom>
          <a:solidFill>
            <a:schemeClr val="accent1"/>
          </a:solidFill>
          <a:ln/>
        </p:spPr>
      </p:sp>
      <p:pic>
        <p:nvPicPr>
          <p:cNvPr id="15" name="icon-105" descr="preencoded.png">    </p:cNvPr>
          <p:cNvPicPr>
            <a:picLocks noChangeAspect="1"/>
          </p:cNvPicPr>
          <p:nvPr/>
        </p:nvPicPr>
        <p:blipFill>
          <a:blip r:embed="rId3"/>
          <a:stretch>
            <a:fillRect/>
          </a:stretch>
        </p:blipFill>
        <p:spPr>
          <a:xfrm>
            <a:off x="8502701" y="1746504"/>
            <a:ext cx="256032" cy="256032"/>
          </a:xfrm>
          <a:prstGeom prst="rect">
            <a:avLst/>
          </a:prstGeom>
        </p:spPr>
      </p:pic>
      <p:sp>
        <p:nvSpPr>
          <p:cNvPr id="16" name="text-106"/>
          <p:cNvSpPr txBox="1"/>
          <p:nvPr/>
        </p:nvSpPr>
        <p:spPr>
          <a:xfrm>
            <a:off x="8402117" y="2240280"/>
            <a:ext cx="2966618"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Cancellation</a:t>
            </a:r>
            <a:endParaRPr lang="en-US" sz="1600" dirty="0"/>
          </a:p>
        </p:txBody>
      </p:sp>
      <p:sp>
        <p:nvSpPr>
          <p:cNvPr id="17" name="text-107"/>
          <p:cNvSpPr txBox="1"/>
          <p:nvPr/>
        </p:nvSpPr>
        <p:spPr>
          <a:xfrm>
            <a:off x="8402117" y="2633472"/>
            <a:ext cx="2966618" cy="86868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Every request honors AbortSignal; TanStack Query cancels superseded fetches.</a:t>
            </a:r>
            <a:endParaRPr lang="en-US" sz="1400" dirty="0"/>
          </a:p>
        </p:txBody>
      </p:sp>
      <p:sp>
        <p:nvSpPr>
          <p:cNvPr id="18" name="card-108"/>
          <p:cNvSpPr/>
          <p:nvPr/>
        </p:nvSpPr>
        <p:spPr>
          <a:xfrm>
            <a:off x="548640" y="3794760"/>
            <a:ext cx="3515258" cy="2194560"/>
          </a:xfrm>
          <a:prstGeom prst="roundRect">
            <a:avLst>
              <a:gd name="adj" fmla="val 5000"/>
            </a:avLst>
          </a:prstGeom>
          <a:solidFill>
            <a:schemeClr val="bg2"/>
          </a:solidFill>
          <a:ln/>
        </p:spPr>
      </p:sp>
      <p:sp>
        <p:nvSpPr>
          <p:cNvPr id="19" name="icon-bg-109"/>
          <p:cNvSpPr/>
          <p:nvPr/>
        </p:nvSpPr>
        <p:spPr>
          <a:xfrm>
            <a:off x="822960" y="4069080"/>
            <a:ext cx="457200" cy="457200"/>
          </a:xfrm>
          <a:prstGeom prst="ellipse">
            <a:avLst/>
          </a:prstGeom>
          <a:solidFill>
            <a:schemeClr val="accent1"/>
          </a:solidFill>
          <a:ln/>
        </p:spPr>
      </p:sp>
      <p:pic>
        <p:nvPicPr>
          <p:cNvPr id="20" name="icon-110" descr="preencoded.png">    </p:cNvPr>
          <p:cNvPicPr>
            <a:picLocks noChangeAspect="1"/>
          </p:cNvPicPr>
          <p:nvPr/>
        </p:nvPicPr>
        <p:blipFill>
          <a:blip r:embed="rId4"/>
          <a:stretch>
            <a:fillRect/>
          </a:stretch>
        </p:blipFill>
        <p:spPr>
          <a:xfrm>
            <a:off x="923544" y="4169664"/>
            <a:ext cx="256032" cy="256032"/>
          </a:xfrm>
          <a:prstGeom prst="rect">
            <a:avLst/>
          </a:prstGeom>
        </p:spPr>
      </p:pic>
      <p:sp>
        <p:nvSpPr>
          <p:cNvPr id="21" name="text-111"/>
          <p:cNvSpPr txBox="1"/>
          <p:nvPr/>
        </p:nvSpPr>
        <p:spPr>
          <a:xfrm>
            <a:off x="822960" y="4663440"/>
            <a:ext cx="2966618"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Validation and permissions</a:t>
            </a:r>
            <a:endParaRPr lang="en-US" sz="1600" dirty="0"/>
          </a:p>
        </p:txBody>
      </p:sp>
      <p:sp>
        <p:nvSpPr>
          <p:cNvPr id="22" name="text-112"/>
          <p:cNvSpPr txBox="1"/>
          <p:nvPr/>
        </p:nvSpPr>
        <p:spPr>
          <a:xfrm>
            <a:off x="822960" y="5056632"/>
            <a:ext cx="2966618" cy="86868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zod schemas on every write; ownership and visibility checks return not-found or unauthorized.</a:t>
            </a:r>
            <a:endParaRPr lang="en-US" sz="1400" dirty="0"/>
          </a:p>
        </p:txBody>
      </p:sp>
      <p:sp>
        <p:nvSpPr>
          <p:cNvPr id="23" name="card-113"/>
          <p:cNvSpPr/>
          <p:nvPr/>
        </p:nvSpPr>
        <p:spPr>
          <a:xfrm>
            <a:off x="4338218" y="3794760"/>
            <a:ext cx="3515258" cy="2194560"/>
          </a:xfrm>
          <a:prstGeom prst="roundRect">
            <a:avLst>
              <a:gd name="adj" fmla="val 5000"/>
            </a:avLst>
          </a:prstGeom>
          <a:solidFill>
            <a:schemeClr val="bg2"/>
          </a:solidFill>
          <a:ln/>
        </p:spPr>
      </p:sp>
      <p:sp>
        <p:nvSpPr>
          <p:cNvPr id="24" name="icon-bg-114"/>
          <p:cNvSpPr/>
          <p:nvPr/>
        </p:nvSpPr>
        <p:spPr>
          <a:xfrm>
            <a:off x="4612538" y="4069080"/>
            <a:ext cx="457200" cy="457200"/>
          </a:xfrm>
          <a:prstGeom prst="ellipse">
            <a:avLst/>
          </a:prstGeom>
          <a:solidFill>
            <a:schemeClr val="accent1"/>
          </a:solidFill>
          <a:ln/>
        </p:spPr>
      </p:sp>
      <p:pic>
        <p:nvPicPr>
          <p:cNvPr id="25" name="icon-115" descr="preencoded.png">    </p:cNvPr>
          <p:cNvPicPr>
            <a:picLocks noChangeAspect="1"/>
          </p:cNvPicPr>
          <p:nvPr/>
        </p:nvPicPr>
        <p:blipFill>
          <a:blip r:embed="rId5"/>
          <a:stretch>
            <a:fillRect/>
          </a:stretch>
        </p:blipFill>
        <p:spPr>
          <a:xfrm>
            <a:off x="4713122" y="4169664"/>
            <a:ext cx="256032" cy="256032"/>
          </a:xfrm>
          <a:prstGeom prst="rect">
            <a:avLst/>
          </a:prstGeom>
        </p:spPr>
      </p:pic>
      <p:sp>
        <p:nvSpPr>
          <p:cNvPr id="26" name="text-116"/>
          <p:cNvSpPr txBox="1"/>
          <p:nvPr/>
        </p:nvSpPr>
        <p:spPr>
          <a:xfrm>
            <a:off x="4612538" y="4663440"/>
            <a:ext cx="2966618"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Persisted overlay DB</a:t>
            </a:r>
            <a:endParaRPr lang="en-US" sz="1600" dirty="0"/>
          </a:p>
        </p:txBody>
      </p:sp>
      <p:sp>
        <p:nvSpPr>
          <p:cNvPr id="27" name="text-117"/>
          <p:cNvSpPr txBox="1"/>
          <p:nvPr/>
        </p:nvSpPr>
        <p:spPr>
          <a:xfrm>
            <a:off x="4612538" y="5056632"/>
            <a:ext cx="2966618" cy="86868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Read-only seed plus a write overlay (mockdb:v1) in AsyncStorage, debounced 250 ms; survives restarts.</a:t>
            </a:r>
            <a:endParaRPr lang="en-US" sz="1400" dirty="0"/>
          </a:p>
        </p:txBody>
      </p:sp>
      <p:sp>
        <p:nvSpPr>
          <p:cNvPr id="28" name="card-118"/>
          <p:cNvSpPr/>
          <p:nvPr/>
        </p:nvSpPr>
        <p:spPr>
          <a:xfrm>
            <a:off x="8127797" y="3794760"/>
            <a:ext cx="3515258" cy="2194560"/>
          </a:xfrm>
          <a:prstGeom prst="roundRect">
            <a:avLst>
              <a:gd name="adj" fmla="val 5000"/>
            </a:avLst>
          </a:prstGeom>
          <a:solidFill>
            <a:schemeClr val="bg2"/>
          </a:solidFill>
          <a:ln/>
        </p:spPr>
      </p:sp>
      <p:sp>
        <p:nvSpPr>
          <p:cNvPr id="29" name="icon-bg-119"/>
          <p:cNvSpPr/>
          <p:nvPr/>
        </p:nvSpPr>
        <p:spPr>
          <a:xfrm>
            <a:off x="8402117" y="4069080"/>
            <a:ext cx="457200" cy="457200"/>
          </a:xfrm>
          <a:prstGeom prst="ellipse">
            <a:avLst/>
          </a:prstGeom>
          <a:solidFill>
            <a:schemeClr val="accent1"/>
          </a:solidFill>
          <a:ln/>
        </p:spPr>
      </p:sp>
      <p:pic>
        <p:nvPicPr>
          <p:cNvPr id="30" name="icon-120" descr="preencoded.png">    </p:cNvPr>
          <p:cNvPicPr>
            <a:picLocks noChangeAspect="1"/>
          </p:cNvPicPr>
          <p:nvPr/>
        </p:nvPicPr>
        <p:blipFill>
          <a:blip r:embed="rId6"/>
          <a:stretch>
            <a:fillRect/>
          </a:stretch>
        </p:blipFill>
        <p:spPr>
          <a:xfrm>
            <a:off x="8502701" y="4169664"/>
            <a:ext cx="256032" cy="256032"/>
          </a:xfrm>
          <a:prstGeom prst="rect">
            <a:avLst/>
          </a:prstGeom>
        </p:spPr>
      </p:pic>
      <p:sp>
        <p:nvSpPr>
          <p:cNvPr id="31" name="text-121"/>
          <p:cNvSpPr txBox="1"/>
          <p:nvPr/>
        </p:nvSpPr>
        <p:spPr>
          <a:xfrm>
            <a:off x="8402117" y="4663440"/>
            <a:ext cx="2966618"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Pagination and idempotency</a:t>
            </a:r>
            <a:endParaRPr lang="en-US" sz="1600" dirty="0"/>
          </a:p>
        </p:txBody>
      </p:sp>
      <p:sp>
        <p:nvSpPr>
          <p:cNvPr id="32" name="text-122"/>
          <p:cNvSpPr txBox="1"/>
          <p:nvPr/>
        </p:nvSpPr>
        <p:spPr>
          <a:xfrm>
            <a:off x="8402117" y="5056632"/>
            <a:ext cx="2966618" cy="86868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Cursor pages of 8; checkout keyed by an idempotency key so a retried payment never charges twice.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731520" y="2240280"/>
            <a:ext cx="5486400" cy="457200"/>
          </a:xfrm>
          <a:prstGeom prst="rect">
            <a:avLst/>
          </a:prstGeom>
          <a:noFill/>
          <a:ln/>
        </p:spPr>
        <p:txBody>
          <a:bodyPr wrap="square" lIns="0" tIns="0" rIns="0" bIns="0" rtlCol="0"/>
          <a:lstStyle/>
          <a:p>
            <a:pPr indent="0" marL="0">
              <a:buNone/>
            </a:pPr>
            <a:r>
              <a:rPr lang="en-US" sz="1600" b="1" dirty="0">
                <a:solidFill>
                  <a:schemeClr val="accent2"/>
                </a:solidFill>
                <a:latin typeface="Arial" pitchFamily="34" charset="0"/>
                <a:ea typeface="Arial" pitchFamily="34" charset="-122"/>
                <a:cs typeface="Arial" pitchFamily="34" charset="-120"/>
              </a:rPr>
              <a:t>02  DOMAIN AND DATA</a:t>
            </a:r>
            <a:endParaRPr lang="en-US" sz="1600" dirty="0"/>
          </a:p>
        </p:txBody>
      </p:sp>
      <p:sp>
        <p:nvSpPr>
          <p:cNvPr id="3" name="Text 0"/>
          <p:cNvSpPr/>
          <p:nvPr>
            <p:ph idx="101" type="title" hasCustomPrompt="1"/>
          </p:nvPr>
        </p:nvSpPr>
        <p:spPr>
          <a:xfrm>
            <a:off x="731520" y="2743200"/>
            <a:ext cx="10058400" cy="1005840"/>
          </a:xfrm>
          <a:prstGeom prst="rect">
            <a:avLst/>
          </a:prstGeom>
          <a:noFill/>
          <a:ln/>
        </p:spPr>
        <p:txBody>
          <a:bodyPr wrap="square" lIns="0" tIns="0" rIns="0" bIns="0" rtlCol="0" anchor="t"/>
          <a:lstStyle/>
          <a:p>
            <a:pPr algn="l" indent="0" marL="0">
              <a:buNone/>
            </a:pPr>
            <a:r>
              <a:rPr lang="en-US" sz="4200" dirty="0">
                <a:solidFill>
                  <a:schemeClr val="bg1"/>
                </a:solidFill>
                <a:latin typeface="Georgia" pitchFamily="34" charset="0"/>
                <a:ea typeface="Georgia" pitchFamily="34" charset="-122"/>
                <a:cs typeface="Georgia" pitchFamily="34" charset="-120"/>
              </a:rPr>
              <a:t>Business rules, state and money</a:t>
            </a:r>
            <a:endParaRPr lang="en-US" sz="4200" dirty="0"/>
          </a:p>
        </p:txBody>
      </p:sp>
      <p:sp>
        <p:nvSpPr>
          <p:cNvPr id="4" name="Text 0"/>
          <p:cNvSpPr/>
          <p:nvPr>
            <p:ph idx="102" type="body" hasCustomPrompt="1"/>
          </p:nvPr>
        </p:nvSpPr>
        <p:spPr>
          <a:xfrm>
            <a:off x="731520" y="3886200"/>
            <a:ext cx="9601200" cy="914400"/>
          </a:xfrm>
          <a:prstGeom prst="rect">
            <a:avLst/>
          </a:prstGeom>
          <a:noFill/>
          <a:ln/>
        </p:spPr>
        <p:txBody>
          <a:bodyPr wrap="square" lIns="0" tIns="0" rIns="0" bIns="0" rtlCol="0" anchor="t"/>
          <a:lstStyle/>
          <a:p>
            <a:pPr indent="0" marL="0">
              <a:buNone/>
            </a:pPr>
            <a:r>
              <a:rPr lang="en-US" sz="1800" dirty="0">
                <a:solidFill>
                  <a:schemeClr val="accent6"/>
                </a:solidFill>
                <a:latin typeface="Arial" pitchFamily="34" charset="0"/>
                <a:ea typeface="Arial" pitchFamily="34" charset="-122"/>
                <a:cs typeface="Arial" pitchFamily="34" charset="-120"/>
              </a:rPr>
              <a:t>Pure domain modules, the campaign state machine, data fetching and payments.</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dirty="0">
                <a:solidFill>
                  <a:schemeClr val="tx1"/>
                </a:solidFill>
                <a:latin typeface="Georgia" pitchFamily="34" charset="0"/>
                <a:ea typeface="Georgia" pitchFamily="34" charset="-122"/>
                <a:cs typeface="Georgia" pitchFamily="34" charset="-120"/>
              </a:rPr>
              <a:t>Money and reach rules live in one pure module</a:t>
            </a:r>
            <a:endParaRPr lang="en-US" sz="3200" dirty="0"/>
          </a:p>
        </p:txBody>
      </p:sp>
      <p:sp>
        <p:nvSpPr>
          <p:cNvPr id="3" name="card-123"/>
          <p:cNvSpPr/>
          <p:nvPr/>
        </p:nvSpPr>
        <p:spPr>
          <a:xfrm>
            <a:off x="548640" y="1371600"/>
            <a:ext cx="2567864" cy="1691640"/>
          </a:xfrm>
          <a:prstGeom prst="roundRect">
            <a:avLst>
              <a:gd name="adj" fmla="val 6486"/>
            </a:avLst>
          </a:prstGeom>
          <a:solidFill>
            <a:schemeClr val="bg2"/>
          </a:solidFill>
          <a:ln/>
        </p:spPr>
      </p:sp>
      <p:sp>
        <p:nvSpPr>
          <p:cNvPr id="4" name="text-124"/>
          <p:cNvSpPr txBox="1"/>
          <p:nvPr/>
        </p:nvSpPr>
        <p:spPr>
          <a:xfrm>
            <a:off x="822960" y="1536192"/>
            <a:ext cx="2202104" cy="640080"/>
          </a:xfrm>
          <a:prstGeom prst="rect">
            <a:avLst/>
          </a:prstGeom>
          <a:noFill/>
          <a:ln/>
        </p:spPr>
        <p:txBody>
          <a:bodyPr wrap="square" lIns="0" tIns="0" rIns="0" bIns="0" rtlCol="0" anchor="t"/>
          <a:lstStyle/>
          <a:p>
            <a:pPr indent="0" marL="0">
              <a:buNone/>
            </a:pPr>
            <a:r>
              <a:rPr lang="en-US" sz="2800" b="1" dirty="0">
                <a:solidFill>
                  <a:schemeClr val="accent1"/>
                </a:solidFill>
                <a:latin typeface="Georgia" pitchFamily="34" charset="0"/>
                <a:ea typeface="Georgia" pitchFamily="34" charset="-122"/>
                <a:cs typeface="Georgia" pitchFamily="34" charset="-120"/>
              </a:rPr>
              <a:t>10%</a:t>
            </a:r>
            <a:endParaRPr lang="en-US" sz="2800" dirty="0"/>
          </a:p>
        </p:txBody>
      </p:sp>
      <p:sp>
        <p:nvSpPr>
          <p:cNvPr id="5" name="text-125"/>
          <p:cNvSpPr txBox="1"/>
          <p:nvPr/>
        </p:nvSpPr>
        <p:spPr>
          <a:xfrm>
            <a:off x="822960" y="2212848"/>
            <a:ext cx="2110664" cy="77724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platform fee, taken from funds raised</a:t>
            </a:r>
            <a:endParaRPr lang="en-US" sz="1400" dirty="0"/>
          </a:p>
        </p:txBody>
      </p:sp>
      <p:sp>
        <p:nvSpPr>
          <p:cNvPr id="6" name="card-126"/>
          <p:cNvSpPr/>
          <p:nvPr/>
        </p:nvSpPr>
        <p:spPr>
          <a:xfrm>
            <a:off x="3390824" y="1371600"/>
            <a:ext cx="2567864" cy="1691640"/>
          </a:xfrm>
          <a:prstGeom prst="roundRect">
            <a:avLst>
              <a:gd name="adj" fmla="val 6486"/>
            </a:avLst>
          </a:prstGeom>
          <a:solidFill>
            <a:schemeClr val="bg2"/>
          </a:solidFill>
          <a:ln/>
        </p:spPr>
      </p:sp>
      <p:sp>
        <p:nvSpPr>
          <p:cNvPr id="7" name="text-127"/>
          <p:cNvSpPr txBox="1"/>
          <p:nvPr/>
        </p:nvSpPr>
        <p:spPr>
          <a:xfrm>
            <a:off x="3665144" y="1536192"/>
            <a:ext cx="2202104" cy="640080"/>
          </a:xfrm>
          <a:prstGeom prst="rect">
            <a:avLst/>
          </a:prstGeom>
          <a:noFill/>
          <a:ln/>
        </p:spPr>
        <p:txBody>
          <a:bodyPr wrap="square" lIns="0" tIns="0" rIns="0" bIns="0" rtlCol="0" anchor="t"/>
          <a:lstStyle/>
          <a:p>
            <a:pPr indent="0" marL="0">
              <a:buNone/>
            </a:pPr>
            <a:r>
              <a:rPr lang="en-US" sz="2800" b="1" dirty="0">
                <a:solidFill>
                  <a:schemeClr val="accent1"/>
                </a:solidFill>
                <a:latin typeface="Georgia" pitchFamily="34" charset="0"/>
                <a:ea typeface="Georgia" pitchFamily="34" charset="-122"/>
                <a:cs typeface="Georgia" pitchFamily="34" charset="-120"/>
              </a:rPr>
              <a:t>2.9% + 30¢</a:t>
            </a:r>
            <a:endParaRPr lang="en-US" sz="2800" dirty="0"/>
          </a:p>
        </p:txBody>
      </p:sp>
      <p:sp>
        <p:nvSpPr>
          <p:cNvPr id="8" name="text-128"/>
          <p:cNvSpPr txBox="1"/>
          <p:nvPr/>
        </p:nvSpPr>
        <p:spPr>
          <a:xfrm>
            <a:off x="3665144" y="2212848"/>
            <a:ext cx="2110664" cy="77724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card processing, added on top at checkout</a:t>
            </a:r>
            <a:endParaRPr lang="en-US" sz="1400" dirty="0"/>
          </a:p>
        </p:txBody>
      </p:sp>
      <p:sp>
        <p:nvSpPr>
          <p:cNvPr id="9" name="card-129"/>
          <p:cNvSpPr/>
          <p:nvPr/>
        </p:nvSpPr>
        <p:spPr>
          <a:xfrm>
            <a:off x="6233008" y="1371600"/>
            <a:ext cx="2567864" cy="1691640"/>
          </a:xfrm>
          <a:prstGeom prst="roundRect">
            <a:avLst>
              <a:gd name="adj" fmla="val 6486"/>
            </a:avLst>
          </a:prstGeom>
          <a:solidFill>
            <a:schemeClr val="bg2"/>
          </a:solidFill>
          <a:ln/>
        </p:spPr>
      </p:sp>
      <p:sp>
        <p:nvSpPr>
          <p:cNvPr id="10" name="text-130"/>
          <p:cNvSpPr txBox="1"/>
          <p:nvPr/>
        </p:nvSpPr>
        <p:spPr>
          <a:xfrm>
            <a:off x="6507328" y="1536192"/>
            <a:ext cx="2202104" cy="640080"/>
          </a:xfrm>
          <a:prstGeom prst="rect">
            <a:avLst/>
          </a:prstGeom>
          <a:noFill/>
          <a:ln/>
        </p:spPr>
        <p:txBody>
          <a:bodyPr wrap="square" lIns="0" tIns="0" rIns="0" bIns="0" rtlCol="0" anchor="t"/>
          <a:lstStyle/>
          <a:p>
            <a:pPr indent="0" marL="0">
              <a:buNone/>
            </a:pPr>
            <a:r>
              <a:rPr lang="en-US" sz="2800" b="1" dirty="0">
                <a:solidFill>
                  <a:schemeClr val="accent1"/>
                </a:solidFill>
                <a:latin typeface="Georgia" pitchFamily="34" charset="0"/>
                <a:ea typeface="Georgia" pitchFamily="34" charset="-122"/>
                <a:cs typeface="Georgia" pitchFamily="34" charset="-120"/>
              </a:rPr>
              <a:t>$250</a:t>
            </a:r>
            <a:endParaRPr lang="en-US" sz="2800" dirty="0"/>
          </a:p>
        </p:txBody>
      </p:sp>
      <p:sp>
        <p:nvSpPr>
          <p:cNvPr id="11" name="text-131"/>
          <p:cNvSpPr txBox="1"/>
          <p:nvPr/>
        </p:nvSpPr>
        <p:spPr>
          <a:xfrm>
            <a:off x="6507328" y="2212848"/>
            <a:ext cx="2110664" cy="77724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minimum to run ads; below it every backer is refunded</a:t>
            </a:r>
            <a:endParaRPr lang="en-US" sz="1400" dirty="0"/>
          </a:p>
        </p:txBody>
      </p:sp>
      <p:sp>
        <p:nvSpPr>
          <p:cNvPr id="12" name="card-132"/>
          <p:cNvSpPr/>
          <p:nvPr/>
        </p:nvSpPr>
        <p:spPr>
          <a:xfrm>
            <a:off x="9075191" y="1371600"/>
            <a:ext cx="2567864" cy="1691640"/>
          </a:xfrm>
          <a:prstGeom prst="roundRect">
            <a:avLst>
              <a:gd name="adj" fmla="val 6486"/>
            </a:avLst>
          </a:prstGeom>
          <a:solidFill>
            <a:schemeClr val="bg2"/>
          </a:solidFill>
          <a:ln/>
        </p:spPr>
      </p:sp>
      <p:sp>
        <p:nvSpPr>
          <p:cNvPr id="13" name="text-133"/>
          <p:cNvSpPr txBox="1"/>
          <p:nvPr/>
        </p:nvSpPr>
        <p:spPr>
          <a:xfrm>
            <a:off x="9349511" y="1536192"/>
            <a:ext cx="2202104" cy="640080"/>
          </a:xfrm>
          <a:prstGeom prst="rect">
            <a:avLst/>
          </a:prstGeom>
          <a:noFill/>
          <a:ln/>
        </p:spPr>
        <p:txBody>
          <a:bodyPr wrap="square" lIns="0" tIns="0" rIns="0" bIns="0" rtlCol="0" anchor="t"/>
          <a:lstStyle/>
          <a:p>
            <a:pPr indent="0" marL="0">
              <a:buNone/>
            </a:pPr>
            <a:r>
              <a:rPr lang="en-US" sz="2800" b="1" dirty="0">
                <a:solidFill>
                  <a:schemeClr val="accent1"/>
                </a:solidFill>
                <a:latin typeface="Georgia" pitchFamily="34" charset="0"/>
                <a:ea typeface="Georgia" pitchFamily="34" charset="-122"/>
                <a:cs typeface="Georgia" pitchFamily="34" charset="-120"/>
              </a:rPr>
              <a:t>≈40</a:t>
            </a:r>
            <a:endParaRPr lang="en-US" sz="2800" dirty="0"/>
          </a:p>
        </p:txBody>
      </p:sp>
      <p:sp>
        <p:nvSpPr>
          <p:cNvPr id="14" name="text-134"/>
          <p:cNvSpPr txBox="1"/>
          <p:nvPr/>
        </p:nvSpPr>
        <p:spPr>
          <a:xfrm>
            <a:off x="9349511" y="2212848"/>
            <a:ext cx="2110664" cy="77724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people per $1 of ad budget (CPM $10, 2.5 views each, ±30%)</a:t>
            </a:r>
            <a:endParaRPr lang="en-US" sz="1400" dirty="0"/>
          </a:p>
        </p:txBody>
      </p:sp>
      <p:sp>
        <p:nvSpPr>
          <p:cNvPr id="15" name="text-135"/>
          <p:cNvSpPr txBox="1"/>
          <p:nvPr/>
        </p:nvSpPr>
        <p:spPr>
          <a:xfrm>
            <a:off x="548640" y="3383280"/>
            <a:ext cx="548640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Design decisions</a:t>
            </a:r>
            <a:endParaRPr lang="en-US" sz="1800" dirty="0"/>
          </a:p>
        </p:txBody>
      </p:sp>
      <p:sp>
        <p:nvSpPr>
          <p:cNvPr id="16" name="text-136"/>
          <p:cNvSpPr txBox="1"/>
          <p:nvPr/>
        </p:nvSpPr>
        <p:spPr>
          <a:xfrm>
            <a:off x="548640" y="3794760"/>
            <a:ext cx="11094415" cy="2377440"/>
          </a:xfrm>
          <a:prstGeom prst="rect">
            <a:avLst/>
          </a:prstGeom>
          <a:noFill/>
          <a:ln/>
        </p:spPr>
        <p:txBody>
          <a:bodyPr wrap="square" lIns="0" tIns="0" rIns="0" bIns="0" rtlCol="0" anchor="t"/>
          <a:lstStyle/>
          <a:p>
            <a:pPr marL="177800" indent="-177800">
              <a:spcAft>
                <a:spcPts val="600"/>
              </a:spcAft>
              <a:buSzPct val="100000"/>
              <a:buChar char="•"/>
            </a:pPr>
            <a:r>
              <a:rPr lang="en-US" sz="1400" b="1" dirty="0">
                <a:solidFill>
                  <a:schemeClr val="tx2"/>
                </a:solidFill>
                <a:latin typeface="Arial" pitchFamily="34" charset="0"/>
                <a:ea typeface="Arial" pitchFamily="34" charset="-122"/>
                <a:cs typeface="Arial" pitchFamily="34" charset="-120"/>
              </a:rPr>
              <a:t>Integer cents everywhere.</a:t>
            </a:r>
            <a:pPr indent="0" marL="0">
              <a:buNone/>
            </a:pPr>
            <a:r>
              <a:rPr lang="en-US" sz="1400" dirty="0">
                <a:solidFill>
                  <a:schemeClr val="tx2"/>
                </a:solidFill>
                <a:latin typeface="Arial" pitchFamily="34" charset="0"/>
                <a:ea typeface="Arial" pitchFamily="34" charset="-122"/>
                <a:cs typeface="Arial" pitchFamily="34" charset="-120"/>
              </a:rPr>
              <a:t> No floating-point money; formatting only at the edge.</a:t>
            </a:r>
            <a:endParaRPr lang="en-US" sz="1400" dirty="0"/>
          </a:p>
          <a:p>
            <a:pPr marL="177800" indent="-177800">
              <a:spcAft>
                <a:spcPts val="600"/>
              </a:spcAft>
              <a:buSzPct val="100000"/>
              <a:buChar char="•"/>
            </a:pPr>
            <a:r>
              <a:rPr lang="en-US" sz="1400" b="1" dirty="0">
                <a:solidFill>
                  <a:schemeClr val="tx2"/>
                </a:solidFill>
                <a:latin typeface="Arial" pitchFamily="34" charset="0"/>
                <a:ea typeface="Arial" pitchFamily="34" charset="-122"/>
                <a:cs typeface="Arial" pitchFamily="34" charset="-120"/>
              </a:rPr>
              <a:t>One computeFees() and one estimateReach().</a:t>
            </a:r>
            <a:pPr indent="0" marL="0">
              <a:buNone/>
            </a:pPr>
            <a:r>
              <a:rPr lang="en-US" sz="1400" dirty="0">
                <a:solidFill>
                  <a:schemeClr val="tx2"/>
                </a:solidFill>
                <a:latin typeface="Arial" pitchFamily="34" charset="0"/>
                <a:ea typeface="Arial" pitchFamily="34" charset="-122"/>
                <a:cs typeface="Arial" pitchFamily="34" charset="-120"/>
              </a:rPr>
              <a:t> The checkout, detail page, reports and mock server all call the same functions.</a:t>
            </a:r>
            <a:endParaRPr lang="en-US" sz="1400" dirty="0"/>
          </a:p>
          <a:p>
            <a:pPr marL="177800" indent="-177800">
              <a:spcAft>
                <a:spcPts val="600"/>
              </a:spcAft>
              <a:buSzPct val="100000"/>
              <a:buChar char="•"/>
            </a:pPr>
            <a:r>
              <a:rPr lang="en-US" sz="1400" b="1" dirty="0">
                <a:solidFill>
                  <a:schemeClr val="tx2"/>
                </a:solidFill>
                <a:latin typeface="Arial" pitchFamily="34" charset="0"/>
                <a:ea typeface="Arial" pitchFamily="34" charset="-122"/>
                <a:cs typeface="Arial" pitchFamily="34" charset="-120"/>
              </a:rPr>
              <a:t>Estimates are always labeled</a:t>
            </a:r>
            <a:pPr indent="0" marL="0">
              <a:buNone/>
            </a:pPr>
            <a:r>
              <a:rPr lang="en-US" sz="1400" dirty="0">
                <a:solidFill>
                  <a:schemeClr val="tx2"/>
                </a:solidFill>
                <a:latin typeface="Arial" pitchFamily="34" charset="0"/>
                <a:ea typeface="Arial" pitchFamily="34" charset="-122"/>
                <a:cs typeface="Arial" pitchFamily="34" charset="-120"/>
              </a:rPr>
              <a:t> with ≈ or "Est." and link to the assumptions behind them.</a:t>
            </a:r>
            <a:endParaRPr lang="en-US" sz="1400" dirty="0"/>
          </a:p>
          <a:p>
            <a:pPr marL="177800" indent="-177800">
              <a:spcAft>
                <a:spcPts val="600"/>
              </a:spcAft>
              <a:buSzPct val="100000"/>
              <a:buChar char="•"/>
            </a:pPr>
            <a:r>
              <a:rPr lang="en-US" sz="1400" b="1" dirty="0">
                <a:solidFill>
                  <a:schemeClr val="tx2"/>
                </a:solidFill>
                <a:latin typeface="Arial" pitchFamily="34" charset="0"/>
                <a:ea typeface="Arial" pitchFamily="34" charset="-122"/>
                <a:cs typeface="Arial" pitchFamily="34" charset="-120"/>
              </a:rPr>
              <a:t>All assumptions in config/demo.ts.</a:t>
            </a:r>
            <a:pPr indent="0" marL="0">
              <a:buNone/>
            </a:pPr>
            <a:r>
              <a:rPr lang="en-US" sz="1400" dirty="0">
                <a:solidFill>
                  <a:schemeClr val="tx2"/>
                </a:solidFill>
                <a:latin typeface="Arial" pitchFamily="34" charset="0"/>
                <a:ea typeface="Arial" pitchFamily="34" charset="-122"/>
                <a:cs typeface="Arial" pitchFamily="34" charset="-120"/>
              </a:rPr>
              <a:t> Fees, CPM, frequency, funding window and timers are tuned in one place.</a:t>
            </a:r>
            <a:endParaRPr lang="en-US" sz="1400" dirty="0"/>
          </a:p>
          <a:p>
            <a:pPr marL="177800" indent="-177800">
              <a:spcAft>
                <a:spcPts val="600"/>
              </a:spcAft>
              <a:buSzPct val="100000"/>
              <a:buChar char="•"/>
            </a:pPr>
            <a:r>
              <a:rPr lang="en-US" sz="1400" b="1" dirty="0">
                <a:solidFill>
                  <a:schemeClr val="tx2"/>
                </a:solidFill>
                <a:latin typeface="Arial" pitchFamily="34" charset="0"/>
                <a:ea typeface="Arial" pitchFamily="34" charset="-122"/>
                <a:cs typeface="Arial" pitchFamily="34" charset="-120"/>
              </a:rPr>
              <a:t>AI cannot set the goal.</a:t>
            </a:r>
            <a:pPr indent="0" marL="0">
              <a:buNone/>
            </a:pPr>
            <a:r>
              <a:rPr lang="en-US" sz="1400" dirty="0">
                <a:solidFill>
                  <a:schemeClr val="tx2"/>
                </a:solidFill>
                <a:latin typeface="Arial" pitchFamily="34" charset="0"/>
                <a:ea typeface="Arial" pitchFamily="34" charset="-122"/>
                <a:cs typeface="Arial" pitchFamily="34" charset="-120"/>
              </a:rPr>
              <a:t> DraftPatch, the type AI suggestions return, has no goal field, so this is enforced at compile time.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dirty="0">
                <a:solidFill>
                  <a:schemeClr val="tx1"/>
                </a:solidFill>
                <a:latin typeface="Georgia" pitchFamily="34" charset="0"/>
                <a:ea typeface="Georgia" pitchFamily="34" charset="-122"/>
                <a:cs typeface="Georgia" pitchFamily="34" charset="-120"/>
              </a:rPr>
              <a:t>Campaigns move through an explicit state machine</a:t>
            </a:r>
            <a:endParaRPr lang="en-US" sz="3200" dirty="0"/>
          </a:p>
        </p:txBody>
      </p:sp>
      <p:sp>
        <p:nvSpPr>
          <p:cNvPr id="3" name="card-137"/>
          <p:cNvSpPr/>
          <p:nvPr/>
        </p:nvSpPr>
        <p:spPr>
          <a:xfrm>
            <a:off x="548640" y="1600200"/>
            <a:ext cx="1170432" cy="685800"/>
          </a:xfrm>
          <a:prstGeom prst="roundRect">
            <a:avLst>
              <a:gd name="adj" fmla="val 16000"/>
            </a:avLst>
          </a:prstGeom>
          <a:solidFill>
            <a:schemeClr val="accent1"/>
          </a:solidFill>
          <a:ln/>
        </p:spPr>
      </p:sp>
      <p:sp>
        <p:nvSpPr>
          <p:cNvPr id="4" name="text-138"/>
          <p:cNvSpPr txBox="1"/>
          <p:nvPr/>
        </p:nvSpPr>
        <p:spPr>
          <a:xfrm>
            <a:off x="594360" y="1600200"/>
            <a:ext cx="1078992" cy="685800"/>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Draft</a:t>
            </a:r>
            <a:endParaRPr lang="en-US" sz="1300" dirty="0"/>
          </a:p>
        </p:txBody>
      </p:sp>
      <p:sp>
        <p:nvSpPr>
          <p:cNvPr id="5" name="arrow-139"/>
          <p:cNvSpPr/>
          <p:nvPr/>
        </p:nvSpPr>
        <p:spPr>
          <a:xfrm>
            <a:off x="1737360" y="1943100"/>
            <a:ext cx="210704" cy="914"/>
          </a:xfrm>
          <a:prstGeom prst="line">
            <a:avLst/>
          </a:prstGeom>
          <a:noFill/>
          <a:ln w="19050">
            <a:solidFill>
              <a:schemeClr val="accent6"/>
            </a:solidFill>
            <a:prstDash val="solid"/>
            <a:tailEnd type="triangle"/>
          </a:ln>
        </p:spPr>
      </p:sp>
      <p:sp>
        <p:nvSpPr>
          <p:cNvPr id="6" name="card-140"/>
          <p:cNvSpPr/>
          <p:nvPr/>
        </p:nvSpPr>
        <p:spPr>
          <a:xfrm>
            <a:off x="1966352" y="1600200"/>
            <a:ext cx="1170432" cy="685800"/>
          </a:xfrm>
          <a:prstGeom prst="roundRect">
            <a:avLst>
              <a:gd name="adj" fmla="val 16000"/>
            </a:avLst>
          </a:prstGeom>
          <a:solidFill>
            <a:schemeClr val="accent1"/>
          </a:solidFill>
          <a:ln/>
        </p:spPr>
      </p:sp>
      <p:sp>
        <p:nvSpPr>
          <p:cNvPr id="7" name="text-141"/>
          <p:cNvSpPr txBox="1"/>
          <p:nvPr/>
        </p:nvSpPr>
        <p:spPr>
          <a:xfrm>
            <a:off x="2012072" y="1600200"/>
            <a:ext cx="1078992" cy="685800"/>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Submitted</a:t>
            </a:r>
            <a:endParaRPr lang="en-US" sz="1300" dirty="0"/>
          </a:p>
        </p:txBody>
      </p:sp>
      <p:sp>
        <p:nvSpPr>
          <p:cNvPr id="8" name="arrow-142"/>
          <p:cNvSpPr/>
          <p:nvPr/>
        </p:nvSpPr>
        <p:spPr>
          <a:xfrm>
            <a:off x="3155072" y="1943100"/>
            <a:ext cx="210704" cy="914"/>
          </a:xfrm>
          <a:prstGeom prst="line">
            <a:avLst/>
          </a:prstGeom>
          <a:noFill/>
          <a:ln w="19050">
            <a:solidFill>
              <a:schemeClr val="accent6"/>
            </a:solidFill>
            <a:prstDash val="solid"/>
            <a:tailEnd type="triangle"/>
          </a:ln>
        </p:spPr>
      </p:sp>
      <p:sp>
        <p:nvSpPr>
          <p:cNvPr id="9" name="card-143"/>
          <p:cNvSpPr/>
          <p:nvPr/>
        </p:nvSpPr>
        <p:spPr>
          <a:xfrm>
            <a:off x="3384064" y="1600200"/>
            <a:ext cx="1170432" cy="685800"/>
          </a:xfrm>
          <a:prstGeom prst="roundRect">
            <a:avLst>
              <a:gd name="adj" fmla="val 16000"/>
            </a:avLst>
          </a:prstGeom>
          <a:solidFill>
            <a:schemeClr val="accent1"/>
          </a:solidFill>
          <a:ln/>
        </p:spPr>
      </p:sp>
      <p:sp>
        <p:nvSpPr>
          <p:cNvPr id="10" name="text-144"/>
          <p:cNvSpPr txBox="1"/>
          <p:nvPr/>
        </p:nvSpPr>
        <p:spPr>
          <a:xfrm>
            <a:off x="3429784" y="1600200"/>
            <a:ext cx="1078992" cy="685800"/>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Approved</a:t>
            </a:r>
            <a:endParaRPr lang="en-US" sz="1300" dirty="0"/>
          </a:p>
        </p:txBody>
      </p:sp>
      <p:sp>
        <p:nvSpPr>
          <p:cNvPr id="11" name="arrow-145"/>
          <p:cNvSpPr/>
          <p:nvPr/>
        </p:nvSpPr>
        <p:spPr>
          <a:xfrm>
            <a:off x="4572784" y="1943100"/>
            <a:ext cx="210704" cy="914"/>
          </a:xfrm>
          <a:prstGeom prst="line">
            <a:avLst/>
          </a:prstGeom>
          <a:noFill/>
          <a:ln w="19050">
            <a:solidFill>
              <a:schemeClr val="accent6"/>
            </a:solidFill>
            <a:prstDash val="solid"/>
            <a:tailEnd type="triangle"/>
          </a:ln>
        </p:spPr>
      </p:sp>
      <p:sp>
        <p:nvSpPr>
          <p:cNvPr id="12" name="card-146"/>
          <p:cNvSpPr/>
          <p:nvPr/>
        </p:nvSpPr>
        <p:spPr>
          <a:xfrm>
            <a:off x="4801776" y="1600200"/>
            <a:ext cx="1170432" cy="685800"/>
          </a:xfrm>
          <a:prstGeom prst="roundRect">
            <a:avLst>
              <a:gd name="adj" fmla="val 16000"/>
            </a:avLst>
          </a:prstGeom>
          <a:solidFill>
            <a:schemeClr val="accent1"/>
          </a:solidFill>
          <a:ln/>
        </p:spPr>
      </p:sp>
      <p:sp>
        <p:nvSpPr>
          <p:cNvPr id="13" name="text-147"/>
          <p:cNvSpPr txBox="1"/>
          <p:nvPr/>
        </p:nvSpPr>
        <p:spPr>
          <a:xfrm>
            <a:off x="4847496" y="1600200"/>
            <a:ext cx="1078992" cy="685800"/>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Funding</a:t>
            </a:r>
            <a:endParaRPr lang="en-US" sz="1300" dirty="0"/>
          </a:p>
        </p:txBody>
      </p:sp>
      <p:sp>
        <p:nvSpPr>
          <p:cNvPr id="14" name="arrow-148"/>
          <p:cNvSpPr/>
          <p:nvPr/>
        </p:nvSpPr>
        <p:spPr>
          <a:xfrm>
            <a:off x="5990496" y="1943100"/>
            <a:ext cx="210704" cy="914"/>
          </a:xfrm>
          <a:prstGeom prst="line">
            <a:avLst/>
          </a:prstGeom>
          <a:noFill/>
          <a:ln w="19050">
            <a:solidFill>
              <a:schemeClr val="accent6"/>
            </a:solidFill>
            <a:prstDash val="solid"/>
            <a:tailEnd type="triangle"/>
          </a:ln>
        </p:spPr>
      </p:sp>
      <p:sp>
        <p:nvSpPr>
          <p:cNvPr id="15" name="card-149"/>
          <p:cNvSpPr/>
          <p:nvPr/>
        </p:nvSpPr>
        <p:spPr>
          <a:xfrm>
            <a:off x="6219488" y="1600200"/>
            <a:ext cx="1170432" cy="685800"/>
          </a:xfrm>
          <a:prstGeom prst="roundRect">
            <a:avLst>
              <a:gd name="adj" fmla="val 16000"/>
            </a:avLst>
          </a:prstGeom>
          <a:solidFill>
            <a:schemeClr val="accent1"/>
          </a:solidFill>
          <a:ln/>
        </p:spPr>
      </p:sp>
      <p:sp>
        <p:nvSpPr>
          <p:cNvPr id="16" name="text-150"/>
          <p:cNvSpPr txBox="1"/>
          <p:nvPr/>
        </p:nvSpPr>
        <p:spPr>
          <a:xfrm>
            <a:off x="6265208" y="1600200"/>
            <a:ext cx="1078992" cy="685800"/>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Goal reached</a:t>
            </a:r>
            <a:endParaRPr lang="en-US" sz="1300" dirty="0"/>
          </a:p>
        </p:txBody>
      </p:sp>
      <p:sp>
        <p:nvSpPr>
          <p:cNvPr id="17" name="arrow-151"/>
          <p:cNvSpPr/>
          <p:nvPr/>
        </p:nvSpPr>
        <p:spPr>
          <a:xfrm>
            <a:off x="7408208" y="1943100"/>
            <a:ext cx="210704" cy="914"/>
          </a:xfrm>
          <a:prstGeom prst="line">
            <a:avLst/>
          </a:prstGeom>
          <a:noFill/>
          <a:ln w="19050">
            <a:solidFill>
              <a:schemeClr val="accent6"/>
            </a:solidFill>
            <a:prstDash val="solid"/>
            <a:tailEnd type="triangle"/>
          </a:ln>
        </p:spPr>
      </p:sp>
      <p:sp>
        <p:nvSpPr>
          <p:cNvPr id="18" name="card-152"/>
          <p:cNvSpPr/>
          <p:nvPr/>
        </p:nvSpPr>
        <p:spPr>
          <a:xfrm>
            <a:off x="7637199" y="1600200"/>
            <a:ext cx="1170432" cy="685800"/>
          </a:xfrm>
          <a:prstGeom prst="roundRect">
            <a:avLst>
              <a:gd name="adj" fmla="val 16000"/>
            </a:avLst>
          </a:prstGeom>
          <a:solidFill>
            <a:schemeClr val="accent1"/>
          </a:solidFill>
          <a:ln/>
        </p:spPr>
      </p:sp>
      <p:sp>
        <p:nvSpPr>
          <p:cNvPr id="19" name="text-153"/>
          <p:cNvSpPr txBox="1"/>
          <p:nvPr/>
        </p:nvSpPr>
        <p:spPr>
          <a:xfrm>
            <a:off x="7682919" y="1600200"/>
            <a:ext cx="1078992" cy="685800"/>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Distribution prep</a:t>
            </a:r>
            <a:endParaRPr lang="en-US" sz="1300" dirty="0"/>
          </a:p>
        </p:txBody>
      </p:sp>
      <p:sp>
        <p:nvSpPr>
          <p:cNvPr id="20" name="arrow-154"/>
          <p:cNvSpPr/>
          <p:nvPr/>
        </p:nvSpPr>
        <p:spPr>
          <a:xfrm>
            <a:off x="8825919" y="1943100"/>
            <a:ext cx="210704" cy="914"/>
          </a:xfrm>
          <a:prstGeom prst="line">
            <a:avLst/>
          </a:prstGeom>
          <a:noFill/>
          <a:ln w="19050">
            <a:solidFill>
              <a:schemeClr val="accent6"/>
            </a:solidFill>
            <a:prstDash val="solid"/>
            <a:tailEnd type="triangle"/>
          </a:ln>
        </p:spPr>
      </p:sp>
      <p:sp>
        <p:nvSpPr>
          <p:cNvPr id="21" name="card-155"/>
          <p:cNvSpPr/>
          <p:nvPr/>
        </p:nvSpPr>
        <p:spPr>
          <a:xfrm>
            <a:off x="9054911" y="1600200"/>
            <a:ext cx="1170432" cy="685800"/>
          </a:xfrm>
          <a:prstGeom prst="roundRect">
            <a:avLst>
              <a:gd name="adj" fmla="val 16000"/>
            </a:avLst>
          </a:prstGeom>
          <a:solidFill>
            <a:schemeClr val="accent1"/>
          </a:solidFill>
          <a:ln/>
        </p:spPr>
      </p:sp>
      <p:sp>
        <p:nvSpPr>
          <p:cNvPr id="22" name="text-156"/>
          <p:cNvSpPr txBox="1"/>
          <p:nvPr/>
        </p:nvSpPr>
        <p:spPr>
          <a:xfrm>
            <a:off x="9100631" y="1600200"/>
            <a:ext cx="1078992" cy="685800"/>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Promoting</a:t>
            </a:r>
            <a:endParaRPr lang="en-US" sz="1300" dirty="0"/>
          </a:p>
        </p:txBody>
      </p:sp>
      <p:sp>
        <p:nvSpPr>
          <p:cNvPr id="23" name="arrow-157"/>
          <p:cNvSpPr/>
          <p:nvPr/>
        </p:nvSpPr>
        <p:spPr>
          <a:xfrm>
            <a:off x="10243631" y="1943100"/>
            <a:ext cx="210704" cy="914"/>
          </a:xfrm>
          <a:prstGeom prst="line">
            <a:avLst/>
          </a:prstGeom>
          <a:noFill/>
          <a:ln w="19050">
            <a:solidFill>
              <a:schemeClr val="accent6"/>
            </a:solidFill>
            <a:prstDash val="solid"/>
            <a:tailEnd type="triangle"/>
          </a:ln>
        </p:spPr>
      </p:sp>
      <p:sp>
        <p:nvSpPr>
          <p:cNvPr id="24" name="card-158"/>
          <p:cNvSpPr/>
          <p:nvPr/>
        </p:nvSpPr>
        <p:spPr>
          <a:xfrm>
            <a:off x="10472623" y="1600200"/>
            <a:ext cx="1170432" cy="685800"/>
          </a:xfrm>
          <a:prstGeom prst="roundRect">
            <a:avLst>
              <a:gd name="adj" fmla="val 16000"/>
            </a:avLst>
          </a:prstGeom>
          <a:solidFill>
            <a:schemeClr val="accent3"/>
          </a:solidFill>
          <a:ln/>
        </p:spPr>
      </p:sp>
      <p:sp>
        <p:nvSpPr>
          <p:cNvPr id="25" name="text-159"/>
          <p:cNvSpPr txBox="1"/>
          <p:nvPr/>
        </p:nvSpPr>
        <p:spPr>
          <a:xfrm>
            <a:off x="10518343" y="1600200"/>
            <a:ext cx="1078992" cy="685800"/>
          </a:xfrm>
          <a:prstGeom prst="rect">
            <a:avLst/>
          </a:prstGeom>
          <a:noFill/>
          <a:ln/>
        </p:spPr>
        <p:txBody>
          <a:bodyPr wrap="square" lIns="0" tIns="0" rIns="0" bIns="0" rtlCol="0" anchor="ctr"/>
          <a:lstStyle/>
          <a:p>
            <a:pPr algn="ctr" indent="0" marL="0">
              <a:buNone/>
            </a:pPr>
            <a:r>
              <a:rPr lang="en-US" sz="1300" b="1" dirty="0">
                <a:solidFill>
                  <a:schemeClr val="bg1"/>
                </a:solidFill>
                <a:latin typeface="Arial" pitchFamily="34" charset="0"/>
                <a:ea typeface="Arial" pitchFamily="34" charset="-122"/>
                <a:cs typeface="Arial" pitchFamily="34" charset="-120"/>
              </a:rPr>
              <a:t>Completed</a:t>
            </a:r>
            <a:endParaRPr lang="en-US" sz="1300" dirty="0"/>
          </a:p>
        </p:txBody>
      </p:sp>
      <p:sp>
        <p:nvSpPr>
          <p:cNvPr id="26" name="arrow-160"/>
          <p:cNvSpPr/>
          <p:nvPr/>
        </p:nvSpPr>
        <p:spPr>
          <a:xfrm>
            <a:off x="2551568" y="2304288"/>
            <a:ext cx="914" cy="548640"/>
          </a:xfrm>
          <a:prstGeom prst="line">
            <a:avLst/>
          </a:prstGeom>
          <a:noFill/>
          <a:ln w="15875">
            <a:solidFill>
              <a:schemeClr val="accent5"/>
            </a:solidFill>
            <a:prstDash val="solid"/>
            <a:tailEnd type="triangle"/>
          </a:ln>
        </p:spPr>
      </p:sp>
      <p:sp>
        <p:nvSpPr>
          <p:cNvPr id="27" name="card-161"/>
          <p:cNvSpPr/>
          <p:nvPr/>
        </p:nvSpPr>
        <p:spPr>
          <a:xfrm>
            <a:off x="1874912" y="2880360"/>
            <a:ext cx="1353312" cy="868680"/>
          </a:xfrm>
          <a:prstGeom prst="roundRect">
            <a:avLst>
              <a:gd name="adj" fmla="val 12632"/>
            </a:avLst>
          </a:prstGeom>
          <a:solidFill>
            <a:schemeClr val="bg1"/>
          </a:solidFill>
          <a:ln w="15875">
            <a:solidFill>
              <a:schemeClr val="accent5"/>
            </a:solidFill>
            <a:prstDash val="solid"/>
          </a:ln>
        </p:spPr>
      </p:sp>
      <p:sp>
        <p:nvSpPr>
          <p:cNvPr id="28" name="text-162"/>
          <p:cNvSpPr txBox="1"/>
          <p:nvPr/>
        </p:nvSpPr>
        <p:spPr>
          <a:xfrm>
            <a:off x="1920632" y="2953512"/>
            <a:ext cx="1261872" cy="777240"/>
          </a:xfrm>
          <a:prstGeom prst="rect">
            <a:avLst/>
          </a:prstGeom>
          <a:noFill/>
          <a:ln/>
        </p:spPr>
        <p:txBody>
          <a:bodyPr wrap="square" lIns="0" tIns="0" rIns="0" bIns="0" rtlCol="0" anchor="t"/>
          <a:lstStyle/>
          <a:p>
            <a:pPr algn="ctr" indent="0" marL="0">
              <a:buNone/>
            </a:pPr>
            <a:r>
              <a:rPr lang="en-US" sz="1200" b="1" dirty="0">
                <a:solidFill>
                  <a:schemeClr val="accent5"/>
                </a:solidFill>
                <a:latin typeface="Arial" pitchFamily="34" charset="0"/>
                <a:ea typeface="Arial" pitchFamily="34" charset="-122"/>
                <a:cs typeface="Arial" pitchFamily="34" charset="-120"/>
              </a:rPr>
              <a:t>Changes requested</a:t>
            </a:r>
            <a:endParaRPr lang="en-US" sz="1200" dirty="0"/>
          </a:p>
          <a:p>
            <a:pPr algn="ctr" indent="0" marL="0">
              <a:buNone/>
            </a:pPr>
            <a:r>
              <a:rPr lang="en-US" sz="1100" dirty="0">
                <a:solidFill>
                  <a:schemeClr val="tx2"/>
                </a:solidFill>
                <a:latin typeface="Arial" pitchFamily="34" charset="0"/>
                <a:ea typeface="Arial" pitchFamily="34" charset="-122"/>
                <a:cs typeface="Arial" pitchFamily="34" charset="-120"/>
              </a:rPr>
              <a:t>back to Submitted</a:t>
            </a:r>
            <a:endParaRPr lang="en-US" sz="1200" dirty="0"/>
          </a:p>
        </p:txBody>
      </p:sp>
      <p:sp>
        <p:nvSpPr>
          <p:cNvPr id="29" name="arrow-163"/>
          <p:cNvSpPr/>
          <p:nvPr/>
        </p:nvSpPr>
        <p:spPr>
          <a:xfrm>
            <a:off x="3969280" y="2304288"/>
            <a:ext cx="914" cy="548640"/>
          </a:xfrm>
          <a:prstGeom prst="line">
            <a:avLst/>
          </a:prstGeom>
          <a:noFill/>
          <a:ln w="15875">
            <a:solidFill>
              <a:schemeClr val="accent5"/>
            </a:solidFill>
            <a:prstDash val="solid"/>
            <a:tailEnd type="triangle"/>
          </a:ln>
        </p:spPr>
      </p:sp>
      <p:sp>
        <p:nvSpPr>
          <p:cNvPr id="30" name="card-164"/>
          <p:cNvSpPr/>
          <p:nvPr/>
        </p:nvSpPr>
        <p:spPr>
          <a:xfrm>
            <a:off x="3292624" y="2880360"/>
            <a:ext cx="1353312" cy="868680"/>
          </a:xfrm>
          <a:prstGeom prst="roundRect">
            <a:avLst>
              <a:gd name="adj" fmla="val 12632"/>
            </a:avLst>
          </a:prstGeom>
          <a:solidFill>
            <a:schemeClr val="bg1"/>
          </a:solidFill>
          <a:ln w="15875">
            <a:solidFill>
              <a:schemeClr val="accent5"/>
            </a:solidFill>
            <a:prstDash val="solid"/>
          </a:ln>
        </p:spPr>
      </p:sp>
      <p:sp>
        <p:nvSpPr>
          <p:cNvPr id="31" name="text-165"/>
          <p:cNvSpPr txBox="1"/>
          <p:nvPr/>
        </p:nvSpPr>
        <p:spPr>
          <a:xfrm>
            <a:off x="3338344" y="2953512"/>
            <a:ext cx="1261872" cy="777240"/>
          </a:xfrm>
          <a:prstGeom prst="rect">
            <a:avLst/>
          </a:prstGeom>
          <a:noFill/>
          <a:ln/>
        </p:spPr>
        <p:txBody>
          <a:bodyPr wrap="square" lIns="0" tIns="0" rIns="0" bIns="0" rtlCol="0" anchor="t"/>
          <a:lstStyle/>
          <a:p>
            <a:pPr algn="ctr" indent="0" marL="0">
              <a:buNone/>
            </a:pPr>
            <a:r>
              <a:rPr lang="en-US" sz="1200" b="1" dirty="0">
                <a:solidFill>
                  <a:schemeClr val="accent5"/>
                </a:solidFill>
                <a:latin typeface="Arial" pitchFamily="34" charset="0"/>
                <a:ea typeface="Arial" pitchFamily="34" charset="-122"/>
                <a:cs typeface="Arial" pitchFamily="34" charset="-120"/>
              </a:rPr>
              <a:t>Rejected</a:t>
            </a:r>
            <a:endParaRPr lang="en-US" sz="1200" dirty="0"/>
          </a:p>
          <a:p>
            <a:pPr algn="ctr" indent="0" marL="0">
              <a:buNone/>
            </a:pPr>
            <a:r>
              <a:rPr lang="en-US" sz="1100" dirty="0">
                <a:solidFill>
                  <a:schemeClr val="tx2"/>
                </a:solidFill>
                <a:latin typeface="Arial" pitchFamily="34" charset="0"/>
                <a:ea typeface="Arial" pitchFamily="34" charset="-122"/>
                <a:cs typeface="Arial" pitchFamily="34" charset="-120"/>
              </a:rPr>
              <a:t>from Submitted</a:t>
            </a:r>
            <a:endParaRPr lang="en-US" sz="1200" dirty="0"/>
          </a:p>
        </p:txBody>
      </p:sp>
      <p:sp>
        <p:nvSpPr>
          <p:cNvPr id="32" name="arrow-166"/>
          <p:cNvSpPr/>
          <p:nvPr/>
        </p:nvSpPr>
        <p:spPr>
          <a:xfrm>
            <a:off x="6804704" y="2304288"/>
            <a:ext cx="914" cy="548640"/>
          </a:xfrm>
          <a:prstGeom prst="line">
            <a:avLst/>
          </a:prstGeom>
          <a:noFill/>
          <a:ln w="15875">
            <a:solidFill>
              <a:schemeClr val="accent5"/>
            </a:solidFill>
            <a:prstDash val="solid"/>
            <a:tailEnd type="triangle"/>
          </a:ln>
        </p:spPr>
      </p:sp>
      <p:sp>
        <p:nvSpPr>
          <p:cNvPr id="33" name="card-167"/>
          <p:cNvSpPr/>
          <p:nvPr/>
        </p:nvSpPr>
        <p:spPr>
          <a:xfrm>
            <a:off x="6128048" y="2880360"/>
            <a:ext cx="1353312" cy="868680"/>
          </a:xfrm>
          <a:prstGeom prst="roundRect">
            <a:avLst>
              <a:gd name="adj" fmla="val 12632"/>
            </a:avLst>
          </a:prstGeom>
          <a:solidFill>
            <a:schemeClr val="bg1"/>
          </a:solidFill>
          <a:ln w="15875">
            <a:solidFill>
              <a:schemeClr val="accent5"/>
            </a:solidFill>
            <a:prstDash val="solid"/>
          </a:ln>
        </p:spPr>
      </p:sp>
      <p:sp>
        <p:nvSpPr>
          <p:cNvPr id="34" name="text-168"/>
          <p:cNvSpPr txBox="1"/>
          <p:nvPr/>
        </p:nvSpPr>
        <p:spPr>
          <a:xfrm>
            <a:off x="6173768" y="2953512"/>
            <a:ext cx="1261872" cy="777240"/>
          </a:xfrm>
          <a:prstGeom prst="rect">
            <a:avLst/>
          </a:prstGeom>
          <a:noFill/>
          <a:ln/>
        </p:spPr>
        <p:txBody>
          <a:bodyPr wrap="square" lIns="0" tIns="0" rIns="0" bIns="0" rtlCol="0" anchor="t"/>
          <a:lstStyle/>
          <a:p>
            <a:pPr algn="ctr" indent="0" marL="0">
              <a:buNone/>
            </a:pPr>
            <a:r>
              <a:rPr lang="en-US" sz="1200" b="1" dirty="0">
                <a:solidFill>
                  <a:schemeClr val="accent5"/>
                </a:solidFill>
                <a:latin typeface="Arial" pitchFamily="34" charset="0"/>
                <a:ea typeface="Arial" pitchFamily="34" charset="-122"/>
                <a:cs typeface="Arial" pitchFamily="34" charset="-120"/>
              </a:rPr>
              <a:t>Funding ended</a:t>
            </a:r>
            <a:endParaRPr lang="en-US" sz="1200" dirty="0"/>
          </a:p>
          <a:p>
            <a:pPr algn="ctr" indent="0" marL="0">
              <a:buNone/>
            </a:pPr>
            <a:r>
              <a:rPr lang="en-US" sz="1100" dirty="0">
                <a:solidFill>
                  <a:schemeClr val="tx2"/>
                </a:solidFill>
                <a:latin typeface="Arial" pitchFamily="34" charset="0"/>
                <a:ea typeface="Arial" pitchFamily="34" charset="-122"/>
                <a:cs typeface="Arial" pitchFamily="34" charset="-120"/>
              </a:rPr>
              <a:t>alternative to goal</a:t>
            </a:r>
            <a:endParaRPr lang="en-US" sz="1200" dirty="0"/>
          </a:p>
        </p:txBody>
      </p:sp>
      <p:sp>
        <p:nvSpPr>
          <p:cNvPr id="35" name="arrow-169"/>
          <p:cNvSpPr/>
          <p:nvPr/>
        </p:nvSpPr>
        <p:spPr>
          <a:xfrm>
            <a:off x="8222415" y="2304288"/>
            <a:ext cx="914" cy="548640"/>
          </a:xfrm>
          <a:prstGeom prst="line">
            <a:avLst/>
          </a:prstGeom>
          <a:noFill/>
          <a:ln w="15875">
            <a:solidFill>
              <a:schemeClr val="accent5"/>
            </a:solidFill>
            <a:prstDash val="solid"/>
            <a:tailEnd type="triangle"/>
          </a:ln>
        </p:spPr>
      </p:sp>
      <p:sp>
        <p:nvSpPr>
          <p:cNvPr id="36" name="card-170"/>
          <p:cNvSpPr/>
          <p:nvPr/>
        </p:nvSpPr>
        <p:spPr>
          <a:xfrm>
            <a:off x="7545759" y="2880360"/>
            <a:ext cx="1353312" cy="868680"/>
          </a:xfrm>
          <a:prstGeom prst="roundRect">
            <a:avLst>
              <a:gd name="adj" fmla="val 12632"/>
            </a:avLst>
          </a:prstGeom>
          <a:solidFill>
            <a:schemeClr val="bg1"/>
          </a:solidFill>
          <a:ln w="15875">
            <a:solidFill>
              <a:schemeClr val="accent5"/>
            </a:solidFill>
            <a:prstDash val="solid"/>
          </a:ln>
        </p:spPr>
      </p:sp>
      <p:sp>
        <p:nvSpPr>
          <p:cNvPr id="37" name="text-171"/>
          <p:cNvSpPr txBox="1"/>
          <p:nvPr/>
        </p:nvSpPr>
        <p:spPr>
          <a:xfrm>
            <a:off x="7591479" y="2953512"/>
            <a:ext cx="1261872" cy="777240"/>
          </a:xfrm>
          <a:prstGeom prst="rect">
            <a:avLst/>
          </a:prstGeom>
          <a:noFill/>
          <a:ln/>
        </p:spPr>
        <p:txBody>
          <a:bodyPr wrap="square" lIns="0" tIns="0" rIns="0" bIns="0" rtlCol="0" anchor="t"/>
          <a:lstStyle/>
          <a:p>
            <a:pPr algn="ctr" indent="0" marL="0">
              <a:buNone/>
            </a:pPr>
            <a:r>
              <a:rPr lang="en-US" sz="1200" b="1" dirty="0">
                <a:solidFill>
                  <a:schemeClr val="accent5"/>
                </a:solidFill>
                <a:latin typeface="Arial" pitchFamily="34" charset="0"/>
                <a:ea typeface="Arial" pitchFamily="34" charset="-122"/>
                <a:cs typeface="Arial" pitchFamily="34" charset="-120"/>
              </a:rPr>
              <a:t>Refund pending</a:t>
            </a:r>
            <a:endParaRPr lang="en-US" sz="1200" dirty="0"/>
          </a:p>
          <a:p>
            <a:pPr algn="ctr" indent="0" marL="0">
              <a:buNone/>
            </a:pPr>
            <a:r>
              <a:rPr lang="en-US" sz="1100" dirty="0">
                <a:solidFill>
                  <a:schemeClr val="tx2"/>
                </a:solidFill>
                <a:latin typeface="Arial" pitchFamily="34" charset="0"/>
                <a:ea typeface="Arial" pitchFamily="34" charset="-122"/>
                <a:cs typeface="Arial" pitchFamily="34" charset="-120"/>
              </a:rPr>
              <a:t>under the $250 minimum</a:t>
            </a:r>
            <a:endParaRPr lang="en-US" sz="1200" dirty="0"/>
          </a:p>
        </p:txBody>
      </p:sp>
      <p:sp>
        <p:nvSpPr>
          <p:cNvPr id="38" name="arrow-172"/>
          <p:cNvSpPr/>
          <p:nvPr/>
        </p:nvSpPr>
        <p:spPr>
          <a:xfrm>
            <a:off x="9640127" y="2304288"/>
            <a:ext cx="914" cy="548640"/>
          </a:xfrm>
          <a:prstGeom prst="line">
            <a:avLst/>
          </a:prstGeom>
          <a:noFill/>
          <a:ln w="15875">
            <a:solidFill>
              <a:schemeClr val="accent5"/>
            </a:solidFill>
            <a:prstDash val="solid"/>
            <a:tailEnd type="triangle"/>
          </a:ln>
        </p:spPr>
      </p:sp>
      <p:sp>
        <p:nvSpPr>
          <p:cNvPr id="39" name="card-173"/>
          <p:cNvSpPr/>
          <p:nvPr/>
        </p:nvSpPr>
        <p:spPr>
          <a:xfrm>
            <a:off x="8963471" y="2880360"/>
            <a:ext cx="1353312" cy="868680"/>
          </a:xfrm>
          <a:prstGeom prst="roundRect">
            <a:avLst>
              <a:gd name="adj" fmla="val 12632"/>
            </a:avLst>
          </a:prstGeom>
          <a:solidFill>
            <a:schemeClr val="bg1"/>
          </a:solidFill>
          <a:ln w="15875">
            <a:solidFill>
              <a:schemeClr val="accent5"/>
            </a:solidFill>
            <a:prstDash val="solid"/>
          </a:ln>
        </p:spPr>
      </p:sp>
      <p:sp>
        <p:nvSpPr>
          <p:cNvPr id="40" name="text-174"/>
          <p:cNvSpPr txBox="1"/>
          <p:nvPr/>
        </p:nvSpPr>
        <p:spPr>
          <a:xfrm>
            <a:off x="9009191" y="2953512"/>
            <a:ext cx="1261872" cy="777240"/>
          </a:xfrm>
          <a:prstGeom prst="rect">
            <a:avLst/>
          </a:prstGeom>
          <a:noFill/>
          <a:ln/>
        </p:spPr>
        <p:txBody>
          <a:bodyPr wrap="square" lIns="0" tIns="0" rIns="0" bIns="0" rtlCol="0" anchor="t"/>
          <a:lstStyle/>
          <a:p>
            <a:pPr algn="ctr" indent="0" marL="0">
              <a:buNone/>
            </a:pPr>
            <a:r>
              <a:rPr lang="en-US" sz="1200" b="1" dirty="0">
                <a:solidFill>
                  <a:schemeClr val="accent5"/>
                </a:solidFill>
                <a:latin typeface="Arial" pitchFamily="34" charset="0"/>
                <a:ea typeface="Arial" pitchFamily="34" charset="-122"/>
                <a:cs typeface="Arial" pitchFamily="34" charset="-120"/>
              </a:rPr>
              <a:t>Failed</a:t>
            </a:r>
            <a:endParaRPr lang="en-US" sz="1200" dirty="0"/>
          </a:p>
          <a:p>
            <a:pPr algn="ctr" indent="0" marL="0">
              <a:buNone/>
            </a:pPr>
            <a:r>
              <a:rPr lang="en-US" sz="1100" dirty="0">
                <a:solidFill>
                  <a:schemeClr val="tx2"/>
                </a:solidFill>
                <a:latin typeface="Arial" pitchFamily="34" charset="0"/>
                <a:ea typeface="Arial" pitchFamily="34" charset="-122"/>
                <a:cs typeface="Arial" pitchFamily="34" charset="-120"/>
              </a:rPr>
              <a:t>delivery failed</a:t>
            </a:r>
            <a:endParaRPr lang="en-US" sz="1200" dirty="0"/>
          </a:p>
        </p:txBody>
      </p:sp>
      <p:sp>
        <p:nvSpPr>
          <p:cNvPr id="41" name="text-175"/>
          <p:cNvSpPr txBox="1"/>
          <p:nvPr/>
        </p:nvSpPr>
        <p:spPr>
          <a:xfrm>
            <a:off x="548640" y="3931920"/>
            <a:ext cx="11094415" cy="365760"/>
          </a:xfrm>
          <a:prstGeom prst="rect">
            <a:avLst/>
          </a:prstGeom>
          <a:noFill/>
          <a:ln/>
        </p:spPr>
        <p:txBody>
          <a:bodyPr wrap="square" lIns="0" tIns="0" rIns="0" bIns="0" rtlCol="0" anchor="t"/>
          <a:lstStyle/>
          <a:p>
            <a:pPr indent="0" marL="0">
              <a:buNone/>
            </a:pPr>
            <a:r>
              <a:rPr lang="en-US" sz="1200" i="1" dirty="0">
                <a:solidFill>
                  <a:schemeClr val="tx2"/>
                </a:solidFill>
                <a:latin typeface="Arial" pitchFamily="34" charset="0"/>
                <a:ea typeface="Arial" pitchFamily="34" charset="-122"/>
                <a:cs typeface="Arial" pitchFamily="34" charset="-120"/>
              </a:rPr>
              <a:t>+ Canceled from any pre-launch state. Transitions are a typed table; canTransition() guards every move.</a:t>
            </a:r>
            <a:endParaRPr lang="en-US" sz="1200" dirty="0"/>
          </a:p>
        </p:txBody>
      </p:sp>
      <p:sp>
        <p:nvSpPr>
          <p:cNvPr id="42" name="card-176"/>
          <p:cNvSpPr/>
          <p:nvPr/>
        </p:nvSpPr>
        <p:spPr>
          <a:xfrm>
            <a:off x="548640" y="4434840"/>
            <a:ext cx="3515258" cy="1691640"/>
          </a:xfrm>
          <a:prstGeom prst="roundRect">
            <a:avLst>
              <a:gd name="adj" fmla="val 6486"/>
            </a:avLst>
          </a:prstGeom>
          <a:solidFill>
            <a:schemeClr val="bg2"/>
          </a:solidFill>
          <a:ln/>
        </p:spPr>
      </p:sp>
      <p:sp>
        <p:nvSpPr>
          <p:cNvPr id="43" name="text-177"/>
          <p:cNvSpPr txBox="1"/>
          <p:nvPr/>
        </p:nvSpPr>
        <p:spPr>
          <a:xfrm>
            <a:off x="822960" y="4572000"/>
            <a:ext cx="2966618"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Timed review</a:t>
            </a:r>
            <a:endParaRPr lang="en-US" sz="1600" dirty="0"/>
          </a:p>
        </p:txBody>
      </p:sp>
      <p:sp>
        <p:nvSpPr>
          <p:cNvPr id="44" name="text-178"/>
          <p:cNvSpPr txBox="1"/>
          <p:nvPr/>
        </p:nvSpPr>
        <p:spPr>
          <a:xfrm>
            <a:off x="822960" y="4956048"/>
            <a:ext cx="2966618" cy="1143000"/>
          </a:xfrm>
          <a:prstGeom prst="rect">
            <a:avLst/>
          </a:prstGeom>
          <a:noFill/>
          <a:ln/>
        </p:spPr>
        <p:txBody>
          <a:bodyPr wrap="square" lIns="0" tIns="0" rIns="0" bIns="0" rtlCol="0" anchor="t"/>
          <a:lstStyle/>
          <a:p>
            <a:pPr indent="0" marL="0">
              <a:buNone/>
            </a:pPr>
            <a:r>
              <a:rPr lang="en-US" sz="1300" dirty="0">
                <a:solidFill>
                  <a:schemeClr val="tx2"/>
                </a:solidFill>
                <a:latin typeface="Arial" pitchFamily="34" charset="0"/>
                <a:ea typeface="Arial" pitchFamily="34" charset="-122"/>
                <a:cs typeface="Arial" pitchFamily="34" charset="-120"/>
              </a:rPr>
              <a:t>Review decides 20 s after submission; backing opens 40 s after. Timers are evaluated lazily on every read, so they catch up after the app was closed.</a:t>
            </a:r>
            <a:endParaRPr lang="en-US" sz="1300" dirty="0"/>
          </a:p>
        </p:txBody>
      </p:sp>
      <p:sp>
        <p:nvSpPr>
          <p:cNvPr id="45" name="card-179"/>
          <p:cNvSpPr/>
          <p:nvPr/>
        </p:nvSpPr>
        <p:spPr>
          <a:xfrm>
            <a:off x="4338218" y="4434840"/>
            <a:ext cx="3515258" cy="1691640"/>
          </a:xfrm>
          <a:prstGeom prst="roundRect">
            <a:avLst>
              <a:gd name="adj" fmla="val 6486"/>
            </a:avLst>
          </a:prstGeom>
          <a:solidFill>
            <a:schemeClr val="bg2"/>
          </a:solidFill>
          <a:ln/>
        </p:spPr>
      </p:sp>
      <p:sp>
        <p:nvSpPr>
          <p:cNvPr id="46" name="text-180"/>
          <p:cNvSpPr txBox="1"/>
          <p:nvPr/>
        </p:nvSpPr>
        <p:spPr>
          <a:xfrm>
            <a:off x="4612538" y="4572000"/>
            <a:ext cx="2966618"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Stepped later stages</a:t>
            </a:r>
            <a:endParaRPr lang="en-US" sz="1600" dirty="0"/>
          </a:p>
        </p:txBody>
      </p:sp>
      <p:sp>
        <p:nvSpPr>
          <p:cNvPr id="47" name="text-181"/>
          <p:cNvSpPr txBox="1"/>
          <p:nvPr/>
        </p:nvSpPr>
        <p:spPr>
          <a:xfrm>
            <a:off x="4612538" y="4956048"/>
            <a:ext cx="2966618" cy="1143000"/>
          </a:xfrm>
          <a:prstGeom prst="rect">
            <a:avLst/>
          </a:prstGeom>
          <a:noFill/>
          <a:ln/>
        </p:spPr>
        <p:txBody>
          <a:bodyPr wrap="square" lIns="0" tIns="0" rIns="0" bIns="0" rtlCol="0" anchor="t"/>
          <a:lstStyle/>
          <a:p>
            <a:pPr indent="0" marL="0">
              <a:buNone/>
            </a:pPr>
            <a:r>
              <a:rPr lang="en-US" sz="1300" dirty="0">
                <a:solidFill>
                  <a:schemeClr val="tx2"/>
                </a:solidFill>
                <a:latin typeface="Arial" pitchFamily="34" charset="0"/>
                <a:ea typeface="Arial" pitchFamily="34" charset="-122"/>
                <a:cs typeface="Arial" pitchFamily="34" charset="-120"/>
              </a:rPr>
              <a:t>Funding close, ad setup, ads live and completion are advanced on demand from Manage or developer controls, so a demo never waits.</a:t>
            </a:r>
            <a:endParaRPr lang="en-US" sz="1300" dirty="0"/>
          </a:p>
        </p:txBody>
      </p:sp>
      <p:sp>
        <p:nvSpPr>
          <p:cNvPr id="48" name="card-182"/>
          <p:cNvSpPr/>
          <p:nvPr/>
        </p:nvSpPr>
        <p:spPr>
          <a:xfrm>
            <a:off x="8127797" y="4434840"/>
            <a:ext cx="3515258" cy="1691640"/>
          </a:xfrm>
          <a:prstGeom prst="roundRect">
            <a:avLst>
              <a:gd name="adj" fmla="val 6486"/>
            </a:avLst>
          </a:prstGeom>
          <a:solidFill>
            <a:schemeClr val="bg2"/>
          </a:solidFill>
          <a:ln/>
        </p:spPr>
      </p:sp>
      <p:sp>
        <p:nvSpPr>
          <p:cNvPr id="49" name="text-183"/>
          <p:cNvSpPr txBox="1"/>
          <p:nvPr/>
        </p:nvSpPr>
        <p:spPr>
          <a:xfrm>
            <a:off x="8402117" y="4572000"/>
            <a:ext cx="2966618"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Stakeholder fan-out</a:t>
            </a:r>
            <a:endParaRPr lang="en-US" sz="1600" dirty="0"/>
          </a:p>
        </p:txBody>
      </p:sp>
      <p:sp>
        <p:nvSpPr>
          <p:cNvPr id="50" name="text-184"/>
          <p:cNvSpPr txBox="1"/>
          <p:nvPr/>
        </p:nvSpPr>
        <p:spPr>
          <a:xfrm>
            <a:off x="8402117" y="4956048"/>
            <a:ext cx="2966618" cy="1143000"/>
          </a:xfrm>
          <a:prstGeom prst="rect">
            <a:avLst/>
          </a:prstGeom>
          <a:noFill/>
          <a:ln/>
        </p:spPr>
        <p:txBody>
          <a:bodyPr wrap="square" lIns="0" tIns="0" rIns="0" bIns="0" rtlCol="0" anchor="t"/>
          <a:lstStyle/>
          <a:p>
            <a:pPr indent="0" marL="0">
              <a:buNone/>
            </a:pPr>
            <a:r>
              <a:rPr lang="en-US" sz="1300" dirty="0">
                <a:solidFill>
                  <a:schemeClr val="tx2"/>
                </a:solidFill>
                <a:latin typeface="Arial" pitchFamily="34" charset="0"/>
                <a:ea typeface="Arial" pitchFamily="34" charset="-122"/>
                <a:cs typeface="Arial" pitchFamily="34" charset="-120"/>
              </a:rPr>
              <a:t>Every transition notifies the owner, backers and followers once each (de-duplicated), grouped as mine, backed or following.</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dirty="0">
                <a:solidFill>
                  <a:schemeClr val="tx1"/>
                </a:solidFill>
                <a:latin typeface="Georgia" pitchFamily="34" charset="0"/>
                <a:ea typeface="Georgia" pitchFamily="34" charset="-122"/>
                <a:cs typeface="Georgia" pitchFamily="34" charset="-120"/>
              </a:rPr>
              <a:t>Server state, client state and forms are separate</a:t>
            </a:r>
            <a:endParaRPr lang="en-US" sz="3200" dirty="0"/>
          </a:p>
        </p:txBody>
      </p:sp>
      <p:sp>
        <p:nvSpPr>
          <p:cNvPr id="3" name="card-185"/>
          <p:cNvSpPr/>
          <p:nvPr/>
        </p:nvSpPr>
        <p:spPr>
          <a:xfrm>
            <a:off x="548640" y="1371600"/>
            <a:ext cx="3515258" cy="4343400"/>
          </a:xfrm>
          <a:prstGeom prst="roundRect">
            <a:avLst>
              <a:gd name="adj" fmla="val 3121"/>
            </a:avLst>
          </a:prstGeom>
          <a:solidFill>
            <a:schemeClr val="bg2"/>
          </a:solidFill>
          <a:ln/>
        </p:spPr>
      </p:sp>
      <p:sp>
        <p:nvSpPr>
          <p:cNvPr id="4" name="icon-bg-186"/>
          <p:cNvSpPr/>
          <p:nvPr/>
        </p:nvSpPr>
        <p:spPr>
          <a:xfrm>
            <a:off x="822960" y="1600200"/>
            <a:ext cx="457200" cy="457200"/>
          </a:xfrm>
          <a:prstGeom prst="ellipse">
            <a:avLst/>
          </a:prstGeom>
          <a:solidFill>
            <a:schemeClr val="accent1"/>
          </a:solidFill>
          <a:ln/>
        </p:spPr>
      </p:sp>
      <p:pic>
        <p:nvPicPr>
          <p:cNvPr id="5" name="icon-187" descr="preencoded.png">    </p:cNvPr>
          <p:cNvPicPr>
            <a:picLocks noChangeAspect="1"/>
          </p:cNvPicPr>
          <p:nvPr/>
        </p:nvPicPr>
        <p:blipFill>
          <a:blip r:embed="rId1"/>
          <a:stretch>
            <a:fillRect/>
          </a:stretch>
        </p:blipFill>
        <p:spPr>
          <a:xfrm>
            <a:off x="923544" y="1700784"/>
            <a:ext cx="256032" cy="256032"/>
          </a:xfrm>
          <a:prstGeom prst="rect">
            <a:avLst/>
          </a:prstGeom>
        </p:spPr>
      </p:pic>
      <p:sp>
        <p:nvSpPr>
          <p:cNvPr id="6" name="text-188"/>
          <p:cNvSpPr txBox="1"/>
          <p:nvPr/>
        </p:nvSpPr>
        <p:spPr>
          <a:xfrm>
            <a:off x="822960" y="2194560"/>
            <a:ext cx="2966618" cy="41148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Server state: TanStack Query</a:t>
            </a:r>
            <a:endParaRPr lang="en-US" sz="1600" dirty="0"/>
          </a:p>
        </p:txBody>
      </p:sp>
      <p:sp>
        <p:nvSpPr>
          <p:cNvPr id="7" name="text-189"/>
          <p:cNvSpPr txBox="1"/>
          <p:nvPr/>
        </p:nvSpPr>
        <p:spPr>
          <a:xfrm>
            <a:off x="822960" y="2697480"/>
            <a:ext cx="3058058" cy="3291840"/>
          </a:xfrm>
          <a:prstGeom prst="rect">
            <a:avLst/>
          </a:prstGeom>
          <a:noFill/>
          <a:ln/>
        </p:spPr>
        <p:txBody>
          <a:bodyPr wrap="square" lIns="0" tIns="0" rIns="0" bIns="0" rtlCol="0" anchor="t"/>
          <a:lstStyle/>
          <a:p>
            <a:pPr marL="177800" indent="-177800">
              <a:spcAft>
                <a:spcPts val="600"/>
              </a:spcAft>
              <a:buSzPct val="100000"/>
              <a:buChar char="•"/>
            </a:pPr>
            <a:r>
              <a:rPr lang="en-US" sz="1400" b="1" dirty="0">
                <a:solidFill>
                  <a:schemeClr val="tx2"/>
                </a:solidFill>
                <a:latin typeface="Arial" pitchFamily="34" charset="0"/>
                <a:ea typeface="Arial" pitchFamily="34" charset="-122"/>
                <a:cs typeface="Arial" pitchFamily="34" charset="-120"/>
              </a:rPr>
              <a:t>staleTime 30 s, gcTime 10 min,</a:t>
            </a:r>
            <a:pPr indent="0" marL="0">
              <a:buNone/>
            </a:pPr>
            <a:r>
              <a:rPr lang="en-US" sz="1400" dirty="0">
                <a:solidFill>
                  <a:schemeClr val="tx2"/>
                </a:solidFill>
                <a:latin typeface="Arial" pitchFamily="34" charset="0"/>
                <a:ea typeface="Arial" pitchFamily="34" charset="-122"/>
                <a:cs typeface="Arial" pitchFamily="34" charset="-120"/>
              </a:rPr>
              <a:t> no refetch on focus</a:t>
            </a:r>
            <a:endParaRPr lang="en-US" sz="1400" dirty="0"/>
          </a:p>
          <a:p>
            <a:pPr marL="177800" indent="-177800">
              <a:spcAft>
                <a:spcPts val="600"/>
              </a:spcAft>
              <a:buSzPct val="100000"/>
              <a:buChar char="•"/>
            </a:pPr>
            <a:r>
              <a:rPr lang="en-US" sz="1400" b="1" dirty="0">
                <a:solidFill>
                  <a:schemeClr val="tx2"/>
                </a:solidFill>
                <a:latin typeface="Arial" pitchFamily="34" charset="0"/>
                <a:ea typeface="Arial" pitchFamily="34" charset="-122"/>
                <a:cs typeface="Arial" pitchFamily="34" charset="-120"/>
              </a:rPr>
              <a:t>One silent retry,</a:t>
            </a:r>
            <a:pPr indent="0" marL="0">
              <a:buNone/>
            </a:pPr>
            <a:r>
              <a:rPr lang="en-US" sz="1400" dirty="0">
                <a:solidFill>
                  <a:schemeClr val="tx2"/>
                </a:solidFill>
                <a:latin typeface="Arial" pitchFamily="34" charset="0"/>
                <a:ea typeface="Arial" pitchFamily="34" charset="-122"/>
                <a:cs typeface="Arial" pitchFamily="34" charset="-120"/>
              </a:rPr>
              <a:t> only for retryable error codes; mutations never retry</a:t>
            </a:r>
            <a:endParaRPr lang="en-US" sz="1400" dirty="0"/>
          </a:p>
          <a:p>
            <a:pPr marL="177800" indent="-177800">
              <a:spcAft>
                <a:spcPts val="600"/>
              </a:spcAft>
              <a:buSzPct val="100000"/>
              <a:buChar char="•"/>
            </a:pPr>
            <a:r>
              <a:rPr lang="en-US" sz="1400" b="1" dirty="0">
                <a:solidFill>
                  <a:schemeClr val="tx2"/>
                </a:solidFill>
                <a:latin typeface="Arial" pitchFamily="34" charset="0"/>
                <a:ea typeface="Arial" pitchFamily="34" charset="-122"/>
                <a:cs typeface="Arial" pitchFamily="34" charset="-120"/>
              </a:rPr>
              <a:t>Adaptive polling:</a:t>
            </a:r>
            <a:pPr indent="0" marL="0">
              <a:buNone/>
            </a:pPr>
            <a:r>
              <a:rPr lang="en-US" sz="1400" dirty="0">
                <a:solidFill>
                  <a:schemeClr val="tx2"/>
                </a:solidFill>
                <a:latin typeface="Arial" pitchFamily="34" charset="0"/>
                <a:ea typeface="Arial" pitchFamily="34" charset="-122"/>
                <a:cs typeface="Arial" pitchFamily="34" charset="-120"/>
              </a:rPr>
              <a:t> pending payment 2 s, moving campaigns 3–4 s, Activity 15 s, live reports 30 s</a:t>
            </a:r>
            <a:endParaRPr lang="en-US" sz="1400" dirty="0"/>
          </a:p>
          <a:p>
            <a:pPr marL="177800" indent="-177800">
              <a:spcAft>
                <a:spcPts val="600"/>
              </a:spcAft>
              <a:buSzPct val="100000"/>
              <a:buChar char="•"/>
            </a:pPr>
            <a:r>
              <a:rPr lang="en-US" sz="1400" b="1" dirty="0">
                <a:solidFill>
                  <a:schemeClr val="tx2"/>
                </a:solidFill>
                <a:latin typeface="Arial" pitchFamily="34" charset="0"/>
                <a:ea typeface="Arial" pitchFamily="34" charset="-122"/>
                <a:cs typeface="Arial" pitchFamily="34" charset="-120"/>
              </a:rPr>
              <a:t>Drafts:</a:t>
            </a:r>
            <a:pPr indent="0" marL="0">
              <a:buNone/>
            </a:pPr>
            <a:r>
              <a:rPr lang="en-US" sz="1400" dirty="0">
                <a:solidFill>
                  <a:schemeClr val="tx2"/>
                </a:solidFill>
                <a:latin typeface="Arial" pitchFamily="34" charset="0"/>
                <a:ea typeface="Arial" pitchFamily="34" charset="-122"/>
                <a:cs typeface="Arial" pitchFamily="34" charset="-120"/>
              </a:rPr>
              <a:t> staleTime Infinity; the editor owns them</a:t>
            </a:r>
            <a:endParaRPr lang="en-US" sz="1400" dirty="0"/>
          </a:p>
        </p:txBody>
      </p:sp>
      <p:sp>
        <p:nvSpPr>
          <p:cNvPr id="8" name="card-190"/>
          <p:cNvSpPr/>
          <p:nvPr/>
        </p:nvSpPr>
        <p:spPr>
          <a:xfrm>
            <a:off x="4338218" y="1371600"/>
            <a:ext cx="3515258" cy="4343400"/>
          </a:xfrm>
          <a:prstGeom prst="roundRect">
            <a:avLst>
              <a:gd name="adj" fmla="val 3121"/>
            </a:avLst>
          </a:prstGeom>
          <a:solidFill>
            <a:schemeClr val="bg2"/>
          </a:solidFill>
          <a:ln/>
        </p:spPr>
      </p:sp>
      <p:sp>
        <p:nvSpPr>
          <p:cNvPr id="9" name="icon-bg-191"/>
          <p:cNvSpPr/>
          <p:nvPr/>
        </p:nvSpPr>
        <p:spPr>
          <a:xfrm>
            <a:off x="4612538" y="1600200"/>
            <a:ext cx="457200" cy="457200"/>
          </a:xfrm>
          <a:prstGeom prst="ellipse">
            <a:avLst/>
          </a:prstGeom>
          <a:solidFill>
            <a:schemeClr val="accent1"/>
          </a:solidFill>
          <a:ln/>
        </p:spPr>
      </p:sp>
      <p:pic>
        <p:nvPicPr>
          <p:cNvPr id="10" name="icon-192" descr="preencoded.png">    </p:cNvPr>
          <p:cNvPicPr>
            <a:picLocks noChangeAspect="1"/>
          </p:cNvPicPr>
          <p:nvPr/>
        </p:nvPicPr>
        <p:blipFill>
          <a:blip r:embed="rId2"/>
          <a:stretch>
            <a:fillRect/>
          </a:stretch>
        </p:blipFill>
        <p:spPr>
          <a:xfrm>
            <a:off x="4713122" y="1700784"/>
            <a:ext cx="256032" cy="256032"/>
          </a:xfrm>
          <a:prstGeom prst="rect">
            <a:avLst/>
          </a:prstGeom>
        </p:spPr>
      </p:pic>
      <p:sp>
        <p:nvSpPr>
          <p:cNvPr id="11" name="text-193"/>
          <p:cNvSpPr txBox="1"/>
          <p:nvPr/>
        </p:nvSpPr>
        <p:spPr>
          <a:xfrm>
            <a:off x="4612538" y="2194560"/>
            <a:ext cx="2966618" cy="41148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Client state: Zustand</a:t>
            </a:r>
            <a:endParaRPr lang="en-US" sz="1600" dirty="0"/>
          </a:p>
        </p:txBody>
      </p:sp>
      <p:sp>
        <p:nvSpPr>
          <p:cNvPr id="12" name="text-194"/>
          <p:cNvSpPr txBox="1"/>
          <p:nvPr/>
        </p:nvSpPr>
        <p:spPr>
          <a:xfrm>
            <a:off x="4612538" y="2697480"/>
            <a:ext cx="3058058" cy="3291840"/>
          </a:xfrm>
          <a:prstGeom prst="rect">
            <a:avLst/>
          </a:prstGeom>
          <a:noFill/>
          <a:ln/>
        </p:spPr>
        <p:txBody>
          <a:bodyPr wrap="square" lIns="0" tIns="0" rIns="0" bIns="0" rtlCol="0" anchor="t"/>
          <a:lstStyle/>
          <a:p>
            <a:pPr marL="177800" indent="-177800">
              <a:spcAft>
                <a:spcPts val="600"/>
              </a:spcAft>
              <a:buSzPct val="100000"/>
              <a:buChar char="•"/>
            </a:pPr>
            <a:r>
              <a:rPr lang="en-US" sz="1400" b="1" dirty="0">
                <a:solidFill>
                  <a:schemeClr val="tx2"/>
                </a:solidFill>
                <a:latin typeface="Arial" pitchFamily="34" charset="0"/>
                <a:ea typeface="Arial" pitchFamily="34" charset="-122"/>
                <a:cs typeface="Arial" pitchFamily="34" charset="-120"/>
              </a:rPr>
              <a:t>preferences</a:t>
            </a:r>
            <a:pPr indent="0" marL="0">
              <a:buNone/>
            </a:pPr>
            <a:r>
              <a:rPr lang="en-US" sz="1400" dirty="0">
                <a:solidFill>
                  <a:schemeClr val="tx2"/>
                </a:solidFill>
                <a:latin typeface="Arial" pitchFamily="34" charset="0"/>
                <a:ea typeface="Arial" pitchFamily="34" charset="-122"/>
                <a:cs typeface="Arial" pitchFamily="34" charset="-120"/>
              </a:rPr>
              <a:t> (persisted, versioned key prefs:v1): haptics, notifications, name visibility</a:t>
            </a:r>
            <a:endParaRPr lang="en-US" sz="1400" dirty="0"/>
          </a:p>
          <a:p>
            <a:pPr marL="177800" indent="-177800">
              <a:spcAft>
                <a:spcPts val="600"/>
              </a:spcAft>
              <a:buSzPct val="100000"/>
              <a:buChar char="•"/>
            </a:pPr>
            <a:r>
              <a:rPr lang="en-US" sz="1400" b="1" dirty="0">
                <a:solidFill>
                  <a:schemeClr val="tx2"/>
                </a:solidFill>
                <a:latin typeface="Arial" pitchFamily="34" charset="0"/>
                <a:ea typeface="Arial" pitchFamily="34" charset="-122"/>
                <a:cs typeface="Arial" pitchFamily="34" charset="-120"/>
              </a:rPr>
              <a:t>toast</a:t>
            </a:r>
            <a:pPr indent="0" marL="0">
              <a:buNone/>
            </a:pPr>
            <a:r>
              <a:rPr lang="en-US" sz="1400" dirty="0">
                <a:solidFill>
                  <a:schemeClr val="tx2"/>
                </a:solidFill>
                <a:latin typeface="Arial" pitchFamily="34" charset="0"/>
                <a:ea typeface="Arial" pitchFamily="34" charset="-122"/>
                <a:cs typeface="Arial" pitchFamily="34" charset="-120"/>
              </a:rPr>
              <a:t> queue, one at a time</a:t>
            </a:r>
            <a:endParaRPr lang="en-US" sz="1400" dirty="0"/>
          </a:p>
          <a:p>
            <a:pPr marL="177800" indent="-177800">
              <a:spcAft>
                <a:spcPts val="600"/>
              </a:spcAft>
              <a:buSzPct val="100000"/>
              <a:buChar char="•"/>
            </a:pPr>
            <a:r>
              <a:rPr lang="en-US" sz="1400" b="1" dirty="0">
                <a:solidFill>
                  <a:schemeClr val="tx2"/>
                </a:solidFill>
                <a:latin typeface="Arial" pitchFamily="34" charset="0"/>
                <a:ea typeface="Arial" pitchFamily="34" charset="-122"/>
                <a:cs typeface="Arial" pitchFamily="34" charset="-120"/>
              </a:rPr>
              <a:t>hero</a:t>
            </a:r>
            <a:pPr indent="0" marL="0">
              <a:buNone/>
            </a:pPr>
            <a:r>
              <a:rPr lang="en-US" sz="1400" dirty="0">
                <a:solidFill>
                  <a:schemeClr val="tx2"/>
                </a:solidFill>
                <a:latin typeface="Arial" pitchFamily="34" charset="0"/>
                <a:ea typeface="Arial" pitchFamily="34" charset="-122"/>
                <a:cs typeface="Arial" pitchFamily="34" charset="-120"/>
              </a:rPr>
              <a:t> rect handed from the tapped card to the detail screen</a:t>
            </a:r>
            <a:endParaRPr lang="en-US" sz="1400" dirty="0"/>
          </a:p>
        </p:txBody>
      </p:sp>
      <p:sp>
        <p:nvSpPr>
          <p:cNvPr id="13" name="card-195"/>
          <p:cNvSpPr/>
          <p:nvPr/>
        </p:nvSpPr>
        <p:spPr>
          <a:xfrm>
            <a:off x="8127797" y="1371600"/>
            <a:ext cx="3515258" cy="4343400"/>
          </a:xfrm>
          <a:prstGeom prst="roundRect">
            <a:avLst>
              <a:gd name="adj" fmla="val 3121"/>
            </a:avLst>
          </a:prstGeom>
          <a:solidFill>
            <a:schemeClr val="bg2"/>
          </a:solidFill>
          <a:ln/>
        </p:spPr>
      </p:sp>
      <p:sp>
        <p:nvSpPr>
          <p:cNvPr id="14" name="icon-bg-196"/>
          <p:cNvSpPr/>
          <p:nvPr/>
        </p:nvSpPr>
        <p:spPr>
          <a:xfrm>
            <a:off x="8402117" y="1600200"/>
            <a:ext cx="457200" cy="457200"/>
          </a:xfrm>
          <a:prstGeom prst="ellipse">
            <a:avLst/>
          </a:prstGeom>
          <a:solidFill>
            <a:schemeClr val="accent1"/>
          </a:solidFill>
          <a:ln/>
        </p:spPr>
      </p:sp>
      <p:pic>
        <p:nvPicPr>
          <p:cNvPr id="15" name="icon-197" descr="preencoded.png">    </p:cNvPr>
          <p:cNvPicPr>
            <a:picLocks noChangeAspect="1"/>
          </p:cNvPicPr>
          <p:nvPr/>
        </p:nvPicPr>
        <p:blipFill>
          <a:blip r:embed="rId3"/>
          <a:stretch>
            <a:fillRect/>
          </a:stretch>
        </p:blipFill>
        <p:spPr>
          <a:xfrm>
            <a:off x="8502701" y="1700784"/>
            <a:ext cx="256032" cy="256032"/>
          </a:xfrm>
          <a:prstGeom prst="rect">
            <a:avLst/>
          </a:prstGeom>
        </p:spPr>
      </p:pic>
      <p:sp>
        <p:nvSpPr>
          <p:cNvPr id="16" name="text-198"/>
          <p:cNvSpPr txBox="1"/>
          <p:nvPr/>
        </p:nvSpPr>
        <p:spPr>
          <a:xfrm>
            <a:off x="8402117" y="2194560"/>
            <a:ext cx="2966618" cy="41148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Forms and autosave</a:t>
            </a:r>
            <a:endParaRPr lang="en-US" sz="1600" dirty="0"/>
          </a:p>
        </p:txBody>
      </p:sp>
      <p:sp>
        <p:nvSpPr>
          <p:cNvPr id="17" name="text-199"/>
          <p:cNvSpPr txBox="1"/>
          <p:nvPr/>
        </p:nvSpPr>
        <p:spPr>
          <a:xfrm>
            <a:off x="8402117" y="2697480"/>
            <a:ext cx="3058058" cy="3291840"/>
          </a:xfrm>
          <a:prstGeom prst="rect">
            <a:avLst/>
          </a:prstGeom>
          <a:noFill/>
          <a:ln/>
        </p:spPr>
        <p:txBody>
          <a:bodyPr wrap="square" lIns="0" tIns="0" rIns="0" bIns="0" rtlCol="0" anchor="t"/>
          <a:lstStyle/>
          <a:p>
            <a:pPr marL="177800" indent="-177800">
              <a:spcAft>
                <a:spcPts val="600"/>
              </a:spcAft>
              <a:buSzPct val="100000"/>
              <a:buChar char="•"/>
            </a:pPr>
            <a:r>
              <a:rPr lang="en-US" sz="1400" b="1" dirty="0">
                <a:solidFill>
                  <a:schemeClr val="tx2"/>
                </a:solidFill>
                <a:latin typeface="Arial" pitchFamily="34" charset="0"/>
                <a:ea typeface="Arial" pitchFamily="34" charset="-122"/>
                <a:cs typeface="Arial" pitchFamily="34" charset="-120"/>
              </a:rPr>
              <a:t>react-hook-form + zod;</a:t>
            </a:r>
            <a:pPr indent="0" marL="0">
              <a:buNone/>
            </a:pPr>
            <a:r>
              <a:rPr lang="en-US" sz="1400" dirty="0">
                <a:solidFill>
                  <a:schemeClr val="tx2"/>
                </a:solidFill>
                <a:latin typeface="Arial" pitchFamily="34" charset="0"/>
                <a:ea typeface="Arial" pitchFamily="34" charset="-122"/>
                <a:cs typeface="Arial" pitchFamily="34" charset="-120"/>
              </a:rPr>
              <a:t> the same schema is checked again in the service</a:t>
            </a:r>
            <a:endParaRPr lang="en-US" sz="1400" dirty="0"/>
          </a:p>
          <a:p>
            <a:pPr marL="177800" indent="-177800">
              <a:spcAft>
                <a:spcPts val="600"/>
              </a:spcAft>
              <a:buSzPct val="100000"/>
              <a:buChar char="•"/>
            </a:pPr>
            <a:r>
              <a:rPr lang="en-US" sz="1400" b="1" dirty="0">
                <a:solidFill>
                  <a:schemeClr val="tx2"/>
                </a:solidFill>
                <a:latin typeface="Arial" pitchFamily="34" charset="0"/>
                <a:ea typeface="Arial" pitchFamily="34" charset="-122"/>
                <a:cs typeface="Arial" pitchFamily="34" charset="-120"/>
              </a:rPr>
              <a:t>Autosave 700 ms</a:t>
            </a:r>
            <a:pPr indent="0" marL="0">
              <a:buNone/>
            </a:pPr>
            <a:r>
              <a:rPr lang="en-US" sz="1400" dirty="0">
                <a:solidFill>
                  <a:schemeClr val="tx2"/>
                </a:solidFill>
                <a:latin typeface="Arial" pitchFamily="34" charset="0"/>
                <a:ea typeface="Arial" pitchFamily="34" charset="-122"/>
                <a:cs typeface="Arial" pitchFamily="34" charset="-120"/>
              </a:rPr>
              <a:t> after the last edit; saves are serialized, retry on failure, and flush when the app backgrounds</a:t>
            </a:r>
            <a:endParaRPr lang="en-US" sz="1400" dirty="0"/>
          </a:p>
          <a:p>
            <a:pPr marL="177800" indent="-177800">
              <a:spcAft>
                <a:spcPts val="600"/>
              </a:spcAft>
              <a:buSzPct val="100000"/>
              <a:buChar char="•"/>
            </a:pPr>
            <a:r>
              <a:rPr lang="en-US" sz="1400" b="1" dirty="0">
                <a:solidFill>
                  <a:schemeClr val="tx2"/>
                </a:solidFill>
                <a:latin typeface="Arial" pitchFamily="34" charset="0"/>
                <a:ea typeface="Arial" pitchFamily="34" charset="-122"/>
                <a:cs typeface="Arial" pitchFamily="34" charset="-120"/>
              </a:rPr>
              <a:t>Server field errors</a:t>
            </a:r>
            <a:pPr indent="0" marL="0">
              <a:buNone/>
            </a:pPr>
            <a:r>
              <a:rPr lang="en-US" sz="1400" dirty="0">
                <a:solidFill>
                  <a:schemeClr val="tx2"/>
                </a:solidFill>
                <a:latin typeface="Arial" pitchFamily="34" charset="0"/>
                <a:ea typeface="Arial" pitchFamily="34" charset="-122"/>
                <a:cs typeface="Arial" pitchFamily="34" charset="-120"/>
              </a:rPr>
              <a:t> map back onto form fields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dirty="0">
                <a:solidFill>
                  <a:schemeClr val="tx1"/>
                </a:solidFill>
                <a:latin typeface="Georgia" pitchFamily="34" charset="0"/>
                <a:ea typeface="Georgia" pitchFamily="34" charset="-122"/>
                <a:cs typeface="Georgia" pitchFamily="34" charset="-120"/>
              </a:rPr>
              <a:t>Checkout is simulated end to end, including failure</a:t>
            </a:r>
            <a:endParaRPr lang="en-US" sz="3200" dirty="0"/>
          </a:p>
        </p:txBody>
      </p:sp>
      <p:sp>
        <p:nvSpPr>
          <p:cNvPr id="3" name="card-200"/>
          <p:cNvSpPr/>
          <p:nvPr/>
        </p:nvSpPr>
        <p:spPr>
          <a:xfrm>
            <a:off x="548640" y="1371600"/>
            <a:ext cx="2396414" cy="1463040"/>
          </a:xfrm>
          <a:prstGeom prst="roundRect">
            <a:avLst>
              <a:gd name="adj" fmla="val 7500"/>
            </a:avLst>
          </a:prstGeom>
          <a:solidFill>
            <a:schemeClr val="bg2"/>
          </a:solidFill>
          <a:ln/>
        </p:spPr>
      </p:sp>
      <p:sp>
        <p:nvSpPr>
          <p:cNvPr id="4" name="step-201"/>
          <p:cNvSpPr/>
          <p:nvPr/>
        </p:nvSpPr>
        <p:spPr>
          <a:xfrm>
            <a:off x="822960" y="1554480"/>
            <a:ext cx="457200" cy="457200"/>
          </a:xfrm>
          <a:prstGeom prst="ellipse">
            <a:avLst/>
          </a:prstGeom>
          <a:solidFill>
            <a:schemeClr val="accent1"/>
          </a:solidFill>
          <a:ln/>
        </p:spPr>
      </p:sp>
      <p:sp>
        <p:nvSpPr>
          <p:cNvPr id="5" name="text-202"/>
          <p:cNvSpPr txBox="1"/>
          <p:nvPr/>
        </p:nvSpPr>
        <p:spPr>
          <a:xfrm>
            <a:off x="822960" y="1554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1</a:t>
            </a:r>
            <a:endParaRPr lang="en-US" sz="1600" dirty="0"/>
          </a:p>
        </p:txBody>
      </p:sp>
      <p:sp>
        <p:nvSpPr>
          <p:cNvPr id="6" name="text-203"/>
          <p:cNvSpPr txBox="1"/>
          <p:nvPr/>
        </p:nvSpPr>
        <p:spPr>
          <a:xfrm>
            <a:off x="1417320" y="1572768"/>
            <a:ext cx="1390574" cy="4114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Amount</a:t>
            </a:r>
            <a:endParaRPr lang="en-US" sz="1600" dirty="0"/>
          </a:p>
        </p:txBody>
      </p:sp>
      <p:sp>
        <p:nvSpPr>
          <p:cNvPr id="7" name="text-204"/>
          <p:cNvSpPr txBox="1"/>
          <p:nvPr/>
        </p:nvSpPr>
        <p:spPr>
          <a:xfrm>
            <a:off x="822960" y="2148840"/>
            <a:ext cx="1939214" cy="64008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Presets or custom; live reach estimate</a:t>
            </a:r>
            <a:endParaRPr lang="en-US" sz="1400" dirty="0"/>
          </a:p>
        </p:txBody>
      </p:sp>
      <p:sp>
        <p:nvSpPr>
          <p:cNvPr id="8" name="arrow-205"/>
          <p:cNvSpPr/>
          <p:nvPr/>
        </p:nvSpPr>
        <p:spPr>
          <a:xfrm>
            <a:off x="3009062" y="2103120"/>
            <a:ext cx="374904" cy="914"/>
          </a:xfrm>
          <a:prstGeom prst="line">
            <a:avLst/>
          </a:prstGeom>
          <a:noFill/>
          <a:ln w="25400">
            <a:solidFill>
              <a:schemeClr val="accent1"/>
            </a:solidFill>
            <a:prstDash val="solid"/>
            <a:tailEnd type="triangle"/>
          </a:ln>
        </p:spPr>
      </p:sp>
      <p:sp>
        <p:nvSpPr>
          <p:cNvPr id="9" name="card-206"/>
          <p:cNvSpPr/>
          <p:nvPr/>
        </p:nvSpPr>
        <p:spPr>
          <a:xfrm>
            <a:off x="3447974" y="1371600"/>
            <a:ext cx="2396414" cy="1463040"/>
          </a:xfrm>
          <a:prstGeom prst="roundRect">
            <a:avLst>
              <a:gd name="adj" fmla="val 7500"/>
            </a:avLst>
          </a:prstGeom>
          <a:solidFill>
            <a:schemeClr val="bg2"/>
          </a:solidFill>
          <a:ln/>
        </p:spPr>
      </p:sp>
      <p:sp>
        <p:nvSpPr>
          <p:cNvPr id="10" name="step-207"/>
          <p:cNvSpPr/>
          <p:nvPr/>
        </p:nvSpPr>
        <p:spPr>
          <a:xfrm>
            <a:off x="3722294" y="1554480"/>
            <a:ext cx="457200" cy="457200"/>
          </a:xfrm>
          <a:prstGeom prst="ellipse">
            <a:avLst/>
          </a:prstGeom>
          <a:solidFill>
            <a:schemeClr val="accent1"/>
          </a:solidFill>
          <a:ln/>
        </p:spPr>
      </p:sp>
      <p:sp>
        <p:nvSpPr>
          <p:cNvPr id="11" name="text-208"/>
          <p:cNvSpPr txBox="1"/>
          <p:nvPr/>
        </p:nvSpPr>
        <p:spPr>
          <a:xfrm>
            <a:off x="3722294" y="1554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2</a:t>
            </a:r>
            <a:endParaRPr lang="en-US" sz="1600" dirty="0"/>
          </a:p>
        </p:txBody>
      </p:sp>
      <p:sp>
        <p:nvSpPr>
          <p:cNvPr id="12" name="text-209"/>
          <p:cNvSpPr txBox="1"/>
          <p:nvPr/>
        </p:nvSpPr>
        <p:spPr>
          <a:xfrm>
            <a:off x="4316654" y="1572768"/>
            <a:ext cx="1390574" cy="4114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Review</a:t>
            </a:r>
            <a:endParaRPr lang="en-US" sz="1600" dirty="0"/>
          </a:p>
        </p:txBody>
      </p:sp>
      <p:sp>
        <p:nvSpPr>
          <p:cNvPr id="13" name="text-210"/>
          <p:cNvSpPr txBox="1"/>
          <p:nvPr/>
        </p:nvSpPr>
        <p:spPr>
          <a:xfrm>
            <a:off x="3722294" y="2148840"/>
            <a:ext cx="1939214" cy="64008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Fee breakdown, refund rules, name visibility</a:t>
            </a:r>
            <a:endParaRPr lang="en-US" sz="1400" dirty="0"/>
          </a:p>
        </p:txBody>
      </p:sp>
      <p:sp>
        <p:nvSpPr>
          <p:cNvPr id="14" name="arrow-211"/>
          <p:cNvSpPr/>
          <p:nvPr/>
        </p:nvSpPr>
        <p:spPr>
          <a:xfrm>
            <a:off x="5908396" y="2103120"/>
            <a:ext cx="374904" cy="914"/>
          </a:xfrm>
          <a:prstGeom prst="line">
            <a:avLst/>
          </a:prstGeom>
          <a:noFill/>
          <a:ln w="25400">
            <a:solidFill>
              <a:schemeClr val="accent1"/>
            </a:solidFill>
            <a:prstDash val="solid"/>
            <a:tailEnd type="triangle"/>
          </a:ln>
        </p:spPr>
      </p:sp>
      <p:sp>
        <p:nvSpPr>
          <p:cNvPr id="15" name="card-212"/>
          <p:cNvSpPr/>
          <p:nvPr/>
        </p:nvSpPr>
        <p:spPr>
          <a:xfrm>
            <a:off x="6347308" y="1371600"/>
            <a:ext cx="2396414" cy="1463040"/>
          </a:xfrm>
          <a:prstGeom prst="roundRect">
            <a:avLst>
              <a:gd name="adj" fmla="val 7500"/>
            </a:avLst>
          </a:prstGeom>
          <a:solidFill>
            <a:schemeClr val="bg2"/>
          </a:solidFill>
          <a:ln/>
        </p:spPr>
      </p:sp>
      <p:sp>
        <p:nvSpPr>
          <p:cNvPr id="16" name="step-213"/>
          <p:cNvSpPr/>
          <p:nvPr/>
        </p:nvSpPr>
        <p:spPr>
          <a:xfrm>
            <a:off x="6621628" y="1554480"/>
            <a:ext cx="457200" cy="457200"/>
          </a:xfrm>
          <a:prstGeom prst="ellipse">
            <a:avLst/>
          </a:prstGeom>
          <a:solidFill>
            <a:schemeClr val="accent1"/>
          </a:solidFill>
          <a:ln/>
        </p:spPr>
      </p:sp>
      <p:sp>
        <p:nvSpPr>
          <p:cNvPr id="17" name="text-214"/>
          <p:cNvSpPr txBox="1"/>
          <p:nvPr/>
        </p:nvSpPr>
        <p:spPr>
          <a:xfrm>
            <a:off x="6621628" y="1554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3</a:t>
            </a:r>
            <a:endParaRPr lang="en-US" sz="1600" dirty="0"/>
          </a:p>
        </p:txBody>
      </p:sp>
      <p:sp>
        <p:nvSpPr>
          <p:cNvPr id="18" name="text-215"/>
          <p:cNvSpPr txBox="1"/>
          <p:nvPr/>
        </p:nvSpPr>
        <p:spPr>
          <a:xfrm>
            <a:off x="7215988" y="1572768"/>
            <a:ext cx="1390574" cy="4114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Pay</a:t>
            </a:r>
            <a:endParaRPr lang="en-US" sz="1600" dirty="0"/>
          </a:p>
        </p:txBody>
      </p:sp>
      <p:sp>
        <p:nvSpPr>
          <p:cNvPr id="19" name="text-216"/>
          <p:cNvSpPr txBox="1"/>
          <p:nvPr/>
        </p:nvSpPr>
        <p:spPr>
          <a:xfrm>
            <a:off x="6621628" y="2148840"/>
            <a:ext cx="1939214" cy="64008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Test card; outcome chosen for demos</a:t>
            </a:r>
            <a:endParaRPr lang="en-US" sz="1400" dirty="0"/>
          </a:p>
        </p:txBody>
      </p:sp>
      <p:sp>
        <p:nvSpPr>
          <p:cNvPr id="20" name="arrow-217"/>
          <p:cNvSpPr/>
          <p:nvPr/>
        </p:nvSpPr>
        <p:spPr>
          <a:xfrm>
            <a:off x="8807729" y="2103120"/>
            <a:ext cx="374904" cy="914"/>
          </a:xfrm>
          <a:prstGeom prst="line">
            <a:avLst/>
          </a:prstGeom>
          <a:noFill/>
          <a:ln w="25400">
            <a:solidFill>
              <a:schemeClr val="accent1"/>
            </a:solidFill>
            <a:prstDash val="solid"/>
            <a:tailEnd type="triangle"/>
          </a:ln>
        </p:spPr>
      </p:sp>
      <p:sp>
        <p:nvSpPr>
          <p:cNvPr id="21" name="card-218"/>
          <p:cNvSpPr/>
          <p:nvPr/>
        </p:nvSpPr>
        <p:spPr>
          <a:xfrm>
            <a:off x="9246641" y="1371600"/>
            <a:ext cx="2396414" cy="1463040"/>
          </a:xfrm>
          <a:prstGeom prst="roundRect">
            <a:avLst>
              <a:gd name="adj" fmla="val 7500"/>
            </a:avLst>
          </a:prstGeom>
          <a:solidFill>
            <a:schemeClr val="bg2"/>
          </a:solidFill>
          <a:ln/>
        </p:spPr>
      </p:sp>
      <p:sp>
        <p:nvSpPr>
          <p:cNvPr id="22" name="step-219"/>
          <p:cNvSpPr/>
          <p:nvPr/>
        </p:nvSpPr>
        <p:spPr>
          <a:xfrm>
            <a:off x="9520961" y="1554480"/>
            <a:ext cx="457200" cy="457200"/>
          </a:xfrm>
          <a:prstGeom prst="ellipse">
            <a:avLst/>
          </a:prstGeom>
          <a:solidFill>
            <a:schemeClr val="accent1"/>
          </a:solidFill>
          <a:ln/>
        </p:spPr>
      </p:sp>
      <p:sp>
        <p:nvSpPr>
          <p:cNvPr id="23" name="text-220"/>
          <p:cNvSpPr txBox="1"/>
          <p:nvPr/>
        </p:nvSpPr>
        <p:spPr>
          <a:xfrm>
            <a:off x="9520961" y="15544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Arial" pitchFamily="34" charset="0"/>
                <a:ea typeface="Arial" pitchFamily="34" charset="-122"/>
                <a:cs typeface="Arial" pitchFamily="34" charset="-120"/>
              </a:rPr>
              <a:t>4</a:t>
            </a:r>
            <a:endParaRPr lang="en-US" sz="1600" dirty="0"/>
          </a:p>
        </p:txBody>
      </p:sp>
      <p:sp>
        <p:nvSpPr>
          <p:cNvPr id="24" name="text-221"/>
          <p:cNvSpPr txBox="1"/>
          <p:nvPr/>
        </p:nvSpPr>
        <p:spPr>
          <a:xfrm>
            <a:off x="10115321" y="1572768"/>
            <a:ext cx="1390574" cy="411480"/>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Result</a:t>
            </a:r>
            <a:endParaRPr lang="en-US" sz="1600" dirty="0"/>
          </a:p>
        </p:txBody>
      </p:sp>
      <p:sp>
        <p:nvSpPr>
          <p:cNvPr id="25" name="text-222"/>
          <p:cNvSpPr txBox="1"/>
          <p:nvPr/>
        </p:nvSpPr>
        <p:spPr>
          <a:xfrm>
            <a:off x="9520961" y="2148840"/>
            <a:ext cx="1939214" cy="64008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Receipt, progress, Activity events</a:t>
            </a:r>
            <a:endParaRPr lang="en-US" sz="1400" dirty="0"/>
          </a:p>
        </p:txBody>
      </p:sp>
      <p:sp>
        <p:nvSpPr>
          <p:cNvPr id="26" name="text-223"/>
          <p:cNvSpPr txBox="1"/>
          <p:nvPr/>
        </p:nvSpPr>
        <p:spPr>
          <a:xfrm>
            <a:off x="548640" y="3154680"/>
            <a:ext cx="548640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Four outcomes, all first-class</a:t>
            </a:r>
            <a:endParaRPr lang="en-US" sz="1800" dirty="0"/>
          </a:p>
        </p:txBody>
      </p:sp>
      <p:sp>
        <p:nvSpPr>
          <p:cNvPr id="27" name="dot-224"/>
          <p:cNvSpPr/>
          <p:nvPr/>
        </p:nvSpPr>
        <p:spPr>
          <a:xfrm>
            <a:off x="548640" y="3721608"/>
            <a:ext cx="182880" cy="182880"/>
          </a:xfrm>
          <a:prstGeom prst="ellipse">
            <a:avLst/>
          </a:prstGeom>
          <a:solidFill>
            <a:schemeClr val="accent3"/>
          </a:solidFill>
          <a:ln/>
        </p:spPr>
      </p:sp>
      <p:sp>
        <p:nvSpPr>
          <p:cNvPr id="28" name="text-225"/>
          <p:cNvSpPr txBox="1"/>
          <p:nvPr/>
        </p:nvSpPr>
        <p:spPr>
          <a:xfrm>
            <a:off x="868680" y="3611880"/>
            <a:ext cx="4998568" cy="54864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Approved  </a:t>
            </a:r>
            <a:pPr indent="0" marL="0">
              <a:buNone/>
            </a:pPr>
            <a:r>
              <a:rPr lang="en-US" sz="1400" dirty="0">
                <a:solidFill>
                  <a:schemeClr val="tx2"/>
                </a:solidFill>
                <a:latin typeface="Arial" pitchFamily="34" charset="0"/>
                <a:ea typeface="Arial" pitchFamily="34" charset="-122"/>
                <a:cs typeface="Arial" pitchFamily="34" charset="-120"/>
              </a:rPr>
              <a:t>Funding updates; milestones fire at 25/50/75/100%.</a:t>
            </a:r>
            <a:endParaRPr lang="en-US" sz="1400" dirty="0"/>
          </a:p>
        </p:txBody>
      </p:sp>
      <p:sp>
        <p:nvSpPr>
          <p:cNvPr id="29" name="dot-226"/>
          <p:cNvSpPr/>
          <p:nvPr/>
        </p:nvSpPr>
        <p:spPr>
          <a:xfrm>
            <a:off x="6233008" y="3721608"/>
            <a:ext cx="182880" cy="182880"/>
          </a:xfrm>
          <a:prstGeom prst="ellipse">
            <a:avLst/>
          </a:prstGeom>
          <a:solidFill>
            <a:schemeClr val="accent4"/>
          </a:solidFill>
          <a:ln/>
        </p:spPr>
      </p:sp>
      <p:sp>
        <p:nvSpPr>
          <p:cNvPr id="30" name="text-227"/>
          <p:cNvSpPr txBox="1"/>
          <p:nvPr/>
        </p:nvSpPr>
        <p:spPr>
          <a:xfrm>
            <a:off x="6553048" y="3611880"/>
            <a:ext cx="4998568" cy="54864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Pending  </a:t>
            </a:r>
            <a:pPr indent="0" marL="0">
              <a:buNone/>
            </a:pPr>
            <a:r>
              <a:rPr lang="en-US" sz="1400" dirty="0">
                <a:solidFill>
                  <a:schemeClr val="tx2"/>
                </a:solidFill>
                <a:latin typeface="Arial" pitchFamily="34" charset="0"/>
                <a:ea typeface="Arial" pitchFamily="34" charset="-122"/>
                <a:cs typeface="Arial" pitchFamily="34" charset="-120"/>
              </a:rPr>
              <a:t>Bank confirming; settles in 8 s, polled every 2 s.</a:t>
            </a:r>
            <a:endParaRPr lang="en-US" sz="1400" dirty="0"/>
          </a:p>
        </p:txBody>
      </p:sp>
      <p:sp>
        <p:nvSpPr>
          <p:cNvPr id="31" name="dot-228"/>
          <p:cNvSpPr/>
          <p:nvPr/>
        </p:nvSpPr>
        <p:spPr>
          <a:xfrm>
            <a:off x="548640" y="4407408"/>
            <a:ext cx="182880" cy="182880"/>
          </a:xfrm>
          <a:prstGeom prst="ellipse">
            <a:avLst/>
          </a:prstGeom>
          <a:solidFill>
            <a:schemeClr val="accent5"/>
          </a:solidFill>
          <a:ln/>
        </p:spPr>
      </p:sp>
      <p:sp>
        <p:nvSpPr>
          <p:cNvPr id="32" name="text-229"/>
          <p:cNvSpPr txBox="1"/>
          <p:nvPr/>
        </p:nvSpPr>
        <p:spPr>
          <a:xfrm>
            <a:off x="868680" y="4297680"/>
            <a:ext cx="4998568" cy="54864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Declined  </a:t>
            </a:r>
            <a:pPr indent="0" marL="0">
              <a:buNone/>
            </a:pPr>
            <a:r>
              <a:rPr lang="en-US" sz="1400" dirty="0">
                <a:solidFill>
                  <a:schemeClr val="tx2"/>
                </a:solidFill>
                <a:latin typeface="Arial" pitchFamily="34" charset="0"/>
                <a:ea typeface="Arial" pitchFamily="34" charset="-122"/>
                <a:cs typeface="Arial" pitchFamily="34" charset="-120"/>
              </a:rPr>
              <a:t>Never charged; amount and choices kept to retry.</a:t>
            </a:r>
            <a:endParaRPr lang="en-US" sz="1400" dirty="0"/>
          </a:p>
        </p:txBody>
      </p:sp>
      <p:sp>
        <p:nvSpPr>
          <p:cNvPr id="33" name="dot-230"/>
          <p:cNvSpPr/>
          <p:nvPr/>
        </p:nvSpPr>
        <p:spPr>
          <a:xfrm>
            <a:off x="6233008" y="4407408"/>
            <a:ext cx="182880" cy="182880"/>
          </a:xfrm>
          <a:prstGeom prst="ellipse">
            <a:avLst/>
          </a:prstGeom>
          <a:solidFill>
            <a:schemeClr val="accent6"/>
          </a:solidFill>
          <a:ln/>
        </p:spPr>
      </p:sp>
      <p:sp>
        <p:nvSpPr>
          <p:cNvPr id="34" name="text-231"/>
          <p:cNvSpPr txBox="1"/>
          <p:nvPr/>
        </p:nvSpPr>
        <p:spPr>
          <a:xfrm>
            <a:off x="6553048" y="4297680"/>
            <a:ext cx="4998568" cy="548640"/>
          </a:xfrm>
          <a:prstGeom prst="rect">
            <a:avLst/>
          </a:prstGeom>
          <a:noFill/>
          <a:ln/>
        </p:spPr>
        <p:txBody>
          <a:bodyPr wrap="square" lIns="0" tIns="0" rIns="0" bIns="0" rtlCol="0" anchor="t"/>
          <a:lstStyle/>
          <a:p>
            <a:pPr indent="0" marL="0">
              <a:buNone/>
            </a:pPr>
            <a:r>
              <a:rPr lang="en-US" sz="1400" b="1" dirty="0">
                <a:solidFill>
                  <a:schemeClr val="tx1"/>
                </a:solidFill>
                <a:latin typeface="Arial" pitchFamily="34" charset="0"/>
                <a:ea typeface="Arial" pitchFamily="34" charset="-122"/>
                <a:cs typeface="Arial" pitchFamily="34" charset="-120"/>
              </a:rPr>
              <a:t>Canceled  </a:t>
            </a:r>
            <a:pPr indent="0" marL="0">
              <a:buNone/>
            </a:pPr>
            <a:r>
              <a:rPr lang="en-US" sz="1400" dirty="0">
                <a:solidFill>
                  <a:schemeClr val="tx2"/>
                </a:solidFill>
                <a:latin typeface="Arial" pitchFamily="34" charset="0"/>
                <a:ea typeface="Arial" pitchFamily="34" charset="-122"/>
                <a:cs typeface="Arial" pitchFamily="34" charset="-120"/>
              </a:rPr>
              <a:t>User canceled mid-payment; nothing charged.</a:t>
            </a:r>
            <a:endParaRPr lang="en-US" sz="1400" dirty="0"/>
          </a:p>
        </p:txBody>
      </p:sp>
      <p:sp>
        <p:nvSpPr>
          <p:cNvPr id="35" name="card-232"/>
          <p:cNvSpPr/>
          <p:nvPr/>
        </p:nvSpPr>
        <p:spPr>
          <a:xfrm>
            <a:off x="548640" y="5120640"/>
            <a:ext cx="11094415" cy="1005840"/>
          </a:xfrm>
          <a:prstGeom prst="roundRect">
            <a:avLst>
              <a:gd name="adj" fmla="val 10909"/>
            </a:avLst>
          </a:prstGeom>
          <a:solidFill>
            <a:schemeClr val="bg2"/>
          </a:solidFill>
          <a:ln/>
        </p:spPr>
      </p:sp>
      <p:sp>
        <p:nvSpPr>
          <p:cNvPr id="36" name="icon-bg-233"/>
          <p:cNvSpPr/>
          <p:nvPr/>
        </p:nvSpPr>
        <p:spPr>
          <a:xfrm>
            <a:off x="822960" y="5376672"/>
            <a:ext cx="502920" cy="502920"/>
          </a:xfrm>
          <a:prstGeom prst="ellipse">
            <a:avLst/>
          </a:prstGeom>
          <a:solidFill>
            <a:schemeClr val="accent1"/>
          </a:solidFill>
          <a:ln/>
        </p:spPr>
      </p:sp>
      <p:pic>
        <p:nvPicPr>
          <p:cNvPr id="37" name="icon-234" descr="preencoded.png">    </p:cNvPr>
          <p:cNvPicPr>
            <a:picLocks noChangeAspect="1"/>
          </p:cNvPicPr>
          <p:nvPr/>
        </p:nvPicPr>
        <p:blipFill>
          <a:blip r:embed="rId1"/>
          <a:stretch>
            <a:fillRect/>
          </a:stretch>
        </p:blipFill>
        <p:spPr>
          <a:xfrm>
            <a:off x="933602" y="5487314"/>
            <a:ext cx="281635" cy="281635"/>
          </a:xfrm>
          <a:prstGeom prst="rect">
            <a:avLst/>
          </a:prstGeom>
        </p:spPr>
      </p:pic>
      <p:sp>
        <p:nvSpPr>
          <p:cNvPr id="38" name="text-235"/>
          <p:cNvSpPr txBox="1"/>
          <p:nvPr/>
        </p:nvSpPr>
        <p:spPr>
          <a:xfrm>
            <a:off x="1554480" y="5212080"/>
            <a:ext cx="9814255" cy="822960"/>
          </a:xfrm>
          <a:prstGeom prst="rect">
            <a:avLst/>
          </a:prstGeom>
          <a:noFill/>
          <a:ln/>
        </p:spPr>
        <p:txBody>
          <a:bodyPr wrap="square" lIns="0" tIns="0" rIns="0" bIns="0" rtlCol="0" anchor="ctr"/>
          <a:lstStyle/>
          <a:p>
            <a:pPr indent="0" marL="0">
              <a:buNone/>
            </a:pPr>
            <a:r>
              <a:rPr lang="en-US" sz="1400" b="1" dirty="0">
                <a:solidFill>
                  <a:schemeClr val="tx1"/>
                </a:solidFill>
                <a:latin typeface="Arial" pitchFamily="34" charset="0"/>
                <a:ea typeface="Arial" pitchFamily="34" charset="-122"/>
                <a:cs typeface="Arial" pitchFamily="34" charset="-120"/>
              </a:rPr>
              <a:t>Idempotent by design. </a:t>
            </a:r>
            <a:pPr indent="0" marL="0">
              <a:buNone/>
            </a:pPr>
            <a:r>
              <a:rPr lang="en-US" sz="1400" dirty="0">
                <a:solidFill>
                  <a:schemeClr val="tx2"/>
                </a:solidFill>
                <a:latin typeface="Arial" pitchFamily="34" charset="0"/>
                <a:ea typeface="Arial" pitchFamily="34" charset="-122"/>
                <a:cs typeface="Arial" pitchFamily="34" charset="-120"/>
              </a:rPr>
              <a:t>Each checkout carries an idempotency key; a retried or double-tapped payment returns the original contribution instead of charging again. Guests can pay with only an email; receipts follow the account once signed in.</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body" hasCustomPrompt="1"/>
          </p:nvPr>
        </p:nvSpPr>
        <p:spPr>
          <a:xfrm>
            <a:off x="731520" y="2240280"/>
            <a:ext cx="5486400" cy="457200"/>
          </a:xfrm>
          <a:prstGeom prst="rect">
            <a:avLst/>
          </a:prstGeom>
          <a:noFill/>
          <a:ln/>
        </p:spPr>
        <p:txBody>
          <a:bodyPr wrap="square" lIns="0" tIns="0" rIns="0" bIns="0" rtlCol="0"/>
          <a:lstStyle/>
          <a:p>
            <a:pPr indent="0" marL="0">
              <a:buNone/>
            </a:pPr>
            <a:r>
              <a:rPr lang="en-US" sz="1600" b="1" dirty="0">
                <a:solidFill>
                  <a:schemeClr val="accent2"/>
                </a:solidFill>
                <a:latin typeface="Arial" pitchFamily="34" charset="0"/>
                <a:ea typeface="Arial" pitchFamily="34" charset="-122"/>
                <a:cs typeface="Arial" pitchFamily="34" charset="-120"/>
              </a:rPr>
              <a:t>03  PLATFORM</a:t>
            </a:r>
            <a:endParaRPr lang="en-US" sz="1600" dirty="0"/>
          </a:p>
        </p:txBody>
      </p:sp>
      <p:sp>
        <p:nvSpPr>
          <p:cNvPr id="3" name="Text 0"/>
          <p:cNvSpPr/>
          <p:nvPr>
            <p:ph idx="101" type="title" hasCustomPrompt="1"/>
          </p:nvPr>
        </p:nvSpPr>
        <p:spPr>
          <a:xfrm>
            <a:off x="731520" y="2743200"/>
            <a:ext cx="10058400" cy="1005840"/>
          </a:xfrm>
          <a:prstGeom prst="rect">
            <a:avLst/>
          </a:prstGeom>
          <a:noFill/>
          <a:ln/>
        </p:spPr>
        <p:txBody>
          <a:bodyPr wrap="square" lIns="0" tIns="0" rIns="0" bIns="0" rtlCol="0" anchor="t"/>
          <a:lstStyle/>
          <a:p>
            <a:pPr algn="l" indent="0" marL="0">
              <a:buNone/>
            </a:pPr>
            <a:r>
              <a:rPr lang="en-US" sz="4200" dirty="0">
                <a:solidFill>
                  <a:schemeClr val="bg1"/>
                </a:solidFill>
                <a:latin typeface="Georgia" pitchFamily="34" charset="0"/>
                <a:ea typeface="Georgia" pitchFamily="34" charset="-122"/>
                <a:cs typeface="Georgia" pitchFamily="34" charset="-120"/>
              </a:rPr>
              <a:t>Auth, navigation and motion</a:t>
            </a:r>
            <a:endParaRPr lang="en-US" sz="4200" dirty="0"/>
          </a:p>
        </p:txBody>
      </p:sp>
      <p:sp>
        <p:nvSpPr>
          <p:cNvPr id="4" name="Text 0"/>
          <p:cNvSpPr/>
          <p:nvPr>
            <p:ph idx="102" type="body" hasCustomPrompt="1"/>
          </p:nvPr>
        </p:nvSpPr>
        <p:spPr>
          <a:xfrm>
            <a:off x="731520" y="3886200"/>
            <a:ext cx="9601200" cy="914400"/>
          </a:xfrm>
          <a:prstGeom prst="rect">
            <a:avLst/>
          </a:prstGeom>
          <a:noFill/>
          <a:ln/>
        </p:spPr>
        <p:txBody>
          <a:bodyPr wrap="square" lIns="0" tIns="0" rIns="0" bIns="0" rtlCol="0" anchor="t"/>
          <a:lstStyle/>
          <a:p>
            <a:pPr indent="0" marL="0">
              <a:buNone/>
            </a:pPr>
            <a:r>
              <a:rPr lang="en-US" sz="1800" dirty="0">
                <a:solidFill>
                  <a:schemeClr val="accent6"/>
                </a:solidFill>
                <a:latin typeface="Arial" pitchFamily="34" charset="0"/>
                <a:ea typeface="Arial" pitchFamily="34" charset="-122"/>
                <a:cs typeface="Arial" pitchFamily="34" charset="-120"/>
              </a:rPr>
              <a:t>Firebase integration, routing, the animation system and what Android taught us.</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dirty="0">
                <a:solidFill>
                  <a:schemeClr val="tx1"/>
                </a:solidFill>
                <a:latin typeface="Georgia" pitchFamily="34" charset="0"/>
                <a:ea typeface="Georgia" pitchFamily="34" charset="-122"/>
                <a:cs typeface="Georgia" pitchFamily="34" charset="-120"/>
              </a:rPr>
              <a:t>Firebase Auth, mirrored into the app’s own session</a:t>
            </a:r>
            <a:endParaRPr lang="en-US" sz="3200" dirty="0"/>
          </a:p>
        </p:txBody>
      </p:sp>
      <p:sp>
        <p:nvSpPr>
          <p:cNvPr id="3" name="card-236"/>
          <p:cNvSpPr/>
          <p:nvPr/>
        </p:nvSpPr>
        <p:spPr>
          <a:xfrm>
            <a:off x="548640" y="1325880"/>
            <a:ext cx="5410048" cy="2286000"/>
          </a:xfrm>
          <a:prstGeom prst="roundRect">
            <a:avLst>
              <a:gd name="adj" fmla="val 4800"/>
            </a:avLst>
          </a:prstGeom>
          <a:solidFill>
            <a:schemeClr val="bg2"/>
          </a:solidFill>
          <a:ln/>
        </p:spPr>
      </p:sp>
      <p:sp>
        <p:nvSpPr>
          <p:cNvPr id="4" name="icon-bg-237"/>
          <p:cNvSpPr/>
          <p:nvPr/>
        </p:nvSpPr>
        <p:spPr>
          <a:xfrm>
            <a:off x="777240" y="1527048"/>
            <a:ext cx="411480" cy="411480"/>
          </a:xfrm>
          <a:prstGeom prst="ellipse">
            <a:avLst/>
          </a:prstGeom>
          <a:solidFill>
            <a:schemeClr val="accent1"/>
          </a:solidFill>
          <a:ln/>
        </p:spPr>
      </p:sp>
      <p:pic>
        <p:nvPicPr>
          <p:cNvPr id="5" name="icon-238" descr="preencoded.png">    </p:cNvPr>
          <p:cNvPicPr>
            <a:picLocks noChangeAspect="1"/>
          </p:cNvPicPr>
          <p:nvPr/>
        </p:nvPicPr>
        <p:blipFill>
          <a:blip r:embed="rId1"/>
          <a:stretch>
            <a:fillRect/>
          </a:stretch>
        </p:blipFill>
        <p:spPr>
          <a:xfrm>
            <a:off x="867766" y="1617574"/>
            <a:ext cx="230429" cy="230429"/>
          </a:xfrm>
          <a:prstGeom prst="rect">
            <a:avLst/>
          </a:prstGeom>
        </p:spPr>
      </p:pic>
      <p:sp>
        <p:nvSpPr>
          <p:cNvPr id="6" name="text-239"/>
          <p:cNvSpPr txBox="1"/>
          <p:nvPr/>
        </p:nvSpPr>
        <p:spPr>
          <a:xfrm>
            <a:off x="1325880" y="1545336"/>
            <a:ext cx="4404208" cy="384048"/>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Native setup</a:t>
            </a:r>
            <a:endParaRPr lang="en-US" sz="1600" dirty="0"/>
          </a:p>
        </p:txBody>
      </p:sp>
      <p:sp>
        <p:nvSpPr>
          <p:cNvPr id="7" name="text-240"/>
          <p:cNvSpPr txBox="1"/>
          <p:nvPr/>
        </p:nvSpPr>
        <p:spPr>
          <a:xfrm>
            <a:off x="822960" y="2057400"/>
            <a:ext cx="4907128" cy="15087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2"/>
                </a:solidFill>
                <a:latin typeface="Arial" pitchFamily="34" charset="0"/>
                <a:ea typeface="Arial" pitchFamily="34" charset="-122"/>
                <a:cs typeface="Arial" pitchFamily="34" charset="-120"/>
              </a:rPr>
              <a:t>React Native Firebase 26, modular API</a:t>
            </a:r>
            <a:endParaRPr lang="en-US" sz="1400" dirty="0"/>
          </a:p>
          <a:p>
            <a:pPr marL="177800" indent="-177800">
              <a:spcAft>
                <a:spcPts val="600"/>
              </a:spcAft>
              <a:buSzPct val="100000"/>
              <a:buChar char="•"/>
            </a:pPr>
            <a:r>
              <a:rPr lang="en-US" sz="1300" dirty="0">
                <a:solidFill>
                  <a:schemeClr val="tx2"/>
                </a:solidFill>
                <a:latin typeface="Arial" pitchFamily="34" charset="0"/>
                <a:ea typeface="Arial" pitchFamily="34" charset="-122"/>
                <a:cs typeface="Arial" pitchFamily="34" charset="-120"/>
              </a:rPr>
              <a:t>iOS: CocoaPods with static frameworks (disableSPM, forceStaticLinking RNFBApp/RNFBAuth), the long-proven Expo path</a:t>
            </a:r>
            <a:endParaRPr lang="en-US" sz="1400" dirty="0"/>
          </a:p>
          <a:p>
            <a:pPr marL="177800" indent="-177800">
              <a:spcAft>
                <a:spcPts val="600"/>
              </a:spcAft>
              <a:buSzPct val="100000"/>
              <a:buChar char="•"/>
            </a:pPr>
            <a:r>
              <a:rPr lang="en-US" sz="1300" dirty="0">
                <a:solidFill>
                  <a:schemeClr val="tx2"/>
                </a:solidFill>
                <a:latin typeface="Arial" pitchFamily="34" charset="0"/>
                <a:ea typeface="Arial" pitchFamily="34" charset="-122"/>
                <a:cs typeface="Arial" pitchFamily="34" charset="-120"/>
              </a:rPr>
              <a:t>Config files referenced from app.json; CNG regenerates native projects</a:t>
            </a:r>
            <a:endParaRPr lang="en-US" sz="1400" dirty="0"/>
          </a:p>
        </p:txBody>
      </p:sp>
      <p:sp>
        <p:nvSpPr>
          <p:cNvPr id="8" name="card-241"/>
          <p:cNvSpPr/>
          <p:nvPr/>
        </p:nvSpPr>
        <p:spPr>
          <a:xfrm>
            <a:off x="6233008" y="1325880"/>
            <a:ext cx="5410048" cy="2286000"/>
          </a:xfrm>
          <a:prstGeom prst="roundRect">
            <a:avLst>
              <a:gd name="adj" fmla="val 4800"/>
            </a:avLst>
          </a:prstGeom>
          <a:solidFill>
            <a:schemeClr val="bg2"/>
          </a:solidFill>
          <a:ln/>
        </p:spPr>
      </p:sp>
      <p:sp>
        <p:nvSpPr>
          <p:cNvPr id="9" name="icon-bg-242"/>
          <p:cNvSpPr/>
          <p:nvPr/>
        </p:nvSpPr>
        <p:spPr>
          <a:xfrm>
            <a:off x="6461608" y="1527048"/>
            <a:ext cx="411480" cy="411480"/>
          </a:xfrm>
          <a:prstGeom prst="ellipse">
            <a:avLst/>
          </a:prstGeom>
          <a:solidFill>
            <a:schemeClr val="accent1"/>
          </a:solidFill>
          <a:ln/>
        </p:spPr>
      </p:sp>
      <p:pic>
        <p:nvPicPr>
          <p:cNvPr id="10" name="icon-243" descr="preencoded.png">    </p:cNvPr>
          <p:cNvPicPr>
            <a:picLocks noChangeAspect="1"/>
          </p:cNvPicPr>
          <p:nvPr/>
        </p:nvPicPr>
        <p:blipFill>
          <a:blip r:embed="rId2"/>
          <a:stretch>
            <a:fillRect/>
          </a:stretch>
        </p:blipFill>
        <p:spPr>
          <a:xfrm>
            <a:off x="6552133" y="1617574"/>
            <a:ext cx="230429" cy="230429"/>
          </a:xfrm>
          <a:prstGeom prst="rect">
            <a:avLst/>
          </a:prstGeom>
        </p:spPr>
      </p:pic>
      <p:sp>
        <p:nvSpPr>
          <p:cNvPr id="11" name="text-244"/>
          <p:cNvSpPr txBox="1"/>
          <p:nvPr/>
        </p:nvSpPr>
        <p:spPr>
          <a:xfrm>
            <a:off x="7010248" y="1545336"/>
            <a:ext cx="4404208" cy="384048"/>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Session mirroring</a:t>
            </a:r>
            <a:endParaRPr lang="en-US" sz="1600" dirty="0"/>
          </a:p>
        </p:txBody>
      </p:sp>
      <p:sp>
        <p:nvSpPr>
          <p:cNvPr id="12" name="text-245"/>
          <p:cNvSpPr txBox="1"/>
          <p:nvPr/>
        </p:nvSpPr>
        <p:spPr>
          <a:xfrm>
            <a:off x="6507328" y="2057400"/>
            <a:ext cx="4907128" cy="15087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2"/>
                </a:solidFill>
                <a:latin typeface="Arial" pitchFamily="34" charset="0"/>
                <a:ea typeface="Arial" pitchFamily="34" charset="-122"/>
                <a:cs typeface="Arial" pitchFamily="34" charset="-120"/>
              </a:rPr>
              <a:t>onIdTokenChanged builds a Session; listeners fire only when the user changes, not on hourly token refresh</a:t>
            </a:r>
            <a:endParaRPr lang="en-US" sz="1400" dirty="0"/>
          </a:p>
          <a:p>
            <a:pPr marL="177800" indent="-177800">
              <a:spcAft>
                <a:spcPts val="600"/>
              </a:spcAft>
              <a:buSzPct val="100000"/>
              <a:buChar char="•"/>
            </a:pPr>
            <a:r>
              <a:rPr lang="en-US" sz="1300" dirty="0">
                <a:solidFill>
                  <a:schemeClr val="tx2"/>
                </a:solidFill>
                <a:latin typeface="Arial" pitchFamily="34" charset="0"/>
                <a:ea typeface="Arial" pitchFamily="34" charset="-122"/>
                <a:cs typeface="Arial" pitchFamily="34" charset="-120"/>
              </a:rPr>
              <a:t>A version counter drops stale async results; sign-up holds events until the display name is saved</a:t>
            </a:r>
            <a:endParaRPr lang="en-US" sz="1400" dirty="0"/>
          </a:p>
          <a:p>
            <a:pPr marL="177800" indent="-177800">
              <a:spcAft>
                <a:spcPts val="600"/>
              </a:spcAft>
              <a:buSzPct val="100000"/>
              <a:buChar char="•"/>
            </a:pPr>
            <a:r>
              <a:rPr lang="en-US" sz="1300" dirty="0">
                <a:solidFill>
                  <a:schemeClr val="tx2"/>
                </a:solidFill>
                <a:latin typeface="Arial" pitchFamily="34" charset="0"/>
                <a:ea typeface="Arial" pitchFamily="34" charset="-122"/>
                <a:cs typeface="Arial" pitchFamily="34" charset="-120"/>
              </a:rPr>
              <a:t>getSession waits for Firebase’s restore, capped at 5 s</a:t>
            </a:r>
            <a:endParaRPr lang="en-US" sz="1400" dirty="0"/>
          </a:p>
        </p:txBody>
      </p:sp>
      <p:sp>
        <p:nvSpPr>
          <p:cNvPr id="13" name="card-246"/>
          <p:cNvSpPr/>
          <p:nvPr/>
        </p:nvSpPr>
        <p:spPr>
          <a:xfrm>
            <a:off x="548640" y="3794760"/>
            <a:ext cx="5410048" cy="2286000"/>
          </a:xfrm>
          <a:prstGeom prst="roundRect">
            <a:avLst>
              <a:gd name="adj" fmla="val 4800"/>
            </a:avLst>
          </a:prstGeom>
          <a:solidFill>
            <a:schemeClr val="bg2"/>
          </a:solidFill>
          <a:ln/>
        </p:spPr>
      </p:sp>
      <p:sp>
        <p:nvSpPr>
          <p:cNvPr id="14" name="icon-bg-247"/>
          <p:cNvSpPr/>
          <p:nvPr/>
        </p:nvSpPr>
        <p:spPr>
          <a:xfrm>
            <a:off x="777240" y="3995928"/>
            <a:ext cx="411480" cy="411480"/>
          </a:xfrm>
          <a:prstGeom prst="ellipse">
            <a:avLst/>
          </a:prstGeom>
          <a:solidFill>
            <a:schemeClr val="accent1"/>
          </a:solidFill>
          <a:ln/>
        </p:spPr>
      </p:sp>
      <p:pic>
        <p:nvPicPr>
          <p:cNvPr id="15" name="icon-248" descr="preencoded.png">    </p:cNvPr>
          <p:cNvPicPr>
            <a:picLocks noChangeAspect="1"/>
          </p:cNvPicPr>
          <p:nvPr/>
        </p:nvPicPr>
        <p:blipFill>
          <a:blip r:embed="rId3"/>
          <a:stretch>
            <a:fillRect/>
          </a:stretch>
        </p:blipFill>
        <p:spPr>
          <a:xfrm>
            <a:off x="867766" y="4086454"/>
            <a:ext cx="230429" cy="230429"/>
          </a:xfrm>
          <a:prstGeom prst="rect">
            <a:avLst/>
          </a:prstGeom>
        </p:spPr>
      </p:pic>
      <p:sp>
        <p:nvSpPr>
          <p:cNvPr id="16" name="text-249"/>
          <p:cNvSpPr txBox="1"/>
          <p:nvPr/>
        </p:nvSpPr>
        <p:spPr>
          <a:xfrm>
            <a:off x="1325880" y="4014216"/>
            <a:ext cx="4404208" cy="384048"/>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Errors and security</a:t>
            </a:r>
            <a:endParaRPr lang="en-US" sz="1600" dirty="0"/>
          </a:p>
        </p:txBody>
      </p:sp>
      <p:sp>
        <p:nvSpPr>
          <p:cNvPr id="17" name="text-250"/>
          <p:cNvSpPr txBox="1"/>
          <p:nvPr/>
        </p:nvSpPr>
        <p:spPr>
          <a:xfrm>
            <a:off x="822960" y="4526280"/>
            <a:ext cx="4907128" cy="15087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2"/>
                </a:solidFill>
                <a:latin typeface="Arial" pitchFamily="34" charset="0"/>
                <a:ea typeface="Arial" pitchFamily="34" charset="-122"/>
                <a:cs typeface="Arial" pitchFamily="34" charset="-120"/>
              </a:rPr>
              <a:t>Firebase codes mapped to typed ServiceError copy; raw messages never reach the UI</a:t>
            </a:r>
            <a:endParaRPr lang="en-US" sz="1400" dirty="0"/>
          </a:p>
          <a:p>
            <a:pPr marL="177800" indent="-177800">
              <a:spcAft>
                <a:spcPts val="600"/>
              </a:spcAft>
              <a:buSzPct val="100000"/>
              <a:buChar char="•"/>
            </a:pPr>
            <a:r>
              <a:rPr lang="en-US" sz="1300" dirty="0">
                <a:solidFill>
                  <a:schemeClr val="tx2"/>
                </a:solidFill>
                <a:latin typeface="Arial" pitchFamily="34" charset="0"/>
                <a:ea typeface="Arial" pitchFamily="34" charset="-122"/>
                <a:cs typeface="Arial" pitchFamily="34" charset="-120"/>
              </a:rPr>
              <a:t>Password reset gives the same reply whether or not the account exists (no enumeration)</a:t>
            </a:r>
            <a:endParaRPr lang="en-US" sz="1400" dirty="0"/>
          </a:p>
          <a:p>
            <a:pPr marL="177800" indent="-177800">
              <a:spcAft>
                <a:spcPts val="600"/>
              </a:spcAft>
              <a:buSzPct val="100000"/>
              <a:buChar char="•"/>
            </a:pPr>
            <a:r>
              <a:rPr lang="en-US" sz="1300" dirty="0">
                <a:solidFill>
                  <a:schemeClr val="tx2"/>
                </a:solidFill>
                <a:latin typeface="Arial" pitchFamily="34" charset="0"/>
                <a:ea typeface="Arial" pitchFamily="34" charset="-122"/>
                <a:cs typeface="Arial" pitchFamily="34" charset="-120"/>
              </a:rPr>
              <a:t>Input validated with the same zod schema as the mock</a:t>
            </a:r>
            <a:endParaRPr lang="en-US" sz="1400" dirty="0"/>
          </a:p>
        </p:txBody>
      </p:sp>
      <p:sp>
        <p:nvSpPr>
          <p:cNvPr id="18" name="card-251"/>
          <p:cNvSpPr/>
          <p:nvPr/>
        </p:nvSpPr>
        <p:spPr>
          <a:xfrm>
            <a:off x="6233008" y="3794760"/>
            <a:ext cx="5410048" cy="2286000"/>
          </a:xfrm>
          <a:prstGeom prst="roundRect">
            <a:avLst>
              <a:gd name="adj" fmla="val 4800"/>
            </a:avLst>
          </a:prstGeom>
          <a:solidFill>
            <a:schemeClr val="bg2"/>
          </a:solidFill>
          <a:ln/>
        </p:spPr>
      </p:sp>
      <p:sp>
        <p:nvSpPr>
          <p:cNvPr id="19" name="icon-bg-252"/>
          <p:cNvSpPr/>
          <p:nvPr/>
        </p:nvSpPr>
        <p:spPr>
          <a:xfrm>
            <a:off x="6461608" y="3995928"/>
            <a:ext cx="411480" cy="411480"/>
          </a:xfrm>
          <a:prstGeom prst="ellipse">
            <a:avLst/>
          </a:prstGeom>
          <a:solidFill>
            <a:schemeClr val="accent1"/>
          </a:solidFill>
          <a:ln/>
        </p:spPr>
      </p:sp>
      <p:pic>
        <p:nvPicPr>
          <p:cNvPr id="20" name="icon-253" descr="preencoded.png">    </p:cNvPr>
          <p:cNvPicPr>
            <a:picLocks noChangeAspect="1"/>
          </p:cNvPicPr>
          <p:nvPr/>
        </p:nvPicPr>
        <p:blipFill>
          <a:blip r:embed="rId4"/>
          <a:stretch>
            <a:fillRect/>
          </a:stretch>
        </p:blipFill>
        <p:spPr>
          <a:xfrm>
            <a:off x="6552133" y="4086454"/>
            <a:ext cx="230429" cy="230429"/>
          </a:xfrm>
          <a:prstGeom prst="rect">
            <a:avLst/>
          </a:prstGeom>
        </p:spPr>
      </p:pic>
      <p:sp>
        <p:nvSpPr>
          <p:cNvPr id="21" name="text-254"/>
          <p:cNvSpPr txBox="1"/>
          <p:nvPr/>
        </p:nvSpPr>
        <p:spPr>
          <a:xfrm>
            <a:off x="7010248" y="4014216"/>
            <a:ext cx="4404208" cy="384048"/>
          </a:xfrm>
          <a:prstGeom prst="rect">
            <a:avLst/>
          </a:prstGeom>
          <a:noFill/>
          <a:ln/>
        </p:spPr>
        <p:txBody>
          <a:bodyPr wrap="square" lIns="0" tIns="0" rIns="0" bIns="0" rtlCol="0" anchor="ctr"/>
          <a:lstStyle/>
          <a:p>
            <a:pPr indent="0" marL="0">
              <a:buNone/>
            </a:pPr>
            <a:r>
              <a:rPr lang="en-US" sz="1600" b="1" dirty="0">
                <a:solidFill>
                  <a:schemeClr val="tx1"/>
                </a:solidFill>
                <a:latin typeface="Arial" pitchFamily="34" charset="0"/>
                <a:ea typeface="Arial" pitchFamily="34" charset="-122"/>
                <a:cs typeface="Arial" pitchFamily="34" charset="-120"/>
              </a:rPr>
              <a:t>Gating and identity</a:t>
            </a:r>
            <a:endParaRPr lang="en-US" sz="1600" dirty="0"/>
          </a:p>
        </p:txBody>
      </p:sp>
      <p:sp>
        <p:nvSpPr>
          <p:cNvPr id="22" name="text-255"/>
          <p:cNvSpPr txBox="1"/>
          <p:nvPr/>
        </p:nvSpPr>
        <p:spPr>
          <a:xfrm>
            <a:off x="6507328" y="4526280"/>
            <a:ext cx="4907128" cy="1508760"/>
          </a:xfrm>
          <a:prstGeom prst="rect">
            <a:avLst/>
          </a:prstGeom>
          <a:noFill/>
          <a:ln/>
        </p:spPr>
        <p:txBody>
          <a:bodyPr wrap="square" lIns="0" tIns="0" rIns="0" bIns="0" rtlCol="0" anchor="t"/>
          <a:lstStyle/>
          <a:p>
            <a:pPr marL="177800" indent="-177800">
              <a:spcAft>
                <a:spcPts val="600"/>
              </a:spcAft>
              <a:buSzPct val="100000"/>
              <a:buChar char="•"/>
            </a:pPr>
            <a:r>
              <a:rPr lang="en-US" sz="1300" dirty="0">
                <a:solidFill>
                  <a:schemeClr val="tx2"/>
                </a:solidFill>
                <a:latin typeface="Arial" pitchFamily="34" charset="0"/>
                <a:ea typeface="Arial" pitchFamily="34" charset="-122"/>
                <a:cs typeface="Arial" pitchFamily="34" charset="-120"/>
              </a:rPr>
              <a:t>useRequireAuth: a guest’s action is stored, the sign-in sheet opens, and the action runs after sign-in</a:t>
            </a:r>
            <a:endParaRPr lang="en-US" sz="1400" dirty="0"/>
          </a:p>
          <a:p>
            <a:pPr marL="177800" indent="-177800">
              <a:spcAft>
                <a:spcPts val="600"/>
              </a:spcAft>
              <a:buSzPct val="100000"/>
              <a:buChar char="•"/>
            </a:pPr>
            <a:r>
              <a:rPr lang="en-US" sz="1300" dirty="0">
                <a:solidFill>
                  <a:schemeClr val="tx2"/>
                </a:solidFill>
                <a:latin typeface="Arial" pitchFamily="34" charset="0"/>
                <a:ea typeface="Arial" pitchFamily="34" charset="-122"/>
                <a:cs typeface="Arial" pitchFamily="34" charset="-120"/>
              </a:rPr>
              <a:t>Sample data keys off the Firebase uid; the sample creator account maps to its seeded campaigns by email</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dirty="0">
                <a:solidFill>
                  <a:schemeClr val="tx1"/>
                </a:solidFill>
                <a:latin typeface="Georgia" pitchFamily="34" charset="0"/>
                <a:ea typeface="Georgia" pitchFamily="34" charset="-122"/>
                <a:cs typeface="Georgia" pitchFamily="34" charset="-120"/>
              </a:rPr>
              <a:t>File-based routing with 23 typed routes</a:t>
            </a:r>
            <a:endParaRPr lang="en-US" sz="3200" dirty="0"/>
          </a:p>
        </p:txBody>
      </p:sp>
      <p:sp>
        <p:nvSpPr>
          <p:cNvPr id="3" name="card-256"/>
          <p:cNvSpPr/>
          <p:nvPr/>
        </p:nvSpPr>
        <p:spPr>
          <a:xfrm>
            <a:off x="548640" y="1371600"/>
            <a:ext cx="2743200" cy="2880360"/>
          </a:xfrm>
          <a:prstGeom prst="roundRect">
            <a:avLst>
              <a:gd name="adj" fmla="val 4000"/>
            </a:avLst>
          </a:prstGeom>
          <a:solidFill>
            <a:schemeClr val="bg2"/>
          </a:solidFill>
          <a:ln/>
        </p:spPr>
      </p:sp>
      <p:sp>
        <p:nvSpPr>
          <p:cNvPr id="4" name="text-257"/>
          <p:cNvSpPr txBox="1"/>
          <p:nvPr/>
        </p:nvSpPr>
        <p:spPr>
          <a:xfrm>
            <a:off x="777240" y="1508760"/>
            <a:ext cx="2286000"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Tabs (JS tab bar)</a:t>
            </a:r>
            <a:endParaRPr lang="en-US" sz="1600" dirty="0"/>
          </a:p>
        </p:txBody>
      </p:sp>
      <p:sp>
        <p:nvSpPr>
          <p:cNvPr id="5" name="route-258"/>
          <p:cNvSpPr/>
          <p:nvPr/>
        </p:nvSpPr>
        <p:spPr>
          <a:xfrm>
            <a:off x="777240" y="1965960"/>
            <a:ext cx="2286000" cy="274320"/>
          </a:xfrm>
          <a:prstGeom prst="roundRect">
            <a:avLst>
              <a:gd name="adj" fmla="val 26667"/>
            </a:avLst>
          </a:prstGeom>
          <a:solidFill>
            <a:schemeClr val="bg1"/>
          </a:solidFill>
          <a:ln/>
        </p:spPr>
      </p:sp>
      <p:sp>
        <p:nvSpPr>
          <p:cNvPr id="6" name="text-259"/>
          <p:cNvSpPr txBox="1"/>
          <p:nvPr/>
        </p:nvSpPr>
        <p:spPr>
          <a:xfrm>
            <a:off x="868680" y="1965960"/>
            <a:ext cx="2103120" cy="274320"/>
          </a:xfrm>
          <a:prstGeom prst="rect">
            <a:avLst/>
          </a:prstGeom>
          <a:noFill/>
          <a:ln/>
        </p:spPr>
        <p:txBody>
          <a:bodyPr wrap="square" lIns="0" tIns="0" rIns="0" bIns="0" rtlCol="0" anchor="ctr"/>
          <a:lstStyle/>
          <a:p>
            <a:pPr indent="0" marL="0">
              <a:buNone/>
            </a:pPr>
            <a:r>
              <a:rPr lang="en-US" sz="1100" dirty="0">
                <a:solidFill>
                  <a:schemeClr val="accent1"/>
                </a:solidFill>
                <a:latin typeface="Courier New" pitchFamily="34" charset="0"/>
                <a:ea typeface="Courier New" pitchFamily="34" charset="-122"/>
                <a:cs typeface="Courier New" pitchFamily="34" charset="-120"/>
              </a:rPr>
              <a:t>Home</a:t>
            </a:r>
            <a:endParaRPr lang="en-US" sz="1100" dirty="0"/>
          </a:p>
        </p:txBody>
      </p:sp>
      <p:sp>
        <p:nvSpPr>
          <p:cNvPr id="7" name="route-260"/>
          <p:cNvSpPr/>
          <p:nvPr/>
        </p:nvSpPr>
        <p:spPr>
          <a:xfrm>
            <a:off x="777240" y="2295144"/>
            <a:ext cx="2286000" cy="274320"/>
          </a:xfrm>
          <a:prstGeom prst="roundRect">
            <a:avLst>
              <a:gd name="adj" fmla="val 26667"/>
            </a:avLst>
          </a:prstGeom>
          <a:solidFill>
            <a:schemeClr val="bg1"/>
          </a:solidFill>
          <a:ln/>
        </p:spPr>
      </p:sp>
      <p:sp>
        <p:nvSpPr>
          <p:cNvPr id="8" name="text-261"/>
          <p:cNvSpPr txBox="1"/>
          <p:nvPr/>
        </p:nvSpPr>
        <p:spPr>
          <a:xfrm>
            <a:off x="868680" y="2295144"/>
            <a:ext cx="2103120" cy="274320"/>
          </a:xfrm>
          <a:prstGeom prst="rect">
            <a:avLst/>
          </a:prstGeom>
          <a:noFill/>
          <a:ln/>
        </p:spPr>
        <p:txBody>
          <a:bodyPr wrap="square" lIns="0" tIns="0" rIns="0" bIns="0" rtlCol="0" anchor="ctr"/>
          <a:lstStyle/>
          <a:p>
            <a:pPr indent="0" marL="0">
              <a:buNone/>
            </a:pPr>
            <a:r>
              <a:rPr lang="en-US" sz="1100" dirty="0">
                <a:solidFill>
                  <a:schemeClr val="accent1"/>
                </a:solidFill>
                <a:latin typeface="Courier New" pitchFamily="34" charset="0"/>
                <a:ea typeface="Courier New" pitchFamily="34" charset="-122"/>
                <a:cs typeface="Courier New" pitchFamily="34" charset="-120"/>
              </a:rPr>
              <a:t>Explore</a:t>
            </a:r>
            <a:endParaRPr lang="en-US" sz="1100" dirty="0"/>
          </a:p>
        </p:txBody>
      </p:sp>
      <p:sp>
        <p:nvSpPr>
          <p:cNvPr id="9" name="route-262"/>
          <p:cNvSpPr/>
          <p:nvPr/>
        </p:nvSpPr>
        <p:spPr>
          <a:xfrm>
            <a:off x="777240" y="2624328"/>
            <a:ext cx="2286000" cy="274320"/>
          </a:xfrm>
          <a:prstGeom prst="roundRect">
            <a:avLst>
              <a:gd name="adj" fmla="val 26667"/>
            </a:avLst>
          </a:prstGeom>
          <a:solidFill>
            <a:schemeClr val="bg1"/>
          </a:solidFill>
          <a:ln/>
        </p:spPr>
      </p:sp>
      <p:sp>
        <p:nvSpPr>
          <p:cNvPr id="10" name="text-263"/>
          <p:cNvSpPr txBox="1"/>
          <p:nvPr/>
        </p:nvSpPr>
        <p:spPr>
          <a:xfrm>
            <a:off x="868680" y="2624328"/>
            <a:ext cx="2103120" cy="274320"/>
          </a:xfrm>
          <a:prstGeom prst="rect">
            <a:avLst/>
          </a:prstGeom>
          <a:noFill/>
          <a:ln/>
        </p:spPr>
        <p:txBody>
          <a:bodyPr wrap="square" lIns="0" tIns="0" rIns="0" bIns="0" rtlCol="0" anchor="ctr"/>
          <a:lstStyle/>
          <a:p>
            <a:pPr indent="0" marL="0">
              <a:buNone/>
            </a:pPr>
            <a:r>
              <a:rPr lang="en-US" sz="1100" dirty="0">
                <a:solidFill>
                  <a:schemeClr val="accent1"/>
                </a:solidFill>
                <a:latin typeface="Courier New" pitchFamily="34" charset="0"/>
                <a:ea typeface="Courier New" pitchFamily="34" charset="-122"/>
                <a:cs typeface="Courier New" pitchFamily="34" charset="-120"/>
              </a:rPr>
              <a:t>Create</a:t>
            </a:r>
            <a:endParaRPr lang="en-US" sz="1100" dirty="0"/>
          </a:p>
        </p:txBody>
      </p:sp>
      <p:sp>
        <p:nvSpPr>
          <p:cNvPr id="11" name="route-264"/>
          <p:cNvSpPr/>
          <p:nvPr/>
        </p:nvSpPr>
        <p:spPr>
          <a:xfrm>
            <a:off x="777240" y="2953512"/>
            <a:ext cx="2286000" cy="274320"/>
          </a:xfrm>
          <a:prstGeom prst="roundRect">
            <a:avLst>
              <a:gd name="adj" fmla="val 26667"/>
            </a:avLst>
          </a:prstGeom>
          <a:solidFill>
            <a:schemeClr val="bg1"/>
          </a:solidFill>
          <a:ln/>
        </p:spPr>
      </p:sp>
      <p:sp>
        <p:nvSpPr>
          <p:cNvPr id="12" name="text-265"/>
          <p:cNvSpPr txBox="1"/>
          <p:nvPr/>
        </p:nvSpPr>
        <p:spPr>
          <a:xfrm>
            <a:off x="868680" y="2953512"/>
            <a:ext cx="2103120" cy="274320"/>
          </a:xfrm>
          <a:prstGeom prst="rect">
            <a:avLst/>
          </a:prstGeom>
          <a:noFill/>
          <a:ln/>
        </p:spPr>
        <p:txBody>
          <a:bodyPr wrap="square" lIns="0" tIns="0" rIns="0" bIns="0" rtlCol="0" anchor="ctr"/>
          <a:lstStyle/>
          <a:p>
            <a:pPr indent="0" marL="0">
              <a:buNone/>
            </a:pPr>
            <a:r>
              <a:rPr lang="en-US" sz="1100" dirty="0">
                <a:solidFill>
                  <a:schemeClr val="accent1"/>
                </a:solidFill>
                <a:latin typeface="Courier New" pitchFamily="34" charset="0"/>
                <a:ea typeface="Courier New" pitchFamily="34" charset="-122"/>
                <a:cs typeface="Courier New" pitchFamily="34" charset="-120"/>
              </a:rPr>
              <a:t>Activity</a:t>
            </a:r>
            <a:endParaRPr lang="en-US" sz="1100" dirty="0"/>
          </a:p>
        </p:txBody>
      </p:sp>
      <p:sp>
        <p:nvSpPr>
          <p:cNvPr id="13" name="route-266"/>
          <p:cNvSpPr/>
          <p:nvPr/>
        </p:nvSpPr>
        <p:spPr>
          <a:xfrm>
            <a:off x="777240" y="3282696"/>
            <a:ext cx="2286000" cy="274320"/>
          </a:xfrm>
          <a:prstGeom prst="roundRect">
            <a:avLst>
              <a:gd name="adj" fmla="val 26667"/>
            </a:avLst>
          </a:prstGeom>
          <a:solidFill>
            <a:schemeClr val="bg1"/>
          </a:solidFill>
          <a:ln/>
        </p:spPr>
      </p:sp>
      <p:sp>
        <p:nvSpPr>
          <p:cNvPr id="14" name="text-267"/>
          <p:cNvSpPr txBox="1"/>
          <p:nvPr/>
        </p:nvSpPr>
        <p:spPr>
          <a:xfrm>
            <a:off x="868680" y="3282696"/>
            <a:ext cx="2103120" cy="274320"/>
          </a:xfrm>
          <a:prstGeom prst="rect">
            <a:avLst/>
          </a:prstGeom>
          <a:noFill/>
          <a:ln/>
        </p:spPr>
        <p:txBody>
          <a:bodyPr wrap="square" lIns="0" tIns="0" rIns="0" bIns="0" rtlCol="0" anchor="ctr"/>
          <a:lstStyle/>
          <a:p>
            <a:pPr indent="0" marL="0">
              <a:buNone/>
            </a:pPr>
            <a:r>
              <a:rPr lang="en-US" sz="1100" dirty="0">
                <a:solidFill>
                  <a:schemeClr val="accent1"/>
                </a:solidFill>
                <a:latin typeface="Courier New" pitchFamily="34" charset="0"/>
                <a:ea typeface="Courier New" pitchFamily="34" charset="-122"/>
                <a:cs typeface="Courier New" pitchFamily="34" charset="-120"/>
              </a:rPr>
              <a:t>Profile</a:t>
            </a:r>
            <a:endParaRPr lang="en-US" sz="1100" dirty="0"/>
          </a:p>
        </p:txBody>
      </p:sp>
      <p:sp>
        <p:nvSpPr>
          <p:cNvPr id="15" name="card-268"/>
          <p:cNvSpPr/>
          <p:nvPr/>
        </p:nvSpPr>
        <p:spPr>
          <a:xfrm>
            <a:off x="3520440" y="1371600"/>
            <a:ext cx="5120640" cy="2880360"/>
          </a:xfrm>
          <a:prstGeom prst="roundRect">
            <a:avLst>
              <a:gd name="adj" fmla="val 3810"/>
            </a:avLst>
          </a:prstGeom>
          <a:solidFill>
            <a:schemeClr val="bg2"/>
          </a:solidFill>
          <a:ln/>
        </p:spPr>
      </p:sp>
      <p:sp>
        <p:nvSpPr>
          <p:cNvPr id="16" name="text-269"/>
          <p:cNvSpPr txBox="1"/>
          <p:nvPr/>
        </p:nvSpPr>
        <p:spPr>
          <a:xfrm>
            <a:off x="3749040" y="1508760"/>
            <a:ext cx="4663440"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Stack screens</a:t>
            </a:r>
            <a:endParaRPr lang="en-US" sz="1600" dirty="0"/>
          </a:p>
        </p:txBody>
      </p:sp>
      <p:sp>
        <p:nvSpPr>
          <p:cNvPr id="17" name="route-270"/>
          <p:cNvSpPr/>
          <p:nvPr/>
        </p:nvSpPr>
        <p:spPr>
          <a:xfrm>
            <a:off x="3749040" y="1965960"/>
            <a:ext cx="2263140" cy="274320"/>
          </a:xfrm>
          <a:prstGeom prst="roundRect">
            <a:avLst>
              <a:gd name="adj" fmla="val 26667"/>
            </a:avLst>
          </a:prstGeom>
          <a:solidFill>
            <a:schemeClr val="bg1"/>
          </a:solidFill>
          <a:ln/>
        </p:spPr>
      </p:sp>
      <p:sp>
        <p:nvSpPr>
          <p:cNvPr id="18" name="text-271"/>
          <p:cNvSpPr txBox="1"/>
          <p:nvPr/>
        </p:nvSpPr>
        <p:spPr>
          <a:xfrm>
            <a:off x="3840480" y="1965960"/>
            <a:ext cx="2080260" cy="274320"/>
          </a:xfrm>
          <a:prstGeom prst="rect">
            <a:avLst/>
          </a:prstGeom>
          <a:noFill/>
          <a:ln/>
        </p:spPr>
        <p:txBody>
          <a:bodyPr wrap="square" lIns="0" tIns="0" rIns="0" bIns="0" rtlCol="0" anchor="ctr"/>
          <a:lstStyle/>
          <a:p>
            <a:pPr indent="0" marL="0">
              <a:buNone/>
            </a:pPr>
            <a:r>
              <a:rPr lang="en-US" sz="1100" dirty="0">
                <a:solidFill>
                  <a:schemeClr val="accent1"/>
                </a:solidFill>
                <a:latin typeface="Courier New" pitchFamily="34" charset="0"/>
                <a:ea typeface="Courier New" pitchFamily="34" charset="-122"/>
                <a:cs typeface="Courier New" pitchFamily="34" charset="-120"/>
              </a:rPr>
              <a:t>campaign/[id]</a:t>
            </a:r>
            <a:endParaRPr lang="en-US" sz="1100" dirty="0"/>
          </a:p>
        </p:txBody>
      </p:sp>
      <p:sp>
        <p:nvSpPr>
          <p:cNvPr id="19" name="route-272"/>
          <p:cNvSpPr/>
          <p:nvPr/>
        </p:nvSpPr>
        <p:spPr>
          <a:xfrm>
            <a:off x="6149340" y="1965960"/>
            <a:ext cx="2263140" cy="274320"/>
          </a:xfrm>
          <a:prstGeom prst="roundRect">
            <a:avLst>
              <a:gd name="adj" fmla="val 26667"/>
            </a:avLst>
          </a:prstGeom>
          <a:solidFill>
            <a:schemeClr val="bg1"/>
          </a:solidFill>
          <a:ln/>
        </p:spPr>
      </p:sp>
      <p:sp>
        <p:nvSpPr>
          <p:cNvPr id="20" name="text-273"/>
          <p:cNvSpPr txBox="1"/>
          <p:nvPr/>
        </p:nvSpPr>
        <p:spPr>
          <a:xfrm>
            <a:off x="6240780" y="1965960"/>
            <a:ext cx="2080260" cy="274320"/>
          </a:xfrm>
          <a:prstGeom prst="rect">
            <a:avLst/>
          </a:prstGeom>
          <a:noFill/>
          <a:ln/>
        </p:spPr>
        <p:txBody>
          <a:bodyPr wrap="square" lIns="0" tIns="0" rIns="0" bIns="0" rtlCol="0" anchor="ctr"/>
          <a:lstStyle/>
          <a:p>
            <a:pPr indent="0" marL="0">
              <a:buNone/>
            </a:pPr>
            <a:r>
              <a:rPr lang="en-US" sz="1100" dirty="0">
                <a:solidFill>
                  <a:schemeClr val="accent1"/>
                </a:solidFill>
                <a:latin typeface="Courier New" pitchFamily="34" charset="0"/>
                <a:ea typeface="Courier New" pitchFamily="34" charset="-122"/>
                <a:cs typeface="Courier New" pitchFamily="34" charset="-120"/>
              </a:rPr>
              <a:t>draft/[id]</a:t>
            </a:r>
            <a:endParaRPr lang="en-US" sz="1100" dirty="0"/>
          </a:p>
        </p:txBody>
      </p:sp>
      <p:sp>
        <p:nvSpPr>
          <p:cNvPr id="21" name="route-274"/>
          <p:cNvSpPr/>
          <p:nvPr/>
        </p:nvSpPr>
        <p:spPr>
          <a:xfrm>
            <a:off x="3749040" y="2295144"/>
            <a:ext cx="2263140" cy="274320"/>
          </a:xfrm>
          <a:prstGeom prst="roundRect">
            <a:avLst>
              <a:gd name="adj" fmla="val 26667"/>
            </a:avLst>
          </a:prstGeom>
          <a:solidFill>
            <a:schemeClr val="bg1"/>
          </a:solidFill>
          <a:ln/>
        </p:spPr>
      </p:sp>
      <p:sp>
        <p:nvSpPr>
          <p:cNvPr id="22" name="text-275"/>
          <p:cNvSpPr txBox="1"/>
          <p:nvPr/>
        </p:nvSpPr>
        <p:spPr>
          <a:xfrm>
            <a:off x="3840480" y="2295144"/>
            <a:ext cx="2080260" cy="274320"/>
          </a:xfrm>
          <a:prstGeom prst="rect">
            <a:avLst/>
          </a:prstGeom>
          <a:noFill/>
          <a:ln/>
        </p:spPr>
        <p:txBody>
          <a:bodyPr wrap="square" lIns="0" tIns="0" rIns="0" bIns="0" rtlCol="0" anchor="ctr"/>
          <a:lstStyle/>
          <a:p>
            <a:pPr indent="0" marL="0">
              <a:buNone/>
            </a:pPr>
            <a:r>
              <a:rPr lang="en-US" sz="1100" dirty="0">
                <a:solidFill>
                  <a:schemeClr val="accent1"/>
                </a:solidFill>
                <a:latin typeface="Courier New" pitchFamily="34" charset="0"/>
                <a:ea typeface="Courier New" pitchFamily="34" charset="-122"/>
                <a:cs typeface="Courier New" pitchFamily="34" charset="-120"/>
              </a:rPr>
              <a:t>draft/[id]/preview</a:t>
            </a:r>
            <a:endParaRPr lang="en-US" sz="1100" dirty="0"/>
          </a:p>
        </p:txBody>
      </p:sp>
      <p:sp>
        <p:nvSpPr>
          <p:cNvPr id="23" name="route-276"/>
          <p:cNvSpPr/>
          <p:nvPr/>
        </p:nvSpPr>
        <p:spPr>
          <a:xfrm>
            <a:off x="6149340" y="2295144"/>
            <a:ext cx="2263140" cy="274320"/>
          </a:xfrm>
          <a:prstGeom prst="roundRect">
            <a:avLst>
              <a:gd name="adj" fmla="val 26667"/>
            </a:avLst>
          </a:prstGeom>
          <a:solidFill>
            <a:schemeClr val="bg1"/>
          </a:solidFill>
          <a:ln/>
        </p:spPr>
      </p:sp>
      <p:sp>
        <p:nvSpPr>
          <p:cNvPr id="24" name="text-277"/>
          <p:cNvSpPr txBox="1"/>
          <p:nvPr/>
        </p:nvSpPr>
        <p:spPr>
          <a:xfrm>
            <a:off x="6240780" y="2295144"/>
            <a:ext cx="2080260" cy="274320"/>
          </a:xfrm>
          <a:prstGeom prst="rect">
            <a:avLst/>
          </a:prstGeom>
          <a:noFill/>
          <a:ln/>
        </p:spPr>
        <p:txBody>
          <a:bodyPr wrap="square" lIns="0" tIns="0" rIns="0" bIns="0" rtlCol="0" anchor="ctr"/>
          <a:lstStyle/>
          <a:p>
            <a:pPr indent="0" marL="0">
              <a:buNone/>
            </a:pPr>
            <a:r>
              <a:rPr lang="en-US" sz="1100" dirty="0">
                <a:solidFill>
                  <a:schemeClr val="accent1"/>
                </a:solidFill>
                <a:latin typeface="Courier New" pitchFamily="34" charset="0"/>
                <a:ea typeface="Courier New" pitchFamily="34" charset="-122"/>
                <a:cs typeface="Courier New" pitchFamily="34" charset="-120"/>
              </a:rPr>
              <a:t>manage/[id]</a:t>
            </a:r>
            <a:endParaRPr lang="en-US" sz="1100" dirty="0"/>
          </a:p>
        </p:txBody>
      </p:sp>
      <p:sp>
        <p:nvSpPr>
          <p:cNvPr id="25" name="route-278"/>
          <p:cNvSpPr/>
          <p:nvPr/>
        </p:nvSpPr>
        <p:spPr>
          <a:xfrm>
            <a:off x="3749040" y="2624328"/>
            <a:ext cx="2263140" cy="274320"/>
          </a:xfrm>
          <a:prstGeom prst="roundRect">
            <a:avLst>
              <a:gd name="adj" fmla="val 26667"/>
            </a:avLst>
          </a:prstGeom>
          <a:solidFill>
            <a:schemeClr val="bg1"/>
          </a:solidFill>
          <a:ln/>
        </p:spPr>
      </p:sp>
      <p:sp>
        <p:nvSpPr>
          <p:cNvPr id="26" name="text-279"/>
          <p:cNvSpPr txBox="1"/>
          <p:nvPr/>
        </p:nvSpPr>
        <p:spPr>
          <a:xfrm>
            <a:off x="3840480" y="2624328"/>
            <a:ext cx="2080260" cy="274320"/>
          </a:xfrm>
          <a:prstGeom prst="rect">
            <a:avLst/>
          </a:prstGeom>
          <a:noFill/>
          <a:ln/>
        </p:spPr>
        <p:txBody>
          <a:bodyPr wrap="square" lIns="0" tIns="0" rIns="0" bIns="0" rtlCol="0" anchor="ctr"/>
          <a:lstStyle/>
          <a:p>
            <a:pPr indent="0" marL="0">
              <a:buNone/>
            </a:pPr>
            <a:r>
              <a:rPr lang="en-US" sz="1100" dirty="0">
                <a:solidFill>
                  <a:schemeClr val="accent1"/>
                </a:solidFill>
                <a:latin typeface="Courier New" pitchFamily="34" charset="0"/>
                <a:ea typeface="Courier New" pitchFamily="34" charset="-122"/>
                <a:cs typeface="Courier New" pitchFamily="34" charset="-120"/>
              </a:rPr>
              <a:t>report/[id]</a:t>
            </a:r>
            <a:endParaRPr lang="en-US" sz="1100" dirty="0"/>
          </a:p>
        </p:txBody>
      </p:sp>
      <p:sp>
        <p:nvSpPr>
          <p:cNvPr id="27" name="route-280"/>
          <p:cNvSpPr/>
          <p:nvPr/>
        </p:nvSpPr>
        <p:spPr>
          <a:xfrm>
            <a:off x="6149340" y="2624328"/>
            <a:ext cx="2263140" cy="274320"/>
          </a:xfrm>
          <a:prstGeom prst="roundRect">
            <a:avLst>
              <a:gd name="adj" fmla="val 26667"/>
            </a:avLst>
          </a:prstGeom>
          <a:solidFill>
            <a:schemeClr val="bg1"/>
          </a:solidFill>
          <a:ln/>
        </p:spPr>
      </p:sp>
      <p:sp>
        <p:nvSpPr>
          <p:cNvPr id="28" name="text-281"/>
          <p:cNvSpPr txBox="1"/>
          <p:nvPr/>
        </p:nvSpPr>
        <p:spPr>
          <a:xfrm>
            <a:off x="6240780" y="2624328"/>
            <a:ext cx="2080260" cy="274320"/>
          </a:xfrm>
          <a:prstGeom prst="rect">
            <a:avLst/>
          </a:prstGeom>
          <a:noFill/>
          <a:ln/>
        </p:spPr>
        <p:txBody>
          <a:bodyPr wrap="square" lIns="0" tIns="0" rIns="0" bIns="0" rtlCol="0" anchor="ctr"/>
          <a:lstStyle/>
          <a:p>
            <a:pPr indent="0" marL="0">
              <a:buNone/>
            </a:pPr>
            <a:r>
              <a:rPr lang="en-US" sz="1100" dirty="0">
                <a:solidFill>
                  <a:schemeClr val="accent1"/>
                </a:solidFill>
                <a:latin typeface="Courier New" pitchFamily="34" charset="0"/>
                <a:ea typeface="Courier New" pitchFamily="34" charset="-122"/>
                <a:cs typeface="Courier New" pitchFamily="34" charset="-120"/>
              </a:rPr>
              <a:t>receipt/[id]</a:t>
            </a:r>
            <a:endParaRPr lang="en-US" sz="1100" dirty="0"/>
          </a:p>
        </p:txBody>
      </p:sp>
      <p:sp>
        <p:nvSpPr>
          <p:cNvPr id="29" name="route-282"/>
          <p:cNvSpPr/>
          <p:nvPr/>
        </p:nvSpPr>
        <p:spPr>
          <a:xfrm>
            <a:off x="3749040" y="2953512"/>
            <a:ext cx="2263140" cy="274320"/>
          </a:xfrm>
          <a:prstGeom prst="roundRect">
            <a:avLst>
              <a:gd name="adj" fmla="val 26667"/>
            </a:avLst>
          </a:prstGeom>
          <a:solidFill>
            <a:schemeClr val="bg1"/>
          </a:solidFill>
          <a:ln/>
        </p:spPr>
      </p:sp>
      <p:sp>
        <p:nvSpPr>
          <p:cNvPr id="30" name="text-283"/>
          <p:cNvSpPr txBox="1"/>
          <p:nvPr/>
        </p:nvSpPr>
        <p:spPr>
          <a:xfrm>
            <a:off x="3840480" y="2953512"/>
            <a:ext cx="2080260" cy="274320"/>
          </a:xfrm>
          <a:prstGeom prst="rect">
            <a:avLst/>
          </a:prstGeom>
          <a:noFill/>
          <a:ln/>
        </p:spPr>
        <p:txBody>
          <a:bodyPr wrap="square" lIns="0" tIns="0" rIns="0" bIns="0" rtlCol="0" anchor="ctr"/>
          <a:lstStyle/>
          <a:p>
            <a:pPr indent="0" marL="0">
              <a:buNone/>
            </a:pPr>
            <a:r>
              <a:rPr lang="en-US" sz="1100" dirty="0">
                <a:solidFill>
                  <a:schemeClr val="accent1"/>
                </a:solidFill>
                <a:latin typeface="Courier New" pitchFamily="34" charset="0"/>
                <a:ea typeface="Courier New" pitchFamily="34" charset="-122"/>
                <a:cs typeface="Courier New" pitchFamily="34" charset="-120"/>
              </a:rPr>
              <a:t>submitted/[id]</a:t>
            </a:r>
            <a:endParaRPr lang="en-US" sz="1100" dirty="0"/>
          </a:p>
        </p:txBody>
      </p:sp>
      <p:sp>
        <p:nvSpPr>
          <p:cNvPr id="31" name="route-284"/>
          <p:cNvSpPr/>
          <p:nvPr/>
        </p:nvSpPr>
        <p:spPr>
          <a:xfrm>
            <a:off x="6149340" y="2953512"/>
            <a:ext cx="2263140" cy="274320"/>
          </a:xfrm>
          <a:prstGeom prst="roundRect">
            <a:avLst>
              <a:gd name="adj" fmla="val 26667"/>
            </a:avLst>
          </a:prstGeom>
          <a:solidFill>
            <a:schemeClr val="bg1"/>
          </a:solidFill>
          <a:ln/>
        </p:spPr>
      </p:sp>
      <p:sp>
        <p:nvSpPr>
          <p:cNvPr id="32" name="text-285"/>
          <p:cNvSpPr txBox="1"/>
          <p:nvPr/>
        </p:nvSpPr>
        <p:spPr>
          <a:xfrm>
            <a:off x="6240780" y="2953512"/>
            <a:ext cx="2080260" cy="274320"/>
          </a:xfrm>
          <a:prstGeom prst="rect">
            <a:avLst/>
          </a:prstGeom>
          <a:noFill/>
          <a:ln/>
        </p:spPr>
        <p:txBody>
          <a:bodyPr wrap="square" lIns="0" tIns="0" rIns="0" bIns="0" rtlCol="0" anchor="ctr"/>
          <a:lstStyle/>
          <a:p>
            <a:pPr indent="0" marL="0">
              <a:buNone/>
            </a:pPr>
            <a:r>
              <a:rPr lang="en-US" sz="1100" dirty="0">
                <a:solidFill>
                  <a:schemeClr val="accent1"/>
                </a:solidFill>
                <a:latin typeface="Courier New" pitchFamily="34" charset="0"/>
                <a:ea typeface="Courier New" pitchFamily="34" charset="-122"/>
                <a:cs typeface="Courier New" pitchFamily="34" charset="-120"/>
              </a:rPr>
              <a:t>dashboard</a:t>
            </a:r>
            <a:endParaRPr lang="en-US" sz="1100" dirty="0"/>
          </a:p>
        </p:txBody>
      </p:sp>
      <p:sp>
        <p:nvSpPr>
          <p:cNvPr id="33" name="route-286"/>
          <p:cNvSpPr/>
          <p:nvPr/>
        </p:nvSpPr>
        <p:spPr>
          <a:xfrm>
            <a:off x="3749040" y="3282696"/>
            <a:ext cx="2263140" cy="274320"/>
          </a:xfrm>
          <a:prstGeom prst="roundRect">
            <a:avLst>
              <a:gd name="adj" fmla="val 26667"/>
            </a:avLst>
          </a:prstGeom>
          <a:solidFill>
            <a:schemeClr val="bg1"/>
          </a:solidFill>
          <a:ln/>
        </p:spPr>
      </p:sp>
      <p:sp>
        <p:nvSpPr>
          <p:cNvPr id="34" name="text-287"/>
          <p:cNvSpPr txBox="1"/>
          <p:nvPr/>
        </p:nvSpPr>
        <p:spPr>
          <a:xfrm>
            <a:off x="3840480" y="3282696"/>
            <a:ext cx="2080260" cy="274320"/>
          </a:xfrm>
          <a:prstGeom prst="rect">
            <a:avLst/>
          </a:prstGeom>
          <a:noFill/>
          <a:ln/>
        </p:spPr>
        <p:txBody>
          <a:bodyPr wrap="square" lIns="0" tIns="0" rIns="0" bIns="0" rtlCol="0" anchor="ctr"/>
          <a:lstStyle/>
          <a:p>
            <a:pPr indent="0" marL="0">
              <a:buNone/>
            </a:pPr>
            <a:r>
              <a:rPr lang="en-US" sz="1100" dirty="0">
                <a:solidFill>
                  <a:schemeClr val="accent1"/>
                </a:solidFill>
                <a:latin typeface="Courier New" pitchFamily="34" charset="0"/>
                <a:ea typeface="Courier New" pitchFamily="34" charset="-122"/>
                <a:cs typeface="Courier New" pitchFamily="34" charset="-120"/>
              </a:rPr>
              <a:t>payments</a:t>
            </a:r>
            <a:endParaRPr lang="en-US" sz="1100" dirty="0"/>
          </a:p>
        </p:txBody>
      </p:sp>
      <p:sp>
        <p:nvSpPr>
          <p:cNvPr id="35" name="route-288"/>
          <p:cNvSpPr/>
          <p:nvPr/>
        </p:nvSpPr>
        <p:spPr>
          <a:xfrm>
            <a:off x="6149340" y="3282696"/>
            <a:ext cx="2263140" cy="274320"/>
          </a:xfrm>
          <a:prstGeom prst="roundRect">
            <a:avLst>
              <a:gd name="adj" fmla="val 26667"/>
            </a:avLst>
          </a:prstGeom>
          <a:solidFill>
            <a:schemeClr val="bg1"/>
          </a:solidFill>
          <a:ln/>
        </p:spPr>
      </p:sp>
      <p:sp>
        <p:nvSpPr>
          <p:cNvPr id="36" name="text-289"/>
          <p:cNvSpPr txBox="1"/>
          <p:nvPr/>
        </p:nvSpPr>
        <p:spPr>
          <a:xfrm>
            <a:off x="6240780" y="3282696"/>
            <a:ext cx="2080260" cy="274320"/>
          </a:xfrm>
          <a:prstGeom prst="rect">
            <a:avLst/>
          </a:prstGeom>
          <a:noFill/>
          <a:ln/>
        </p:spPr>
        <p:txBody>
          <a:bodyPr wrap="square" lIns="0" tIns="0" rIns="0" bIns="0" rtlCol="0" anchor="ctr"/>
          <a:lstStyle/>
          <a:p>
            <a:pPr indent="0" marL="0">
              <a:buNone/>
            </a:pPr>
            <a:r>
              <a:rPr lang="en-US" sz="1100" dirty="0">
                <a:solidFill>
                  <a:schemeClr val="accent1"/>
                </a:solidFill>
                <a:latin typeface="Courier New" pitchFamily="34" charset="0"/>
                <a:ea typeface="Courier New" pitchFamily="34" charset="-122"/>
                <a:cs typeface="Courier New" pitchFamily="34" charset="-120"/>
              </a:rPr>
              <a:t>collection/[kind]</a:t>
            </a:r>
            <a:endParaRPr lang="en-US" sz="1100" dirty="0"/>
          </a:p>
        </p:txBody>
      </p:sp>
      <p:sp>
        <p:nvSpPr>
          <p:cNvPr id="37" name="route-290"/>
          <p:cNvSpPr/>
          <p:nvPr/>
        </p:nvSpPr>
        <p:spPr>
          <a:xfrm>
            <a:off x="3749040" y="3611880"/>
            <a:ext cx="2263140" cy="274320"/>
          </a:xfrm>
          <a:prstGeom prst="roundRect">
            <a:avLst>
              <a:gd name="adj" fmla="val 26667"/>
            </a:avLst>
          </a:prstGeom>
          <a:solidFill>
            <a:schemeClr val="bg1"/>
          </a:solidFill>
          <a:ln/>
        </p:spPr>
      </p:sp>
      <p:sp>
        <p:nvSpPr>
          <p:cNvPr id="38" name="text-291"/>
          <p:cNvSpPr txBox="1"/>
          <p:nvPr/>
        </p:nvSpPr>
        <p:spPr>
          <a:xfrm>
            <a:off x="3840480" y="3611880"/>
            <a:ext cx="2080260" cy="274320"/>
          </a:xfrm>
          <a:prstGeom prst="rect">
            <a:avLst/>
          </a:prstGeom>
          <a:noFill/>
          <a:ln/>
        </p:spPr>
        <p:txBody>
          <a:bodyPr wrap="square" lIns="0" tIns="0" rIns="0" bIns="0" rtlCol="0" anchor="ctr"/>
          <a:lstStyle/>
          <a:p>
            <a:pPr indent="0" marL="0">
              <a:buNone/>
            </a:pPr>
            <a:r>
              <a:rPr lang="en-US" sz="1100" dirty="0">
                <a:solidFill>
                  <a:schemeClr val="accent1"/>
                </a:solidFill>
                <a:latin typeface="Courier New" pitchFamily="34" charset="0"/>
                <a:ea typeface="Courier New" pitchFamily="34" charset="-122"/>
                <a:cs typeface="Courier New" pitchFamily="34" charset="-120"/>
              </a:rPr>
              <a:t>info/[slug]</a:t>
            </a:r>
            <a:endParaRPr lang="en-US" sz="1100" dirty="0"/>
          </a:p>
        </p:txBody>
      </p:sp>
      <p:sp>
        <p:nvSpPr>
          <p:cNvPr id="39" name="route-292"/>
          <p:cNvSpPr/>
          <p:nvPr/>
        </p:nvSpPr>
        <p:spPr>
          <a:xfrm>
            <a:off x="6149340" y="3611880"/>
            <a:ext cx="2263140" cy="274320"/>
          </a:xfrm>
          <a:prstGeom prst="roundRect">
            <a:avLst>
              <a:gd name="adj" fmla="val 26667"/>
            </a:avLst>
          </a:prstGeom>
          <a:solidFill>
            <a:schemeClr val="bg1"/>
          </a:solidFill>
          <a:ln/>
        </p:spPr>
      </p:sp>
      <p:sp>
        <p:nvSpPr>
          <p:cNvPr id="40" name="text-293"/>
          <p:cNvSpPr txBox="1"/>
          <p:nvPr/>
        </p:nvSpPr>
        <p:spPr>
          <a:xfrm>
            <a:off x="6240780" y="3611880"/>
            <a:ext cx="2080260" cy="274320"/>
          </a:xfrm>
          <a:prstGeom prst="rect">
            <a:avLst/>
          </a:prstGeom>
          <a:noFill/>
          <a:ln/>
        </p:spPr>
        <p:txBody>
          <a:bodyPr wrap="square" lIns="0" tIns="0" rIns="0" bIns="0" rtlCol="0" anchor="ctr"/>
          <a:lstStyle/>
          <a:p>
            <a:pPr indent="0" marL="0">
              <a:buNone/>
            </a:pPr>
            <a:r>
              <a:rPr lang="en-US" sz="1100" dirty="0">
                <a:solidFill>
                  <a:schemeClr val="accent1"/>
                </a:solidFill>
                <a:latin typeface="Courier New" pitchFamily="34" charset="0"/>
                <a:ea typeface="Courier New" pitchFamily="34" charset="-122"/>
                <a:cs typeface="Courier New" pitchFamily="34" charset="-120"/>
              </a:rPr>
              <a:t>settings/…</a:t>
            </a:r>
            <a:endParaRPr lang="en-US" sz="1100" dirty="0"/>
          </a:p>
        </p:txBody>
      </p:sp>
      <p:sp>
        <p:nvSpPr>
          <p:cNvPr id="41" name="route-294"/>
          <p:cNvSpPr/>
          <p:nvPr/>
        </p:nvSpPr>
        <p:spPr>
          <a:xfrm>
            <a:off x="3749040" y="3941064"/>
            <a:ext cx="2263140" cy="274320"/>
          </a:xfrm>
          <a:prstGeom prst="roundRect">
            <a:avLst>
              <a:gd name="adj" fmla="val 26667"/>
            </a:avLst>
          </a:prstGeom>
          <a:solidFill>
            <a:schemeClr val="bg1"/>
          </a:solidFill>
          <a:ln/>
        </p:spPr>
      </p:sp>
      <p:sp>
        <p:nvSpPr>
          <p:cNvPr id="42" name="text-295"/>
          <p:cNvSpPr txBox="1"/>
          <p:nvPr/>
        </p:nvSpPr>
        <p:spPr>
          <a:xfrm>
            <a:off x="3840480" y="3941064"/>
            <a:ext cx="2080260" cy="274320"/>
          </a:xfrm>
          <a:prstGeom prst="rect">
            <a:avLst/>
          </a:prstGeom>
          <a:noFill/>
          <a:ln/>
        </p:spPr>
        <p:txBody>
          <a:bodyPr wrap="square" lIns="0" tIns="0" rIns="0" bIns="0" rtlCol="0" anchor="ctr"/>
          <a:lstStyle/>
          <a:p>
            <a:pPr indent="0" marL="0">
              <a:buNone/>
            </a:pPr>
            <a:r>
              <a:rPr lang="en-US" sz="1100" dirty="0">
                <a:solidFill>
                  <a:schemeClr val="accent1"/>
                </a:solidFill>
                <a:latin typeface="Courier New" pitchFamily="34" charset="0"/>
                <a:ea typeface="Courier New" pitchFamily="34" charset="-122"/>
                <a:cs typeface="Courier New" pitchFamily="34" charset="-120"/>
              </a:rPr>
              <a:t>dev/…</a:t>
            </a:r>
            <a:endParaRPr lang="en-US" sz="1100" dirty="0"/>
          </a:p>
        </p:txBody>
      </p:sp>
      <p:sp>
        <p:nvSpPr>
          <p:cNvPr id="43" name="card-296"/>
          <p:cNvSpPr/>
          <p:nvPr/>
        </p:nvSpPr>
        <p:spPr>
          <a:xfrm>
            <a:off x="8869680" y="1371600"/>
            <a:ext cx="2651760" cy="2880360"/>
          </a:xfrm>
          <a:prstGeom prst="roundRect">
            <a:avLst>
              <a:gd name="adj" fmla="val 4138"/>
            </a:avLst>
          </a:prstGeom>
          <a:solidFill>
            <a:schemeClr val="bg2"/>
          </a:solidFill>
          <a:ln/>
        </p:spPr>
      </p:sp>
      <p:sp>
        <p:nvSpPr>
          <p:cNvPr id="44" name="text-297"/>
          <p:cNvSpPr txBox="1"/>
          <p:nvPr/>
        </p:nvSpPr>
        <p:spPr>
          <a:xfrm>
            <a:off x="9098280" y="1508760"/>
            <a:ext cx="2194560"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Modals</a:t>
            </a:r>
            <a:endParaRPr lang="en-US" sz="1600" dirty="0"/>
          </a:p>
        </p:txBody>
      </p:sp>
      <p:sp>
        <p:nvSpPr>
          <p:cNvPr id="45" name="route-298"/>
          <p:cNvSpPr/>
          <p:nvPr/>
        </p:nvSpPr>
        <p:spPr>
          <a:xfrm>
            <a:off x="9098280" y="1965960"/>
            <a:ext cx="2194560" cy="274320"/>
          </a:xfrm>
          <a:prstGeom prst="roundRect">
            <a:avLst>
              <a:gd name="adj" fmla="val 26667"/>
            </a:avLst>
          </a:prstGeom>
          <a:solidFill>
            <a:schemeClr val="bg1"/>
          </a:solidFill>
          <a:ln/>
        </p:spPr>
      </p:sp>
      <p:sp>
        <p:nvSpPr>
          <p:cNvPr id="46" name="text-299"/>
          <p:cNvSpPr txBox="1"/>
          <p:nvPr/>
        </p:nvSpPr>
        <p:spPr>
          <a:xfrm>
            <a:off x="9189720" y="1965960"/>
            <a:ext cx="2011680" cy="274320"/>
          </a:xfrm>
          <a:prstGeom prst="rect">
            <a:avLst/>
          </a:prstGeom>
          <a:noFill/>
          <a:ln/>
        </p:spPr>
        <p:txBody>
          <a:bodyPr wrap="square" lIns="0" tIns="0" rIns="0" bIns="0" rtlCol="0" anchor="ctr"/>
          <a:lstStyle/>
          <a:p>
            <a:pPr indent="0" marL="0">
              <a:buNone/>
            </a:pPr>
            <a:r>
              <a:rPr lang="en-US" sz="1100" dirty="0">
                <a:solidFill>
                  <a:schemeClr val="accent1"/>
                </a:solidFill>
                <a:latin typeface="Courier New" pitchFamily="34" charset="0"/>
                <a:ea typeface="Courier New" pitchFamily="34" charset="-122"/>
                <a:cs typeface="Courier New" pitchFamily="34" charset="-120"/>
              </a:rPr>
              <a:t>auth</a:t>
            </a:r>
            <a:endParaRPr lang="en-US" sz="1100" dirty="0"/>
          </a:p>
        </p:txBody>
      </p:sp>
      <p:sp>
        <p:nvSpPr>
          <p:cNvPr id="47" name="route-300"/>
          <p:cNvSpPr/>
          <p:nvPr/>
        </p:nvSpPr>
        <p:spPr>
          <a:xfrm>
            <a:off x="9098280" y="2295144"/>
            <a:ext cx="2194560" cy="274320"/>
          </a:xfrm>
          <a:prstGeom prst="roundRect">
            <a:avLst>
              <a:gd name="adj" fmla="val 26667"/>
            </a:avLst>
          </a:prstGeom>
          <a:solidFill>
            <a:schemeClr val="bg1"/>
          </a:solidFill>
          <a:ln/>
        </p:spPr>
      </p:sp>
      <p:sp>
        <p:nvSpPr>
          <p:cNvPr id="48" name="text-301"/>
          <p:cNvSpPr txBox="1"/>
          <p:nvPr/>
        </p:nvSpPr>
        <p:spPr>
          <a:xfrm>
            <a:off x="9189720" y="2295144"/>
            <a:ext cx="2011680" cy="274320"/>
          </a:xfrm>
          <a:prstGeom prst="rect">
            <a:avLst/>
          </a:prstGeom>
          <a:noFill/>
          <a:ln/>
        </p:spPr>
        <p:txBody>
          <a:bodyPr wrap="square" lIns="0" tIns="0" rIns="0" bIns="0" rtlCol="0" anchor="ctr"/>
          <a:lstStyle/>
          <a:p>
            <a:pPr indent="0" marL="0">
              <a:buNone/>
            </a:pPr>
            <a:r>
              <a:rPr lang="en-US" sz="1100" dirty="0">
                <a:solidFill>
                  <a:schemeClr val="accent1"/>
                </a:solidFill>
                <a:latin typeface="Courier New" pitchFamily="34" charset="0"/>
                <a:ea typeface="Courier New" pitchFamily="34" charset="-122"/>
                <a:cs typeface="Courier New" pitchFamily="34" charset="-120"/>
              </a:rPr>
              <a:t>campaign/[id]/back</a:t>
            </a:r>
            <a:endParaRPr lang="en-US" sz="1100" dirty="0"/>
          </a:p>
        </p:txBody>
      </p:sp>
      <p:sp>
        <p:nvSpPr>
          <p:cNvPr id="49" name="route-302"/>
          <p:cNvSpPr/>
          <p:nvPr/>
        </p:nvSpPr>
        <p:spPr>
          <a:xfrm>
            <a:off x="9098280" y="2624328"/>
            <a:ext cx="2194560" cy="274320"/>
          </a:xfrm>
          <a:prstGeom prst="roundRect">
            <a:avLst>
              <a:gd name="adj" fmla="val 26667"/>
            </a:avLst>
          </a:prstGeom>
          <a:solidFill>
            <a:schemeClr val="bg1"/>
          </a:solidFill>
          <a:ln/>
        </p:spPr>
      </p:sp>
      <p:sp>
        <p:nvSpPr>
          <p:cNvPr id="50" name="text-303"/>
          <p:cNvSpPr txBox="1"/>
          <p:nvPr/>
        </p:nvSpPr>
        <p:spPr>
          <a:xfrm>
            <a:off x="9189720" y="2624328"/>
            <a:ext cx="2011680" cy="274320"/>
          </a:xfrm>
          <a:prstGeom prst="rect">
            <a:avLst/>
          </a:prstGeom>
          <a:noFill/>
          <a:ln/>
        </p:spPr>
        <p:txBody>
          <a:bodyPr wrap="square" lIns="0" tIns="0" rIns="0" bIns="0" rtlCol="0" anchor="ctr"/>
          <a:lstStyle/>
          <a:p>
            <a:pPr indent="0" marL="0">
              <a:buNone/>
            </a:pPr>
            <a:r>
              <a:rPr lang="en-US" sz="1100" dirty="0">
                <a:solidFill>
                  <a:schemeClr val="accent1"/>
                </a:solidFill>
                <a:latin typeface="Courier New" pitchFamily="34" charset="0"/>
                <a:ea typeface="Courier New" pitchFamily="34" charset="-122"/>
                <a:cs typeface="Courier New" pitchFamily="34" charset="-120"/>
              </a:rPr>
              <a:t>voice</a:t>
            </a:r>
            <a:endParaRPr lang="en-US" sz="1100" dirty="0"/>
          </a:p>
        </p:txBody>
      </p:sp>
      <p:sp>
        <p:nvSpPr>
          <p:cNvPr id="51" name="text-304"/>
          <p:cNvSpPr txBox="1"/>
          <p:nvPr/>
        </p:nvSpPr>
        <p:spPr>
          <a:xfrm>
            <a:off x="548640" y="4526280"/>
            <a:ext cx="11094415" cy="1691640"/>
          </a:xfrm>
          <a:prstGeom prst="rect">
            <a:avLst/>
          </a:prstGeom>
          <a:noFill/>
          <a:ln/>
        </p:spPr>
        <p:txBody>
          <a:bodyPr wrap="square" lIns="0" tIns="0" rIns="0" bIns="0" rtlCol="0" anchor="t"/>
          <a:lstStyle/>
          <a:p>
            <a:pPr marL="177800" indent="-177800">
              <a:spcAft>
                <a:spcPts val="600"/>
              </a:spcAft>
              <a:buSzPct val="100000"/>
              <a:buChar char="•"/>
            </a:pPr>
            <a:r>
              <a:rPr lang="en-US" sz="1400" b="1" dirty="0">
                <a:solidFill>
                  <a:schemeClr val="tx2"/>
                </a:solidFill>
                <a:latin typeface="Arial" pitchFamily="34" charset="0"/>
                <a:ea typeface="Arial" pitchFamily="34" charset="-122"/>
                <a:cs typeface="Arial" pitchFamily="34" charset="-120"/>
              </a:rPr>
              <a:t>Typed routes:</a:t>
            </a:r>
            <a:pPr indent="0" marL="0">
              <a:buNone/>
            </a:pPr>
            <a:r>
              <a:rPr lang="en-US" sz="1400" dirty="0">
                <a:solidFill>
                  <a:schemeClr val="tx2"/>
                </a:solidFill>
                <a:latin typeface="Arial" pitchFamily="34" charset="0"/>
                <a:ea typeface="Arial" pitchFamily="34" charset="-122"/>
                <a:cs typeface="Arial" pitchFamily="34" charset="-120"/>
              </a:rPr>
              <a:t> href and params are type-checked; a renamed screen breaks the build, not the app.</a:t>
            </a:r>
            <a:endParaRPr lang="en-US" sz="1400" dirty="0"/>
          </a:p>
          <a:p>
            <a:pPr marL="177800" indent="-177800">
              <a:spcAft>
                <a:spcPts val="600"/>
              </a:spcAft>
              <a:buSzPct val="100000"/>
              <a:buChar char="•"/>
            </a:pPr>
            <a:r>
              <a:rPr lang="en-US" sz="1400" b="1" dirty="0">
                <a:solidFill>
                  <a:schemeClr val="tx2"/>
                </a:solidFill>
                <a:latin typeface="Arial" pitchFamily="34" charset="0"/>
                <a:ea typeface="Arial" pitchFamily="34" charset="-122"/>
                <a:cs typeface="Arial" pitchFamily="34" charset="-120"/>
              </a:rPr>
              <a:t>Tab switches have no animation.</a:t>
            </a:r>
            <a:pPr indent="0" marL="0">
              <a:buNone/>
            </a:pPr>
            <a:r>
              <a:rPr lang="en-US" sz="1400" dirty="0">
                <a:solidFill>
                  <a:schemeClr val="tx2"/>
                </a:solidFill>
                <a:latin typeface="Arial" pitchFamily="34" charset="0"/>
                <a:ea typeface="Arial" pitchFamily="34" charset="-122"/>
                <a:cs typeface="Arial" pitchFamily="34" charset="-120"/>
              </a:rPr>
              <a:t> The built-in scene transition could leave a tab blank when switched mid-animation (root cause of a field bug).</a:t>
            </a:r>
            <a:endParaRPr lang="en-US" sz="1400" dirty="0"/>
          </a:p>
          <a:p>
            <a:pPr marL="177800" indent="-177800">
              <a:spcAft>
                <a:spcPts val="600"/>
              </a:spcAft>
              <a:buSzPct val="100000"/>
              <a:buChar char="•"/>
            </a:pPr>
            <a:r>
              <a:rPr lang="en-US" sz="1400" b="1" dirty="0">
                <a:solidFill>
                  <a:schemeClr val="tx2"/>
                </a:solidFill>
                <a:latin typeface="Arial" pitchFamily="34" charset="0"/>
                <a:ea typeface="Arial" pitchFamily="34" charset="-122"/>
                <a:cs typeface="Arial" pitchFamily="34" charset="-120"/>
              </a:rPr>
              <a:t>Card → detail uses a fade</a:t>
            </a:r>
            <a:pPr indent="0" marL="0">
              <a:buNone/>
            </a:pPr>
            <a:r>
              <a:rPr lang="en-US" sz="1400" dirty="0">
                <a:solidFill>
                  <a:schemeClr val="tx2"/>
                </a:solidFill>
                <a:latin typeface="Arial" pitchFamily="34" charset="0"/>
                <a:ea typeface="Arial" pitchFamily="34" charset="-122"/>
                <a:cs typeface="Arial" pitchFamily="34" charset="-120"/>
              </a:rPr>
              <a:t> plus a custom shared-element-style cover flight; reduced motion turns pushes into cross-fades.</a:t>
            </a:r>
            <a:endParaRPr lang="en-US" sz="1400" dirty="0"/>
          </a:p>
          <a:p>
            <a:pPr marL="177800" indent="-177800">
              <a:spcAft>
                <a:spcPts val="600"/>
              </a:spcAft>
              <a:buSzPct val="100000"/>
              <a:buChar char="•"/>
            </a:pPr>
            <a:r>
              <a:rPr lang="en-US" sz="1400" b="1" dirty="0">
                <a:solidFill>
                  <a:schemeClr val="tx2"/>
                </a:solidFill>
                <a:latin typeface="Arial" pitchFamily="34" charset="0"/>
                <a:ea typeface="Arial" pitchFamily="34" charset="-122"/>
                <a:cs typeface="Arial" pitchFamily="34" charset="-120"/>
              </a:rPr>
              <a:t>Deep links</a:t>
            </a:r>
            <a:pPr indent="0" marL="0">
              <a:buNone/>
            </a:pPr>
            <a:r>
              <a:rPr lang="en-US" sz="1400" dirty="0">
                <a:solidFill>
                  <a:schemeClr val="tx2"/>
                </a:solidFill>
                <a:latin typeface="Arial" pitchFamily="34" charset="0"/>
                <a:ea typeface="Arial" pitchFamily="34" charset="-122"/>
                <a:cs typeface="Arial" pitchFamily="34" charset="-120"/>
              </a:rPr>
              <a:t> via the campaignapp:// scheme; unknown routes land on a not-found screen.</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dirty="0">
                <a:solidFill>
                  <a:schemeClr val="tx1"/>
                </a:solidFill>
                <a:latin typeface="Georgia" pitchFamily="34" charset="0"/>
                <a:ea typeface="Georgia" pitchFamily="34" charset="-122"/>
                <a:cs typeface="Georgia" pitchFamily="34" charset="-120"/>
              </a:rPr>
              <a:t>Every animation runs on the UI thread</a:t>
            </a:r>
            <a:endParaRPr lang="en-US" sz="3200" dirty="0"/>
          </a:p>
        </p:txBody>
      </p:sp>
      <p:sp>
        <p:nvSpPr>
          <p:cNvPr id="3" name="text-305"/>
          <p:cNvSpPr txBox="1"/>
          <p:nvPr/>
        </p:nvSpPr>
        <p:spPr>
          <a:xfrm>
            <a:off x="548640" y="1371600"/>
            <a:ext cx="5120640"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Principles</a:t>
            </a:r>
            <a:endParaRPr lang="en-US" sz="1800" dirty="0"/>
          </a:p>
        </p:txBody>
      </p:sp>
      <p:sp>
        <p:nvSpPr>
          <p:cNvPr id="4" name="text-306"/>
          <p:cNvSpPr txBox="1"/>
          <p:nvPr/>
        </p:nvSpPr>
        <p:spPr>
          <a:xfrm>
            <a:off x="548640" y="1783080"/>
            <a:ext cx="5120640" cy="4206240"/>
          </a:xfrm>
          <a:prstGeom prst="rect">
            <a:avLst/>
          </a:prstGeom>
          <a:noFill/>
          <a:ln/>
        </p:spPr>
        <p:txBody>
          <a:bodyPr wrap="square" lIns="0" tIns="0" rIns="0" bIns="0" rtlCol="0" anchor="t"/>
          <a:lstStyle/>
          <a:p>
            <a:pPr marL="177800" indent="-177800">
              <a:spcAft>
                <a:spcPts val="600"/>
              </a:spcAft>
              <a:buSzPct val="100000"/>
              <a:buChar char="•"/>
            </a:pPr>
            <a:r>
              <a:rPr lang="en-US" sz="1400" b="1" dirty="0">
                <a:solidFill>
                  <a:schemeClr val="tx2"/>
                </a:solidFill>
                <a:latin typeface="Arial" pitchFamily="34" charset="0"/>
                <a:ea typeface="Arial" pitchFamily="34" charset="-122"/>
                <a:cs typeface="Arial" pitchFamily="34" charset="-120"/>
              </a:rPr>
              <a:t>Reanimated 4 worklets</a:t>
            </a:r>
            <a:pPr indent="0" marL="0">
              <a:buNone/>
            </a:pPr>
            <a:r>
              <a:rPr lang="en-US" sz="1400" dirty="0">
                <a:solidFill>
                  <a:schemeClr val="tx2"/>
                </a:solidFill>
                <a:latin typeface="Arial" pitchFamily="34" charset="0"/>
                <a:ea typeface="Arial" pitchFamily="34" charset="-122"/>
                <a:cs typeface="Arial" pitchFamily="34" charset="-120"/>
              </a:rPr>
              <a:t> for all motion; values read with .get()/.set(), JS callbacks via scheduleOnRN.</a:t>
            </a:r>
            <a:endParaRPr lang="en-US" sz="1400" dirty="0"/>
          </a:p>
          <a:p>
            <a:pPr marL="177800" indent="-177800">
              <a:spcAft>
                <a:spcPts val="600"/>
              </a:spcAft>
              <a:buSzPct val="100000"/>
              <a:buChar char="•"/>
            </a:pPr>
            <a:r>
              <a:rPr lang="en-US" sz="1400" b="1" dirty="0">
                <a:solidFill>
                  <a:schemeClr val="tx2"/>
                </a:solidFill>
                <a:latin typeface="Arial" pitchFamily="34" charset="0"/>
                <a:ea typeface="Arial" pitchFamily="34" charset="-122"/>
                <a:cs typeface="Arial" pitchFamily="34" charset="-120"/>
              </a:rPr>
              <a:t>Shared tokens:</a:t>
            </a:r>
            <a:pPr indent="0" marL="0">
              <a:buNone/>
            </a:pPr>
            <a:r>
              <a:rPr lang="en-US" sz="1400" dirty="0">
                <a:solidFill>
                  <a:schemeClr val="tx2"/>
                </a:solidFill>
                <a:latin typeface="Arial" pitchFamily="34" charset="0"/>
                <a:ea typeface="Arial" pitchFamily="34" charset="-122"/>
                <a:cs typeface="Arial" pitchFamily="34" charset="-120"/>
              </a:rPr>
              <a:t> durations 90–900 ms, three easings, five named springs.</a:t>
            </a:r>
            <a:endParaRPr lang="en-US" sz="1400" dirty="0"/>
          </a:p>
          <a:p>
            <a:pPr marL="177800" indent="-177800">
              <a:spcAft>
                <a:spcPts val="600"/>
              </a:spcAft>
              <a:buSzPct val="100000"/>
              <a:buChar char="•"/>
            </a:pPr>
            <a:r>
              <a:rPr lang="en-US" sz="1400" b="1" dirty="0">
                <a:solidFill>
                  <a:schemeClr val="tx2"/>
                </a:solidFill>
                <a:latin typeface="Arial" pitchFamily="34" charset="0"/>
                <a:ea typeface="Arial" pitchFamily="34" charset="-122"/>
                <a:cs typeface="Arial" pitchFamily="34" charset="-120"/>
              </a:rPr>
              <a:t>Transforms over layout:</a:t>
            </a:r>
            <a:pPr indent="0" marL="0">
              <a:buNone/>
            </a:pPr>
            <a:r>
              <a:rPr lang="en-US" sz="1400" dirty="0">
                <a:solidFill>
                  <a:schemeClr val="tx2"/>
                </a:solidFill>
                <a:latin typeface="Arial" pitchFamily="34" charset="0"/>
                <a:ea typeface="Arial" pitchFamily="34" charset="-122"/>
                <a:cs typeface="Arial" pitchFamily="34" charset="-120"/>
              </a:rPr>
              <a:t> animate translate/scale/opacity, never width/height of images.</a:t>
            </a:r>
            <a:endParaRPr lang="en-US" sz="1400" dirty="0"/>
          </a:p>
          <a:p>
            <a:pPr marL="177800" indent="-177800">
              <a:spcAft>
                <a:spcPts val="600"/>
              </a:spcAft>
              <a:buSzPct val="100000"/>
              <a:buChar char="•"/>
            </a:pPr>
            <a:r>
              <a:rPr lang="en-US" sz="1400" b="1" dirty="0">
                <a:solidFill>
                  <a:schemeClr val="tx2"/>
                </a:solidFill>
                <a:latin typeface="Arial" pitchFamily="34" charset="0"/>
                <a:ea typeface="Arial" pitchFamily="34" charset="-122"/>
                <a:cs typeface="Arial" pitchFamily="34" charset="-120"/>
              </a:rPr>
              <a:t>Reduced motion, live:</a:t>
            </a:r>
            <a:pPr indent="0" marL="0">
              <a:buNone/>
            </a:pPr>
            <a:r>
              <a:rPr lang="en-US" sz="1400" dirty="0">
                <a:solidFill>
                  <a:schemeClr val="tx2"/>
                </a:solidFill>
                <a:latin typeface="Arial" pitchFamily="34" charset="0"/>
                <a:ea typeface="Arial" pitchFamily="34" charset="-122"/>
                <a:cs typeface="Arial" pitchFamily="34" charset="-120"/>
              </a:rPr>
              <a:t> a hook mirrors the OS setting (iOS Reduce Motion, Android Remove animations) and re-syncs Reanimated mid-session.</a:t>
            </a:r>
            <a:endParaRPr lang="en-US" sz="1400" dirty="0"/>
          </a:p>
        </p:txBody>
      </p:sp>
      <p:sp>
        <p:nvSpPr>
          <p:cNvPr id="5" name="text-307"/>
          <p:cNvSpPr txBox="1"/>
          <p:nvPr/>
        </p:nvSpPr>
        <p:spPr>
          <a:xfrm>
            <a:off x="6126480" y="1371600"/>
            <a:ext cx="5516575"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Card → detail cover transition</a:t>
            </a:r>
            <a:endParaRPr lang="en-US" sz="1800" dirty="0"/>
          </a:p>
        </p:txBody>
      </p:sp>
      <p:sp>
        <p:nvSpPr>
          <p:cNvPr id="6" name="card-308"/>
          <p:cNvSpPr/>
          <p:nvPr/>
        </p:nvSpPr>
        <p:spPr>
          <a:xfrm>
            <a:off x="6126480" y="1874520"/>
            <a:ext cx="5516575" cy="1188720"/>
          </a:xfrm>
          <a:prstGeom prst="roundRect">
            <a:avLst>
              <a:gd name="adj" fmla="val 9231"/>
            </a:avLst>
          </a:prstGeom>
          <a:solidFill>
            <a:schemeClr val="bg2"/>
          </a:solidFill>
          <a:ln/>
        </p:spPr>
      </p:sp>
      <p:sp>
        <p:nvSpPr>
          <p:cNvPr id="7" name="icon-bg-309"/>
          <p:cNvSpPr/>
          <p:nvPr/>
        </p:nvSpPr>
        <p:spPr>
          <a:xfrm>
            <a:off x="6355080" y="2148840"/>
            <a:ext cx="457200" cy="457200"/>
          </a:xfrm>
          <a:prstGeom prst="ellipse">
            <a:avLst/>
          </a:prstGeom>
          <a:solidFill>
            <a:schemeClr val="accent1"/>
          </a:solidFill>
          <a:ln/>
        </p:spPr>
      </p:sp>
      <p:pic>
        <p:nvPicPr>
          <p:cNvPr id="8" name="icon-310" descr="preencoded.png">    </p:cNvPr>
          <p:cNvPicPr>
            <a:picLocks noChangeAspect="1"/>
          </p:cNvPicPr>
          <p:nvPr/>
        </p:nvPicPr>
        <p:blipFill>
          <a:blip r:embed="rId1"/>
          <a:stretch>
            <a:fillRect/>
          </a:stretch>
        </p:blipFill>
        <p:spPr>
          <a:xfrm>
            <a:off x="6455664" y="2249424"/>
            <a:ext cx="256032" cy="256032"/>
          </a:xfrm>
          <a:prstGeom prst="rect">
            <a:avLst/>
          </a:prstGeom>
        </p:spPr>
      </p:pic>
      <p:sp>
        <p:nvSpPr>
          <p:cNvPr id="9" name="text-311"/>
          <p:cNvSpPr txBox="1"/>
          <p:nvPr/>
        </p:nvSpPr>
        <p:spPr>
          <a:xfrm>
            <a:off x="6995160" y="2011680"/>
            <a:ext cx="4419295" cy="347472"/>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Measure</a:t>
            </a:r>
            <a:endParaRPr lang="en-US" sz="1600" dirty="0"/>
          </a:p>
        </p:txBody>
      </p:sp>
      <p:sp>
        <p:nvSpPr>
          <p:cNvPr id="10" name="text-312"/>
          <p:cNvSpPr txBox="1"/>
          <p:nvPr/>
        </p:nvSpPr>
        <p:spPr>
          <a:xfrm>
            <a:off x="6995160" y="2350008"/>
            <a:ext cx="4419295" cy="685800"/>
          </a:xfrm>
          <a:prstGeom prst="rect">
            <a:avLst/>
          </a:prstGeom>
          <a:noFill/>
          <a:ln/>
        </p:spPr>
        <p:txBody>
          <a:bodyPr wrap="square" lIns="0" tIns="0" rIns="0" bIns="0" rtlCol="0" anchor="t"/>
          <a:lstStyle/>
          <a:p>
            <a:pPr indent="0" marL="0">
              <a:buNone/>
            </a:pPr>
            <a:r>
              <a:rPr lang="en-US" sz="1300" dirty="0">
                <a:solidFill>
                  <a:schemeClr val="tx2"/>
                </a:solidFill>
                <a:latin typeface="Arial" pitchFamily="34" charset="0"/>
                <a:ea typeface="Arial" pitchFamily="34" charset="-122"/>
                <a:cs typeface="Arial" pitchFamily="34" charset="-120"/>
              </a:rPr>
              <a:t>measureInWindow on the tapped card’s cover; rect stored in a tiny Zustand store.</a:t>
            </a:r>
            <a:endParaRPr lang="en-US" sz="1300" dirty="0"/>
          </a:p>
        </p:txBody>
      </p:sp>
      <p:sp>
        <p:nvSpPr>
          <p:cNvPr id="11" name="card-313"/>
          <p:cNvSpPr/>
          <p:nvPr/>
        </p:nvSpPr>
        <p:spPr>
          <a:xfrm>
            <a:off x="6126480" y="3246120"/>
            <a:ext cx="5516575" cy="1188720"/>
          </a:xfrm>
          <a:prstGeom prst="roundRect">
            <a:avLst>
              <a:gd name="adj" fmla="val 9231"/>
            </a:avLst>
          </a:prstGeom>
          <a:solidFill>
            <a:schemeClr val="bg2"/>
          </a:solidFill>
          <a:ln/>
        </p:spPr>
      </p:sp>
      <p:sp>
        <p:nvSpPr>
          <p:cNvPr id="12" name="icon-bg-314"/>
          <p:cNvSpPr/>
          <p:nvPr/>
        </p:nvSpPr>
        <p:spPr>
          <a:xfrm>
            <a:off x="6355080" y="3520440"/>
            <a:ext cx="457200" cy="457200"/>
          </a:xfrm>
          <a:prstGeom prst="ellipse">
            <a:avLst/>
          </a:prstGeom>
          <a:solidFill>
            <a:schemeClr val="accent1"/>
          </a:solidFill>
          <a:ln/>
        </p:spPr>
      </p:sp>
      <p:pic>
        <p:nvPicPr>
          <p:cNvPr id="13" name="icon-315" descr="preencoded.png">    </p:cNvPr>
          <p:cNvPicPr>
            <a:picLocks noChangeAspect="1"/>
          </p:cNvPicPr>
          <p:nvPr/>
        </p:nvPicPr>
        <p:blipFill>
          <a:blip r:embed="rId2"/>
          <a:stretch>
            <a:fillRect/>
          </a:stretch>
        </p:blipFill>
        <p:spPr>
          <a:xfrm>
            <a:off x="6455664" y="3621024"/>
            <a:ext cx="256032" cy="256032"/>
          </a:xfrm>
          <a:prstGeom prst="rect">
            <a:avLst/>
          </a:prstGeom>
        </p:spPr>
      </p:pic>
      <p:sp>
        <p:nvSpPr>
          <p:cNvPr id="14" name="text-316"/>
          <p:cNvSpPr txBox="1"/>
          <p:nvPr/>
        </p:nvSpPr>
        <p:spPr>
          <a:xfrm>
            <a:off x="6995160" y="3383280"/>
            <a:ext cx="4419295" cy="347472"/>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Fly</a:t>
            </a:r>
            <a:endParaRPr lang="en-US" sz="1600" dirty="0"/>
          </a:p>
        </p:txBody>
      </p:sp>
      <p:sp>
        <p:nvSpPr>
          <p:cNvPr id="15" name="text-317"/>
          <p:cNvSpPr txBox="1"/>
          <p:nvPr/>
        </p:nvSpPr>
        <p:spPr>
          <a:xfrm>
            <a:off x="6995160" y="3721608"/>
            <a:ext cx="4419295" cy="685800"/>
          </a:xfrm>
          <a:prstGeom prst="rect">
            <a:avLst/>
          </a:prstGeom>
          <a:noFill/>
          <a:ln/>
        </p:spPr>
        <p:txBody>
          <a:bodyPr wrap="square" lIns="0" tIns="0" rIns="0" bIns="0" rtlCol="0" anchor="t"/>
          <a:lstStyle/>
          <a:p>
            <a:pPr indent="0" marL="0">
              <a:buNone/>
            </a:pPr>
            <a:r>
              <a:rPr lang="en-US" sz="1300" dirty="0">
                <a:solidFill>
                  <a:schemeClr val="tx2"/>
                </a:solidFill>
                <a:latin typeface="Arial" pitchFamily="34" charset="0"/>
                <a:ea typeface="Arial" pitchFamily="34" charset="-122"/>
                <a:cs typeface="Arial" pitchFamily="34" charset="-120"/>
              </a:rPr>
              <a:t>An overlay copy flies to the header. Only a clipping frame resizes; the image inside only translates and scales.</a:t>
            </a:r>
            <a:endParaRPr lang="en-US" sz="1300" dirty="0"/>
          </a:p>
        </p:txBody>
      </p:sp>
      <p:sp>
        <p:nvSpPr>
          <p:cNvPr id="16" name="card-318"/>
          <p:cNvSpPr/>
          <p:nvPr/>
        </p:nvSpPr>
        <p:spPr>
          <a:xfrm>
            <a:off x="6126480" y="4617720"/>
            <a:ext cx="5516575" cy="1188720"/>
          </a:xfrm>
          <a:prstGeom prst="roundRect">
            <a:avLst>
              <a:gd name="adj" fmla="val 9231"/>
            </a:avLst>
          </a:prstGeom>
          <a:solidFill>
            <a:schemeClr val="bg2"/>
          </a:solidFill>
          <a:ln/>
        </p:spPr>
      </p:sp>
      <p:sp>
        <p:nvSpPr>
          <p:cNvPr id="17" name="icon-bg-319"/>
          <p:cNvSpPr/>
          <p:nvPr/>
        </p:nvSpPr>
        <p:spPr>
          <a:xfrm>
            <a:off x="6355080" y="4892040"/>
            <a:ext cx="457200" cy="457200"/>
          </a:xfrm>
          <a:prstGeom prst="ellipse">
            <a:avLst/>
          </a:prstGeom>
          <a:solidFill>
            <a:schemeClr val="accent1"/>
          </a:solidFill>
          <a:ln/>
        </p:spPr>
      </p:sp>
      <p:pic>
        <p:nvPicPr>
          <p:cNvPr id="18" name="icon-320" descr="preencoded.png">    </p:cNvPr>
          <p:cNvPicPr>
            <a:picLocks noChangeAspect="1"/>
          </p:cNvPicPr>
          <p:nvPr/>
        </p:nvPicPr>
        <p:blipFill>
          <a:blip r:embed="rId3"/>
          <a:stretch>
            <a:fillRect/>
          </a:stretch>
        </p:blipFill>
        <p:spPr>
          <a:xfrm>
            <a:off x="6455664" y="4992624"/>
            <a:ext cx="256032" cy="256032"/>
          </a:xfrm>
          <a:prstGeom prst="rect">
            <a:avLst/>
          </a:prstGeom>
        </p:spPr>
      </p:pic>
      <p:sp>
        <p:nvSpPr>
          <p:cNvPr id="19" name="text-321"/>
          <p:cNvSpPr txBox="1"/>
          <p:nvPr/>
        </p:nvSpPr>
        <p:spPr>
          <a:xfrm>
            <a:off x="6995160" y="4754880"/>
            <a:ext cx="4419295" cy="347472"/>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Hand over</a:t>
            </a:r>
            <a:endParaRPr lang="en-US" sz="1600" dirty="0"/>
          </a:p>
        </p:txBody>
      </p:sp>
      <p:sp>
        <p:nvSpPr>
          <p:cNvPr id="20" name="text-322"/>
          <p:cNvSpPr txBox="1"/>
          <p:nvPr/>
        </p:nvSpPr>
        <p:spPr>
          <a:xfrm>
            <a:off x="6995160" y="5093208"/>
            <a:ext cx="4419295" cy="685800"/>
          </a:xfrm>
          <a:prstGeom prst="rect">
            <a:avLst/>
          </a:prstGeom>
          <a:noFill/>
          <a:ln/>
        </p:spPr>
        <p:txBody>
          <a:bodyPr wrap="square" lIns="0" tIns="0" rIns="0" bIns="0" rtlCol="0" anchor="t"/>
          <a:lstStyle/>
          <a:p>
            <a:pPr indent="0" marL="0">
              <a:buNone/>
            </a:pPr>
            <a:r>
              <a:rPr lang="en-US" sz="1300" dirty="0">
                <a:solidFill>
                  <a:schemeClr val="tx2"/>
                </a:solidFill>
                <a:latin typeface="Arial" pitchFamily="34" charset="0"/>
                <a:ea typeface="Arial" pitchFamily="34" charset="-122"/>
                <a:cs typeface="Arial" pitchFamily="34" charset="-120"/>
              </a:rPr>
              <a:t>On landing, the overlay hides and the in-page cover shows in the same frame. No z-index changes.</a:t>
            </a:r>
            <a:endParaRPr lang="en-US" sz="13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dirty="0">
                <a:solidFill>
                  <a:schemeClr val="tx1"/>
                </a:solidFill>
                <a:latin typeface="Georgia" pitchFamily="34" charset="0"/>
                <a:ea typeface="Georgia" pitchFamily="34" charset="-122"/>
                <a:cs typeface="Georgia" pitchFamily="34" charset="-120"/>
              </a:rPr>
              <a:t>Android bugs we fixed at the root cause</a:t>
            </a:r>
            <a:endParaRPr lang="en-US" sz="3200" dirty="0"/>
          </a:p>
        </p:txBody>
      </p:sp>
      <p:graphicFrame>
        <p:nvGraphicFramePr>
          <p:cNvPr id="19" name="android-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3291840"/>
                <a:gridCol w="4206240"/>
                <a:gridCol w="3596335"/>
              </a:tblGrid>
              <a:tr h="457200">
                <a:tc>
                  <a:txBody>
                    <a:bodyPr/>
                    <a:lstStyle/>
                    <a:p>
                      <a:pPr indent="0" marL="0">
                        <a:buNone/>
                      </a:pPr>
                      <a:r>
                        <a:rPr lang="en-US" sz="1300" b="1" dirty="0">
                          <a:solidFill>
                            <a:schemeClr val="bg1"/>
                          </a:solidFill>
                          <a:latin typeface="Arial" pitchFamily="34" charset="0"/>
                          <a:ea typeface="Arial" pitchFamily="34" charset="-122"/>
                          <a:cs typeface="Arial" pitchFamily="34" charset="-120"/>
                        </a:rPr>
                        <a:t>Symptom</a:t>
                      </a:r>
                      <a:endParaRPr lang="en-US" sz="1300" dirty="0">
                        <a:latin typeface="Arial" charset="0"/>
                        <a:ea typeface="Arial" charset="0"/>
                        <a:cs typeface="Arial" charset="0"/>
                      </a:endParaRPr>
                    </a:p>
                  </a:txBody>
                  <a:tcPr marL="137160" marR="137160" marT="54864" marB="54864"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300" b="1" dirty="0">
                          <a:solidFill>
                            <a:schemeClr val="bg1"/>
                          </a:solidFill>
                          <a:latin typeface="Arial" pitchFamily="34" charset="0"/>
                          <a:ea typeface="Arial" pitchFamily="34" charset="-122"/>
                          <a:cs typeface="Arial" pitchFamily="34" charset="-120"/>
                        </a:rPr>
                        <a:t>Root cause</a:t>
                      </a:r>
                      <a:endParaRPr lang="en-US" sz="1300" dirty="0">
                        <a:latin typeface="Arial" charset="0"/>
                        <a:ea typeface="Arial" charset="0"/>
                        <a:cs typeface="Arial" charset="0"/>
                      </a:endParaRPr>
                    </a:p>
                  </a:txBody>
                  <a:tcPr marL="137160" marR="137160" marT="54864" marB="54864"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300" b="1" dirty="0">
                          <a:solidFill>
                            <a:schemeClr val="bg1"/>
                          </a:solidFill>
                          <a:latin typeface="Arial" pitchFamily="34" charset="0"/>
                          <a:ea typeface="Arial" pitchFamily="34" charset="-122"/>
                          <a:cs typeface="Arial" pitchFamily="34" charset="-120"/>
                        </a:rPr>
                        <a:t>Fix</a:t>
                      </a:r>
                      <a:endParaRPr lang="en-US" sz="1300" dirty="0">
                        <a:latin typeface="Arial" charset="0"/>
                        <a:ea typeface="Arial" charset="0"/>
                        <a:cs typeface="Arial" charset="0"/>
                      </a:endParaRPr>
                    </a:p>
                  </a:txBody>
                  <a:tcPr marL="137160" marR="137160" marT="54864" marB="54864" anchor="ctr">
                    <a:lnL w="0" cap="flat" cmpd="sng" algn="ctr">
                      <a:noFill/>
                    </a:lnL>
                    <a:lnR w="0" cap="flat" cmpd="sng" algn="ctr">
                      <a:noFill/>
                    </a:lnR>
                    <a:lnT w="0" cap="flat" cmpd="sng" algn="ctr">
                      <a:noFill/>
                    </a:lnT>
                    <a:lnB w="0" cap="flat" cmpd="sng" algn="ctr">
                      <a:noFill/>
                    </a:lnB>
                    <a:solidFill>
                      <a:schemeClr val="tx1"/>
                    </a:solidFill>
                  </a:tcPr>
                </a:tc>
              </a:tr>
              <a:tr h="1051560">
                <a:tc>
                  <a:txBody>
                    <a:bodyPr/>
                    <a:lstStyle/>
                    <a:p>
                      <a:pPr indent="0" marL="0">
                        <a:buNone/>
                      </a:pPr>
                      <a:r>
                        <a:rPr lang="en-US" sz="1300" b="1" dirty="0">
                          <a:solidFill>
                            <a:schemeClr val="tx1"/>
                          </a:solidFill>
                          <a:latin typeface="Arial" pitchFamily="34" charset="0"/>
                          <a:ea typeface="Arial" pitchFamily="34" charset="-122"/>
                          <a:cs typeface="Arial" pitchFamily="34" charset="-120"/>
                        </a:rPr>
                        <a:t>Tabs occasionally rendered blank after quick switching</a:t>
                      </a:r>
                      <a:endParaRPr lang="en-US" sz="1300" dirty="0">
                        <a:latin typeface="Arial" charset="0"/>
                        <a:ea typeface="Arial" charset="0"/>
                        <a:cs typeface="Arial" charset="0"/>
                      </a:endParaRPr>
                    </a:p>
                  </a:txBody>
                  <a:tcPr marL="137160" marR="137160"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2"/>
                          </a:solidFill>
                          <a:latin typeface="Arial" pitchFamily="34" charset="0"/>
                          <a:ea typeface="Arial" pitchFamily="34" charset="-122"/>
                          <a:cs typeface="Arial" pitchFamily="34" charset="-120"/>
                        </a:rPr>
                        <a:t>Bottom-tab scene "shift" animation (native-driver fade + detach) interrupted mid-transition</a:t>
                      </a:r>
                      <a:endParaRPr lang="en-US" sz="1300" dirty="0">
                        <a:latin typeface="Arial" charset="0"/>
                        <a:ea typeface="Arial" charset="0"/>
                        <a:cs typeface="Arial" charset="0"/>
                      </a:endParaRPr>
                    </a:p>
                  </a:txBody>
                  <a:tcPr marL="137160" marR="137160"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2"/>
                          </a:solidFill>
                          <a:latin typeface="Arial" pitchFamily="34" charset="0"/>
                          <a:ea typeface="Arial" pitchFamily="34" charset="-122"/>
                          <a:cs typeface="Arial" pitchFamily="34" charset="-120"/>
                        </a:rPr>
                        <a:t>Tab switches are instant (animation: none); no animation on tab contents</a:t>
                      </a:r>
                      <a:endParaRPr lang="en-US" sz="1300" dirty="0">
                        <a:latin typeface="Arial" charset="0"/>
                        <a:ea typeface="Arial" charset="0"/>
                        <a:cs typeface="Arial" charset="0"/>
                      </a:endParaRPr>
                    </a:p>
                  </a:txBody>
                  <a:tcPr marL="137160" marR="137160" marT="54864" marB="54864" anchor="ctr">
                    <a:lnL w="0" cap="flat" cmpd="sng" algn="ctr">
                      <a:noFill/>
                    </a:lnL>
                    <a:lnR w="0" cap="flat" cmpd="sng" algn="ctr">
                      <a:noFill/>
                    </a:lnR>
                    <a:lnT w="0" cap="flat" cmpd="sng" algn="ctr">
                      <a:noFill/>
                    </a:lnT>
                    <a:lnB w="0" cap="flat" cmpd="sng" algn="ctr">
                      <a:noFill/>
                    </a:lnB>
                    <a:solidFill>
                      <a:schemeClr val="bg2"/>
                    </a:solidFill>
                  </a:tcPr>
                </a:tc>
              </a:tr>
              <a:tr h="1051560">
                <a:tc>
                  <a:txBody>
                    <a:bodyPr/>
                    <a:lstStyle/>
                    <a:p>
                      <a:pPr indent="0" marL="0">
                        <a:buNone/>
                      </a:pPr>
                      <a:r>
                        <a:rPr lang="en-US" sz="1300" b="1" dirty="0">
                          <a:solidFill>
                            <a:schemeClr val="tx1"/>
                          </a:solidFill>
                          <a:latin typeface="Arial" pitchFamily="34" charset="0"/>
                          <a:ea typeface="Arial" pitchFamily="34" charset="-122"/>
                          <a:cs typeface="Arial" pitchFamily="34" charset="-120"/>
                        </a:rPr>
                        <a:t>Detail cover flickered repeatedly, then the image or page went blank</a:t>
                      </a:r>
                      <a:endParaRPr lang="en-US" sz="1300" dirty="0">
                        <a:latin typeface="Arial" charset="0"/>
                        <a:ea typeface="Arial" charset="0"/>
                        <a:cs typeface="Arial" charset="0"/>
                      </a:endParaRPr>
                    </a:p>
                  </a:txBody>
                  <a:tcPr marL="137160" marR="137160"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2"/>
                          </a:solidFill>
                          <a:latin typeface="Arial" pitchFamily="34" charset="0"/>
                          <a:ea typeface="Arial" pitchFamily="34" charset="-122"/>
                          <a:cs typeface="Arial" pitchFamily="34" charset="-120"/>
                        </a:rPr>
                        <a:t>Animating image size made Android’s image loader reload and re-fade every frame; animated z-index reordered views</a:t>
                      </a:r>
                      <a:endParaRPr lang="en-US" sz="1300" dirty="0">
                        <a:latin typeface="Arial" charset="0"/>
                        <a:ea typeface="Arial" charset="0"/>
                        <a:cs typeface="Arial" charset="0"/>
                      </a:endParaRPr>
                    </a:p>
                  </a:txBody>
                  <a:tcPr marL="137160" marR="137160"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2"/>
                          </a:solidFill>
                          <a:latin typeface="Arial" pitchFamily="34" charset="0"/>
                          <a:ea typeface="Arial" pitchFamily="34" charset="-122"/>
                          <a:cs typeface="Arial" pitchFamily="34" charset="-120"/>
                        </a:rPr>
                        <a:t>Fixed-size image moved by transforms; overlay hand-over instead of z-index swaps</a:t>
                      </a:r>
                      <a:endParaRPr lang="en-US" sz="1300" dirty="0">
                        <a:latin typeface="Arial" charset="0"/>
                        <a:ea typeface="Arial" charset="0"/>
                        <a:cs typeface="Arial" charset="0"/>
                      </a:endParaRPr>
                    </a:p>
                  </a:txBody>
                  <a:tcPr marL="137160" marR="137160" marT="54864" marB="54864" anchor="ctr">
                    <a:lnL w="0" cap="flat" cmpd="sng" algn="ctr">
                      <a:noFill/>
                    </a:lnL>
                    <a:lnR w="0" cap="flat" cmpd="sng" algn="ctr">
                      <a:noFill/>
                    </a:lnR>
                    <a:lnT w="0" cap="flat" cmpd="sng" algn="ctr">
                      <a:noFill/>
                    </a:lnT>
                    <a:lnB w="0" cap="flat" cmpd="sng" algn="ctr">
                      <a:noFill/>
                    </a:lnB>
                    <a:solidFill>
                      <a:schemeClr val="bg1"/>
                    </a:solidFill>
                  </a:tcPr>
                </a:tc>
              </a:tr>
              <a:tr h="1051560">
                <a:tc>
                  <a:txBody>
                    <a:bodyPr/>
                    <a:lstStyle/>
                    <a:p>
                      <a:pPr indent="0" marL="0">
                        <a:buNone/>
                      </a:pPr>
                      <a:r>
                        <a:rPr lang="en-US" sz="1300" b="1" dirty="0">
                          <a:solidFill>
                            <a:schemeClr val="tx1"/>
                          </a:solidFill>
                          <a:latin typeface="Arial" pitchFamily="34" charset="0"/>
                          <a:ea typeface="Arial" pitchFamily="34" charset="-122"/>
                          <a:cs typeface="Arial" pitchFamily="34" charset="-120"/>
                        </a:rPr>
                        <a:t>Request for iOS scroll feel on Android</a:t>
                      </a:r>
                      <a:endParaRPr lang="en-US" sz="1300" dirty="0">
                        <a:latin typeface="Arial" charset="0"/>
                        <a:ea typeface="Arial" charset="0"/>
                        <a:cs typeface="Arial" charset="0"/>
                      </a:endParaRPr>
                    </a:p>
                  </a:txBody>
                  <a:tcPr marL="137160" marR="137160"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2"/>
                          </a:solidFill>
                          <a:latin typeface="Arial" pitchFamily="34" charset="0"/>
                          <a:ea typeface="Arial" pitchFamily="34" charset="-122"/>
                          <a:cs typeface="Arial" pitchFamily="34" charset="-120"/>
                        </a:rPr>
                        <a:t>decelerationRate tuned flings, but Android has no rubber-band; a JS rubber-band broke pull-to-refresh and nested scrolls</a:t>
                      </a:r>
                      <a:endParaRPr lang="en-US" sz="1300" dirty="0">
                        <a:latin typeface="Arial" charset="0"/>
                        <a:ea typeface="Arial" charset="0"/>
                        <a:cs typeface="Arial" charset="0"/>
                      </a:endParaRPr>
                    </a:p>
                  </a:txBody>
                  <a:tcPr marL="137160" marR="137160" marT="54864" marB="54864"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2"/>
                          </a:solidFill>
                          <a:latin typeface="Arial" pitchFamily="34" charset="0"/>
                          <a:ea typeface="Arial" pitchFamily="34" charset="-122"/>
                          <a:cs typeface="Arial" pitchFamily="34" charset="-120"/>
                        </a:rPr>
                        <a:t>Reverted by decision: platform-default scroll physics on each OS</a:t>
                      </a:r>
                      <a:endParaRPr lang="en-US" sz="1300" dirty="0">
                        <a:latin typeface="Arial" charset="0"/>
                        <a:ea typeface="Arial" charset="0"/>
                        <a:cs typeface="Arial" charset="0"/>
                      </a:endParaRPr>
                    </a:p>
                  </a:txBody>
                  <a:tcPr marL="137160" marR="137160" marT="54864" marB="54864" anchor="ctr">
                    <a:lnL w="0" cap="flat" cmpd="sng" algn="ctr">
                      <a:noFill/>
                    </a:lnL>
                    <a:lnR w="0" cap="flat" cmpd="sng" algn="ctr">
                      <a:noFill/>
                    </a:lnR>
                    <a:lnT w="0" cap="flat" cmpd="sng" algn="ctr">
                      <a:noFill/>
                    </a:lnT>
                    <a:lnB w="0" cap="flat" cmpd="sng" algn="ctr">
                      <a:noFill/>
                    </a:lnB>
                    <a:solidFill>
                      <a:schemeClr val="bg2"/>
                    </a:solidFill>
                  </a:tcPr>
                </a:tc>
              </a:tr>
              <a:tr h="822960">
                <a:tc>
                  <a:txBody>
                    <a:bodyPr/>
                    <a:lstStyle/>
                    <a:p>
                      <a:pPr indent="0" marL="0">
                        <a:buNone/>
                      </a:pPr>
                      <a:r>
                        <a:rPr lang="en-US" sz="1300" b="1" dirty="0">
                          <a:solidFill>
                            <a:schemeClr val="tx1"/>
                          </a:solidFill>
                          <a:latin typeface="Arial" pitchFamily="34" charset="0"/>
                          <a:ea typeface="Arial" pitchFamily="34" charset="-122"/>
                          <a:cs typeface="Arial" pitchFamily="34" charset="-120"/>
                        </a:rPr>
                        <a:t>Reanimated warning on the toast</a:t>
                      </a:r>
                      <a:endParaRPr lang="en-US" sz="1300" dirty="0">
                        <a:latin typeface="Arial" charset="0"/>
                        <a:ea typeface="Arial" charset="0"/>
                        <a:cs typeface="Arial" charset="0"/>
                      </a:endParaRPr>
                    </a:p>
                  </a:txBody>
                  <a:tcPr marL="137160" marR="137160"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2"/>
                          </a:solidFill>
                          <a:latin typeface="Arial" pitchFamily="34" charset="0"/>
                          <a:ea typeface="Arial" pitchFamily="34" charset="-122"/>
                          <a:cs typeface="Arial" pitchFamily="34" charset="-120"/>
                        </a:rPr>
                        <a:t>A layout animation and a drag transform on the same view</a:t>
                      </a:r>
                      <a:endParaRPr lang="en-US" sz="1300" dirty="0">
                        <a:latin typeface="Arial" charset="0"/>
                        <a:ea typeface="Arial" charset="0"/>
                        <a:cs typeface="Arial" charset="0"/>
                      </a:endParaRPr>
                    </a:p>
                  </a:txBody>
                  <a:tcPr marL="137160" marR="137160" marT="54864" marB="54864"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2"/>
                          </a:solidFill>
                          <a:latin typeface="Arial" pitchFamily="34" charset="0"/>
                          <a:ea typeface="Arial" pitchFamily="34" charset="-122"/>
                          <a:cs typeface="Arial" pitchFamily="34" charset="-120"/>
                        </a:rPr>
                        <a:t>Split into an outer animated wrapper and an inner draggable view</a:t>
                      </a:r>
                      <a:endParaRPr lang="en-US" sz="1300" dirty="0">
                        <a:latin typeface="Arial" charset="0"/>
                        <a:ea typeface="Arial" charset="0"/>
                        <a:cs typeface="Arial" charset="0"/>
                      </a:endParaRPr>
                    </a:p>
                  </a:txBody>
                  <a:tcPr marL="137160" marR="137160" marT="54864" marB="54864"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body" hasCustomPrompt="1"/>
          </p:nvPr>
        </p:nvSpPr>
        <p:spPr>
          <a:xfrm>
            <a:off x="731520" y="2240280"/>
            <a:ext cx="5486400" cy="457200"/>
          </a:xfrm>
          <a:prstGeom prst="rect">
            <a:avLst/>
          </a:prstGeom>
          <a:noFill/>
          <a:ln/>
        </p:spPr>
        <p:txBody>
          <a:bodyPr wrap="square" lIns="0" tIns="0" rIns="0" bIns="0" rtlCol="0"/>
          <a:lstStyle/>
          <a:p>
            <a:pPr indent="0" marL="0">
              <a:buNone/>
            </a:pPr>
            <a:r>
              <a:rPr lang="en-US" sz="1600" b="1" dirty="0">
                <a:solidFill>
                  <a:schemeClr val="accent2"/>
                </a:solidFill>
                <a:latin typeface="Arial" pitchFamily="34" charset="0"/>
                <a:ea typeface="Arial" pitchFamily="34" charset="-122"/>
                <a:cs typeface="Arial" pitchFamily="34" charset="-120"/>
              </a:rPr>
              <a:t>04  DELIVERY</a:t>
            </a:r>
            <a:endParaRPr lang="en-US" sz="1600" dirty="0"/>
          </a:p>
        </p:txBody>
      </p:sp>
      <p:sp>
        <p:nvSpPr>
          <p:cNvPr id="3" name="Text 0"/>
          <p:cNvSpPr/>
          <p:nvPr>
            <p:ph idx="101" type="title" hasCustomPrompt="1"/>
          </p:nvPr>
        </p:nvSpPr>
        <p:spPr>
          <a:xfrm>
            <a:off x="731520" y="2743200"/>
            <a:ext cx="10058400" cy="1005840"/>
          </a:xfrm>
          <a:prstGeom prst="rect">
            <a:avLst/>
          </a:prstGeom>
          <a:noFill/>
          <a:ln/>
        </p:spPr>
        <p:txBody>
          <a:bodyPr wrap="square" lIns="0" tIns="0" rIns="0" bIns="0" rtlCol="0" anchor="t"/>
          <a:lstStyle/>
          <a:p>
            <a:pPr algn="l" indent="0" marL="0">
              <a:buNone/>
            </a:pPr>
            <a:r>
              <a:rPr lang="en-US" sz="4200" dirty="0">
                <a:solidFill>
                  <a:schemeClr val="bg1"/>
                </a:solidFill>
                <a:latin typeface="Georgia" pitchFamily="34" charset="0"/>
                <a:ea typeface="Georgia" pitchFamily="34" charset="-122"/>
                <a:cs typeface="Georgia" pitchFamily="34" charset="-120"/>
              </a:rPr>
              <a:t>Build, quality and what comes next</a:t>
            </a:r>
            <a:endParaRPr lang="en-US" sz="4200" dirty="0"/>
          </a:p>
        </p:txBody>
      </p:sp>
      <p:sp>
        <p:nvSpPr>
          <p:cNvPr id="4" name="Text 0"/>
          <p:cNvSpPr/>
          <p:nvPr>
            <p:ph idx="102" type="body" hasCustomPrompt="1"/>
          </p:nvPr>
        </p:nvSpPr>
        <p:spPr>
          <a:xfrm>
            <a:off x="731520" y="3886200"/>
            <a:ext cx="9601200" cy="914400"/>
          </a:xfrm>
          <a:prstGeom prst="rect">
            <a:avLst/>
          </a:prstGeom>
          <a:noFill/>
          <a:ln/>
        </p:spPr>
        <p:txBody>
          <a:bodyPr wrap="square" lIns="0" tIns="0" rIns="0" bIns="0" rtlCol="0" anchor="t"/>
          <a:lstStyle/>
          <a:p>
            <a:pPr indent="0" marL="0">
              <a:buNone/>
            </a:pPr>
            <a:r>
              <a:rPr lang="en-US" sz="1800" dirty="0">
                <a:solidFill>
                  <a:schemeClr val="accent6"/>
                </a:solidFill>
                <a:latin typeface="Arial" pitchFamily="34" charset="0"/>
                <a:ea typeface="Arial" pitchFamily="34" charset="-122"/>
                <a:cs typeface="Arial" pitchFamily="34" charset="-120"/>
              </a:rPr>
              <a:t>Native configuration, quality gates, known risks and the path to production.</a:t>
            </a:r>
            <a:endParaRPr lang="en-US" sz="1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dirty="0">
                <a:solidFill>
                  <a:schemeClr val="tx1"/>
                </a:solidFill>
                <a:latin typeface="Georgia" pitchFamily="34" charset="0"/>
                <a:ea typeface="Georgia" pitchFamily="34" charset="-122"/>
                <a:cs typeface="Georgia" pitchFamily="34" charset="-120"/>
              </a:rPr>
              <a:t>Native projects are generated, never edited</a:t>
            </a:r>
            <a:endParaRPr lang="en-US" sz="3200" dirty="0"/>
          </a:p>
        </p:txBody>
      </p:sp>
      <p:sp>
        <p:nvSpPr>
          <p:cNvPr id="3" name="card-323"/>
          <p:cNvSpPr/>
          <p:nvPr/>
        </p:nvSpPr>
        <p:spPr>
          <a:xfrm>
            <a:off x="548640" y="1371600"/>
            <a:ext cx="2396414" cy="1234440"/>
          </a:xfrm>
          <a:prstGeom prst="roundRect">
            <a:avLst>
              <a:gd name="adj" fmla="val 8889"/>
            </a:avLst>
          </a:prstGeom>
          <a:solidFill>
            <a:schemeClr val="bg2"/>
          </a:solidFill>
          <a:ln/>
        </p:spPr>
      </p:sp>
      <p:sp>
        <p:nvSpPr>
          <p:cNvPr id="4" name="text-324"/>
          <p:cNvSpPr txBox="1"/>
          <p:nvPr/>
        </p:nvSpPr>
        <p:spPr>
          <a:xfrm>
            <a:off x="777240" y="1481328"/>
            <a:ext cx="1939214" cy="45720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app.json + plugins</a:t>
            </a:r>
            <a:endParaRPr lang="en-US" sz="1400" dirty="0"/>
          </a:p>
        </p:txBody>
      </p:sp>
      <p:sp>
        <p:nvSpPr>
          <p:cNvPr id="5" name="text-325"/>
          <p:cNvSpPr txBox="1"/>
          <p:nvPr/>
        </p:nvSpPr>
        <p:spPr>
          <a:xfrm>
            <a:off x="777240" y="1965960"/>
            <a:ext cx="1939214" cy="548640"/>
          </a:xfrm>
          <a:prstGeom prst="rect">
            <a:avLst/>
          </a:prstGeom>
          <a:noFill/>
          <a:ln/>
        </p:spPr>
        <p:txBody>
          <a:bodyPr wrap="square" lIns="0" tIns="0" rIns="0" bIns="0" rtlCol="0" anchor="t"/>
          <a:lstStyle/>
          <a:p>
            <a:pPr indent="0" marL="0">
              <a:buNone/>
            </a:pPr>
            <a:r>
              <a:rPr lang="en-US" sz="1300" dirty="0">
                <a:solidFill>
                  <a:schemeClr val="tx2"/>
                </a:solidFill>
                <a:latin typeface="Arial" pitchFamily="34" charset="0"/>
                <a:ea typeface="Arial" pitchFamily="34" charset="-122"/>
                <a:cs typeface="Arial" pitchFamily="34" charset="-120"/>
              </a:rPr>
              <a:t>Firebase, build properties, splash, image picker</a:t>
            </a:r>
            <a:endParaRPr lang="en-US" sz="1300" dirty="0"/>
          </a:p>
        </p:txBody>
      </p:sp>
      <p:sp>
        <p:nvSpPr>
          <p:cNvPr id="6" name="arrow-326"/>
          <p:cNvSpPr/>
          <p:nvPr/>
        </p:nvSpPr>
        <p:spPr>
          <a:xfrm>
            <a:off x="3009062" y="1984248"/>
            <a:ext cx="374904" cy="914"/>
          </a:xfrm>
          <a:prstGeom prst="line">
            <a:avLst/>
          </a:prstGeom>
          <a:noFill/>
          <a:ln w="25400">
            <a:solidFill>
              <a:schemeClr val="accent1"/>
            </a:solidFill>
            <a:prstDash val="solid"/>
            <a:tailEnd type="triangle"/>
          </a:ln>
        </p:spPr>
      </p:sp>
      <p:sp>
        <p:nvSpPr>
          <p:cNvPr id="7" name="card-327"/>
          <p:cNvSpPr/>
          <p:nvPr/>
        </p:nvSpPr>
        <p:spPr>
          <a:xfrm>
            <a:off x="3447974" y="1371600"/>
            <a:ext cx="2396414" cy="1234440"/>
          </a:xfrm>
          <a:prstGeom prst="roundRect">
            <a:avLst>
              <a:gd name="adj" fmla="val 8889"/>
            </a:avLst>
          </a:prstGeom>
          <a:solidFill>
            <a:schemeClr val="bg2"/>
          </a:solidFill>
          <a:ln/>
        </p:spPr>
      </p:sp>
      <p:sp>
        <p:nvSpPr>
          <p:cNvPr id="8" name="text-328"/>
          <p:cNvSpPr txBox="1"/>
          <p:nvPr/>
        </p:nvSpPr>
        <p:spPr>
          <a:xfrm>
            <a:off x="3676574" y="1481328"/>
            <a:ext cx="1939214" cy="45720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npx expo prebuild</a:t>
            </a:r>
            <a:endParaRPr lang="en-US" sz="1400" dirty="0"/>
          </a:p>
        </p:txBody>
      </p:sp>
      <p:sp>
        <p:nvSpPr>
          <p:cNvPr id="9" name="text-329"/>
          <p:cNvSpPr txBox="1"/>
          <p:nvPr/>
        </p:nvSpPr>
        <p:spPr>
          <a:xfrm>
            <a:off x="3676574" y="1965960"/>
            <a:ext cx="1939214" cy="548640"/>
          </a:xfrm>
          <a:prstGeom prst="rect">
            <a:avLst/>
          </a:prstGeom>
          <a:noFill/>
          <a:ln/>
        </p:spPr>
        <p:txBody>
          <a:bodyPr wrap="square" lIns="0" tIns="0" rIns="0" bIns="0" rtlCol="0" anchor="t"/>
          <a:lstStyle/>
          <a:p>
            <a:pPr indent="0" marL="0">
              <a:buNone/>
            </a:pPr>
            <a:r>
              <a:rPr lang="en-US" sz="1300" dirty="0">
                <a:solidFill>
                  <a:schemeClr val="tx2"/>
                </a:solidFill>
                <a:latin typeface="Arial" pitchFamily="34" charset="0"/>
                <a:ea typeface="Arial" pitchFamily="34" charset="-122"/>
                <a:cs typeface="Arial" pitchFamily="34" charset="-120"/>
              </a:rPr>
              <a:t>Continuous Native Generation</a:t>
            </a:r>
            <a:endParaRPr lang="en-US" sz="1300" dirty="0"/>
          </a:p>
        </p:txBody>
      </p:sp>
      <p:sp>
        <p:nvSpPr>
          <p:cNvPr id="10" name="arrow-330"/>
          <p:cNvSpPr/>
          <p:nvPr/>
        </p:nvSpPr>
        <p:spPr>
          <a:xfrm>
            <a:off x="5908396" y="1984248"/>
            <a:ext cx="374904" cy="914"/>
          </a:xfrm>
          <a:prstGeom prst="line">
            <a:avLst/>
          </a:prstGeom>
          <a:noFill/>
          <a:ln w="25400">
            <a:solidFill>
              <a:schemeClr val="accent1"/>
            </a:solidFill>
            <a:prstDash val="solid"/>
            <a:tailEnd type="triangle"/>
          </a:ln>
        </p:spPr>
      </p:sp>
      <p:sp>
        <p:nvSpPr>
          <p:cNvPr id="11" name="card-331"/>
          <p:cNvSpPr/>
          <p:nvPr/>
        </p:nvSpPr>
        <p:spPr>
          <a:xfrm>
            <a:off x="6347308" y="1371600"/>
            <a:ext cx="2396414" cy="1234440"/>
          </a:xfrm>
          <a:prstGeom prst="roundRect">
            <a:avLst>
              <a:gd name="adj" fmla="val 8889"/>
            </a:avLst>
          </a:prstGeom>
          <a:solidFill>
            <a:schemeClr val="tx1"/>
          </a:solidFill>
          <a:ln/>
        </p:spPr>
      </p:sp>
      <p:sp>
        <p:nvSpPr>
          <p:cNvPr id="12" name="text-332"/>
          <p:cNvSpPr txBox="1"/>
          <p:nvPr/>
        </p:nvSpPr>
        <p:spPr>
          <a:xfrm>
            <a:off x="6575908" y="1481328"/>
            <a:ext cx="1939214" cy="457200"/>
          </a:xfrm>
          <a:prstGeom prst="rect">
            <a:avLst/>
          </a:prstGeom>
          <a:noFill/>
          <a:ln/>
        </p:spPr>
        <p:txBody>
          <a:bodyPr wrap="square" lIns="0" tIns="0" rIns="0" bIns="0" rtlCol="0" anchor="t"/>
          <a:lstStyle/>
          <a:p>
            <a:pPr indent="0" marL="0">
              <a:buNone/>
            </a:pPr>
            <a:r>
              <a:rPr lang="en-US" sz="1400" b="1" dirty="0">
                <a:solidFill>
                  <a:schemeClr val="accent2"/>
                </a:solidFill>
                <a:latin typeface="Courier New" pitchFamily="34" charset="0"/>
                <a:ea typeface="Courier New" pitchFamily="34" charset="-122"/>
                <a:cs typeface="Courier New" pitchFamily="34" charset="-120"/>
              </a:rPr>
              <a:t>ios/ · android/</a:t>
            </a:r>
            <a:endParaRPr lang="en-US" sz="1400" dirty="0"/>
          </a:p>
        </p:txBody>
      </p:sp>
      <p:sp>
        <p:nvSpPr>
          <p:cNvPr id="13" name="text-333"/>
          <p:cNvSpPr txBox="1"/>
          <p:nvPr/>
        </p:nvSpPr>
        <p:spPr>
          <a:xfrm>
            <a:off x="6575908" y="1965960"/>
            <a:ext cx="1939214" cy="548640"/>
          </a:xfrm>
          <a:prstGeom prst="rect">
            <a:avLst/>
          </a:prstGeom>
          <a:noFill/>
          <a:ln/>
        </p:spPr>
        <p:txBody>
          <a:bodyPr wrap="square" lIns="0" tIns="0" rIns="0" bIns="0" rtlCol="0" anchor="t"/>
          <a:lstStyle/>
          <a:p>
            <a:pPr indent="0" marL="0">
              <a:buNone/>
            </a:pPr>
            <a:r>
              <a:rPr lang="en-US" sz="1300" dirty="0">
                <a:solidFill>
                  <a:schemeClr val="bg1"/>
                </a:solidFill>
                <a:latin typeface="Arial" pitchFamily="34" charset="0"/>
                <a:ea typeface="Arial" pitchFamily="34" charset="-122"/>
                <a:cs typeface="Arial" pitchFamily="34" charset="-120"/>
              </a:rPr>
              <a:t>Generated, git-ignored</a:t>
            </a:r>
            <a:endParaRPr lang="en-US" sz="1300" dirty="0"/>
          </a:p>
        </p:txBody>
      </p:sp>
      <p:sp>
        <p:nvSpPr>
          <p:cNvPr id="14" name="arrow-334"/>
          <p:cNvSpPr/>
          <p:nvPr/>
        </p:nvSpPr>
        <p:spPr>
          <a:xfrm>
            <a:off x="8807729" y="1984248"/>
            <a:ext cx="374904" cy="914"/>
          </a:xfrm>
          <a:prstGeom prst="line">
            <a:avLst/>
          </a:prstGeom>
          <a:noFill/>
          <a:ln w="25400">
            <a:solidFill>
              <a:schemeClr val="accent1"/>
            </a:solidFill>
            <a:prstDash val="solid"/>
            <a:tailEnd type="triangle"/>
          </a:ln>
        </p:spPr>
      </p:sp>
      <p:sp>
        <p:nvSpPr>
          <p:cNvPr id="15" name="card-335"/>
          <p:cNvSpPr/>
          <p:nvPr/>
        </p:nvSpPr>
        <p:spPr>
          <a:xfrm>
            <a:off x="9246641" y="1371600"/>
            <a:ext cx="2396414" cy="1234440"/>
          </a:xfrm>
          <a:prstGeom prst="roundRect">
            <a:avLst>
              <a:gd name="adj" fmla="val 8889"/>
            </a:avLst>
          </a:prstGeom>
          <a:solidFill>
            <a:schemeClr val="bg2"/>
          </a:solidFill>
          <a:ln/>
        </p:spPr>
      </p:sp>
      <p:sp>
        <p:nvSpPr>
          <p:cNvPr id="16" name="text-336"/>
          <p:cNvSpPr txBox="1"/>
          <p:nvPr/>
        </p:nvSpPr>
        <p:spPr>
          <a:xfrm>
            <a:off x="9475241" y="1481328"/>
            <a:ext cx="1939214" cy="45720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expo run:ios|android</a:t>
            </a:r>
            <a:endParaRPr lang="en-US" sz="1400" dirty="0"/>
          </a:p>
        </p:txBody>
      </p:sp>
      <p:sp>
        <p:nvSpPr>
          <p:cNvPr id="17" name="text-337"/>
          <p:cNvSpPr txBox="1"/>
          <p:nvPr/>
        </p:nvSpPr>
        <p:spPr>
          <a:xfrm>
            <a:off x="9475241" y="1965960"/>
            <a:ext cx="1939214" cy="548640"/>
          </a:xfrm>
          <a:prstGeom prst="rect">
            <a:avLst/>
          </a:prstGeom>
          <a:noFill/>
          <a:ln/>
        </p:spPr>
        <p:txBody>
          <a:bodyPr wrap="square" lIns="0" tIns="0" rIns="0" bIns="0" rtlCol="0" anchor="t"/>
          <a:lstStyle/>
          <a:p>
            <a:pPr indent="0" marL="0">
              <a:buNone/>
            </a:pPr>
            <a:r>
              <a:rPr lang="en-US" sz="1300" dirty="0">
                <a:solidFill>
                  <a:schemeClr val="tx2"/>
                </a:solidFill>
                <a:latin typeface="Arial" pitchFamily="34" charset="0"/>
                <a:ea typeface="Arial" pitchFamily="34" charset="-122"/>
                <a:cs typeface="Arial" pitchFamily="34" charset="-120"/>
              </a:rPr>
              <a:t>Local dev build (dev client)</a:t>
            </a:r>
            <a:endParaRPr lang="en-US" sz="1300" dirty="0"/>
          </a:p>
        </p:txBody>
      </p:sp>
      <p:sp>
        <p:nvSpPr>
          <p:cNvPr id="18" name="card-338"/>
          <p:cNvSpPr/>
          <p:nvPr/>
        </p:nvSpPr>
        <p:spPr>
          <a:xfrm>
            <a:off x="548640" y="2926080"/>
            <a:ext cx="3515258" cy="3200400"/>
          </a:xfrm>
          <a:prstGeom prst="roundRect">
            <a:avLst>
              <a:gd name="adj" fmla="val 3429"/>
            </a:avLst>
          </a:prstGeom>
          <a:solidFill>
            <a:schemeClr val="bg2"/>
          </a:solidFill>
          <a:ln/>
        </p:spPr>
      </p:sp>
      <p:sp>
        <p:nvSpPr>
          <p:cNvPr id="19" name="text-339"/>
          <p:cNvSpPr txBox="1"/>
          <p:nvPr/>
        </p:nvSpPr>
        <p:spPr>
          <a:xfrm>
            <a:off x="822960" y="3108960"/>
            <a:ext cx="2966618"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Native config</a:t>
            </a:r>
            <a:endParaRPr lang="en-US" sz="1800" dirty="0"/>
          </a:p>
        </p:txBody>
      </p:sp>
      <p:sp>
        <p:nvSpPr>
          <p:cNvPr id="20" name="text-340"/>
          <p:cNvSpPr txBox="1"/>
          <p:nvPr/>
        </p:nvSpPr>
        <p:spPr>
          <a:xfrm>
            <a:off x="822960" y="3611880"/>
            <a:ext cx="2966618" cy="2377440"/>
          </a:xfrm>
          <a:prstGeom prst="rect">
            <a:avLst/>
          </a:prstGeom>
          <a:noFill/>
          <a:ln/>
        </p:spPr>
        <p:txBody>
          <a:bodyPr wrap="square" lIns="0" tIns="0" rIns="0" bIns="0" rtlCol="0" anchor="t"/>
          <a:lstStyle/>
          <a:p>
            <a:pPr marL="177800" indent="-177800">
              <a:spcAft>
                <a:spcPts val="600"/>
              </a:spcAft>
              <a:buSzPct val="100000"/>
              <a:buChar char="•"/>
            </a:pPr>
            <a:r>
              <a:rPr lang="en-US" sz="1400" b="1" dirty="0">
                <a:solidFill>
                  <a:schemeClr val="tx2"/>
                </a:solidFill>
                <a:latin typeface="Arial" pitchFamily="34" charset="0"/>
                <a:ea typeface="Arial" pitchFamily="34" charset="-122"/>
                <a:cs typeface="Arial" pitchFamily="34" charset="-120"/>
              </a:rPr>
              <a:t>expo-build-properties:</a:t>
            </a:r>
            <a:pPr indent="0" marL="0">
              <a:buNone/>
            </a:pPr>
            <a:r>
              <a:rPr lang="en-US" sz="1400" dirty="0">
                <a:solidFill>
                  <a:schemeClr val="tx2"/>
                </a:solidFill>
                <a:latin typeface="Arial" pitchFamily="34" charset="0"/>
                <a:ea typeface="Arial" pitchFamily="34" charset="-122"/>
                <a:cs typeface="Arial" pitchFamily="34" charset="-120"/>
              </a:rPr>
              <a:t> iOS static frameworks for Firebase</a:t>
            </a:r>
            <a:endParaRPr lang="en-US" sz="1400" dirty="0"/>
          </a:p>
          <a:p>
            <a:pPr marL="177800" indent="-177800">
              <a:spcAft>
                <a:spcPts val="600"/>
              </a:spcAft>
              <a:buSzPct val="100000"/>
              <a:buChar char="•"/>
            </a:pPr>
            <a:r>
              <a:rPr lang="en-US" sz="1400" b="1" dirty="0">
                <a:solidFill>
                  <a:schemeClr val="tx2"/>
                </a:solidFill>
                <a:latin typeface="Arial" pitchFamily="34" charset="0"/>
                <a:ea typeface="Arial" pitchFamily="34" charset="-122"/>
                <a:cs typeface="Arial" pitchFamily="34" charset="-120"/>
              </a:rPr>
              <a:t>expo-dev-client:</a:t>
            </a:r>
            <a:pPr indent="0" marL="0">
              <a:buNone/>
            </a:pPr>
            <a:r>
              <a:rPr lang="en-US" sz="1400" dirty="0">
                <a:solidFill>
                  <a:schemeClr val="tx2"/>
                </a:solidFill>
                <a:latin typeface="Arial" pitchFamily="34" charset="0"/>
                <a:ea typeface="Arial" pitchFamily="34" charset="-122"/>
                <a:cs typeface="Arial" pitchFamily="34" charset="-120"/>
              </a:rPr>
              <a:t> standalone app, fast refresh, no Expo Go</a:t>
            </a:r>
            <a:endParaRPr lang="en-US" sz="1400" dirty="0"/>
          </a:p>
          <a:p>
            <a:pPr marL="177800" indent="-177800">
              <a:spcAft>
                <a:spcPts val="600"/>
              </a:spcAft>
              <a:buSzPct val="100000"/>
              <a:buChar char="•"/>
            </a:pPr>
            <a:r>
              <a:rPr lang="en-US" sz="1400" b="1" dirty="0">
                <a:solidFill>
                  <a:schemeClr val="tx2"/>
                </a:solidFill>
                <a:latin typeface="Arial" pitchFamily="34" charset="0"/>
                <a:ea typeface="Arial" pitchFamily="34" charset="-122"/>
                <a:cs typeface="Arial" pitchFamily="34" charset="-120"/>
              </a:rPr>
              <a:t>EAS:</a:t>
            </a:r>
            <a:pPr indent="0" marL="0">
              <a:buNone/>
            </a:pPr>
            <a:r>
              <a:rPr lang="en-US" sz="1400" dirty="0">
                <a:solidFill>
                  <a:schemeClr val="tx2"/>
                </a:solidFill>
                <a:latin typeface="Arial" pitchFamily="34" charset="0"/>
                <a:ea typeface="Arial" pitchFamily="34" charset="-122"/>
                <a:cs typeface="Arial" pitchFamily="34" charset="-120"/>
              </a:rPr>
              <a:t> APK profile staged; cloud builds not run yet</a:t>
            </a:r>
            <a:endParaRPr lang="en-US" sz="1400" dirty="0"/>
          </a:p>
        </p:txBody>
      </p:sp>
      <p:sp>
        <p:nvSpPr>
          <p:cNvPr id="21" name="card-341"/>
          <p:cNvSpPr/>
          <p:nvPr/>
        </p:nvSpPr>
        <p:spPr>
          <a:xfrm>
            <a:off x="4338218" y="2926080"/>
            <a:ext cx="3515258" cy="3200400"/>
          </a:xfrm>
          <a:prstGeom prst="roundRect">
            <a:avLst>
              <a:gd name="adj" fmla="val 3429"/>
            </a:avLst>
          </a:prstGeom>
          <a:solidFill>
            <a:schemeClr val="bg2"/>
          </a:solidFill>
          <a:ln/>
        </p:spPr>
      </p:sp>
      <p:sp>
        <p:nvSpPr>
          <p:cNvPr id="22" name="text-342"/>
          <p:cNvSpPr txBox="1"/>
          <p:nvPr/>
        </p:nvSpPr>
        <p:spPr>
          <a:xfrm>
            <a:off x="4612538" y="3108960"/>
            <a:ext cx="2966618"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Brand assets as code</a:t>
            </a:r>
            <a:endParaRPr lang="en-US" sz="1800" dirty="0"/>
          </a:p>
        </p:txBody>
      </p:sp>
      <p:sp>
        <p:nvSpPr>
          <p:cNvPr id="23" name="text-343"/>
          <p:cNvSpPr txBox="1"/>
          <p:nvPr/>
        </p:nvSpPr>
        <p:spPr>
          <a:xfrm>
            <a:off x="4612538" y="3611880"/>
            <a:ext cx="2966618" cy="2377440"/>
          </a:xfrm>
          <a:prstGeom prst="rect">
            <a:avLst/>
          </a:prstGeom>
          <a:noFill/>
          <a:ln/>
        </p:spPr>
        <p:txBody>
          <a:bodyPr wrap="square" lIns="0" tIns="0" rIns="0" bIns="0" rtlCol="0" anchor="t"/>
          <a:lstStyle/>
          <a:p>
            <a:pPr marL="177800" indent="-177800">
              <a:spcAft>
                <a:spcPts val="600"/>
              </a:spcAft>
              <a:buSzPct val="100000"/>
              <a:buChar char="•"/>
            </a:pPr>
            <a:r>
              <a:rPr lang="en-US" sz="1400" b="1" dirty="0">
                <a:solidFill>
                  <a:schemeClr val="tx2"/>
                </a:solidFill>
                <a:latin typeface="Arial" pitchFamily="34" charset="0"/>
                <a:ea typeface="Arial" pitchFamily="34" charset="-122"/>
                <a:cs typeface="Arial" pitchFamily="34" charset="-120"/>
              </a:rPr>
              <a:t>One vector mark</a:t>
            </a:r>
            <a:pPr indent="0" marL="0">
              <a:buNone/>
            </a:pPr>
            <a:r>
              <a:rPr lang="en-US" sz="1400" dirty="0">
                <a:solidFill>
                  <a:schemeClr val="tx2"/>
                </a:solidFill>
                <a:latin typeface="Arial" pitchFamily="34" charset="0"/>
                <a:ea typeface="Arial" pitchFamily="34" charset="-122"/>
                <a:cs typeface="Arial" pitchFamily="34" charset="-120"/>
              </a:rPr>
              <a:t> generates the iOS Icon Composer icon, Android adaptive layers, light/dark splash and favicon</a:t>
            </a:r>
            <a:endParaRPr lang="en-US" sz="1400" dirty="0"/>
          </a:p>
          <a:p>
            <a:pPr marL="177800" indent="-177800">
              <a:spcAft>
                <a:spcPts val="600"/>
              </a:spcAft>
              <a:buSzPct val="100000"/>
              <a:buChar char="•"/>
            </a:pPr>
            <a:r>
              <a:rPr lang="en-US" sz="1400" b="1" dirty="0">
                <a:solidFill>
                  <a:schemeClr val="tx2"/>
                </a:solidFill>
                <a:latin typeface="Arial" pitchFamily="34" charset="0"/>
                <a:ea typeface="Arial" pitchFamily="34" charset="-122"/>
                <a:cs typeface="Arial" pitchFamily="34" charset="-120"/>
              </a:rPr>
              <a:t>npm run icons</a:t>
            </a:r>
            <a:pPr indent="0" marL="0">
              <a:buNone/>
            </a:pPr>
            <a:r>
              <a:rPr lang="en-US" sz="1400" dirty="0">
                <a:solidFill>
                  <a:schemeClr val="tx2"/>
                </a:solidFill>
                <a:latin typeface="Arial" pitchFamily="34" charset="0"/>
                <a:ea typeface="Arial" pitchFamily="34" charset="-122"/>
                <a:cs typeface="Arial" pitchFamily="34" charset="-120"/>
              </a:rPr>
              <a:t> rebuilds them all; the app draws the same geometry with react-native-svg</a:t>
            </a:r>
            <a:endParaRPr lang="en-US" sz="1400" dirty="0"/>
          </a:p>
        </p:txBody>
      </p:sp>
      <p:sp>
        <p:nvSpPr>
          <p:cNvPr id="24" name="card-344"/>
          <p:cNvSpPr/>
          <p:nvPr/>
        </p:nvSpPr>
        <p:spPr>
          <a:xfrm>
            <a:off x="8127797" y="2926080"/>
            <a:ext cx="3515258" cy="3200400"/>
          </a:xfrm>
          <a:prstGeom prst="roundRect">
            <a:avLst>
              <a:gd name="adj" fmla="val 3429"/>
            </a:avLst>
          </a:prstGeom>
          <a:solidFill>
            <a:schemeClr val="bg2"/>
          </a:solidFill>
          <a:ln/>
        </p:spPr>
      </p:sp>
      <p:sp>
        <p:nvSpPr>
          <p:cNvPr id="25" name="text-345"/>
          <p:cNvSpPr txBox="1"/>
          <p:nvPr/>
        </p:nvSpPr>
        <p:spPr>
          <a:xfrm>
            <a:off x="8402117" y="3108960"/>
            <a:ext cx="2966618" cy="365760"/>
          </a:xfrm>
          <a:prstGeom prst="rect">
            <a:avLst/>
          </a:prstGeom>
          <a:noFill/>
          <a:ln/>
        </p:spPr>
        <p:txBody>
          <a:bodyPr wrap="square" lIns="0" tIns="0" rIns="0" bIns="0" rtlCol="0" anchor="t"/>
          <a:lstStyle/>
          <a:p>
            <a:pPr indent="0" marL="0">
              <a:buNone/>
            </a:pPr>
            <a:r>
              <a:rPr lang="en-US" sz="1800" b="1" dirty="0">
                <a:solidFill>
                  <a:schemeClr val="tx1"/>
                </a:solidFill>
                <a:latin typeface="Arial" pitchFamily="34" charset="0"/>
                <a:ea typeface="Arial" pitchFamily="34" charset="-122"/>
                <a:cs typeface="Arial" pitchFamily="34" charset="-120"/>
              </a:rPr>
              <a:t>Toolchain</a:t>
            </a:r>
            <a:endParaRPr lang="en-US" sz="1800" dirty="0"/>
          </a:p>
        </p:txBody>
      </p:sp>
      <p:sp>
        <p:nvSpPr>
          <p:cNvPr id="26" name="text-346"/>
          <p:cNvSpPr txBox="1"/>
          <p:nvPr/>
        </p:nvSpPr>
        <p:spPr>
          <a:xfrm>
            <a:off x="8402117" y="3611880"/>
            <a:ext cx="2966618" cy="2377440"/>
          </a:xfrm>
          <a:prstGeom prst="rect">
            <a:avLst/>
          </a:prstGeom>
          <a:noFill/>
          <a:ln/>
        </p:spPr>
        <p:txBody>
          <a:bodyPr wrap="square" lIns="0" tIns="0" rIns="0" bIns="0" rtlCol="0" anchor="t"/>
          <a:lstStyle/>
          <a:p>
            <a:pPr marL="177800" indent="-177800">
              <a:spcAft>
                <a:spcPts val="600"/>
              </a:spcAft>
              <a:buSzPct val="100000"/>
              <a:buChar char="•"/>
            </a:pPr>
            <a:r>
              <a:rPr lang="en-US" sz="1400" b="1" dirty="0">
                <a:solidFill>
                  <a:schemeClr val="tx2"/>
                </a:solidFill>
                <a:latin typeface="Arial" pitchFamily="34" charset="0"/>
                <a:ea typeface="Arial" pitchFamily="34" charset="-122"/>
                <a:cs typeface="Arial" pitchFamily="34" charset="-120"/>
              </a:rPr>
              <a:t>Pinned native modules:</a:t>
            </a:r>
            <a:pPr indent="0" marL="0">
              <a:buNone/>
            </a:pPr>
            <a:r>
              <a:rPr lang="en-US" sz="1400" dirty="0">
                <a:solidFill>
                  <a:schemeClr val="tx2"/>
                </a:solidFill>
                <a:latin typeface="Arial" pitchFamily="34" charset="0"/>
                <a:ea typeface="Arial" pitchFamily="34" charset="-122"/>
                <a:cs typeface="Arial" pitchFamily="34" charset="-120"/>
              </a:rPr>
              <a:t> exact versions for Expo-bundled packages, installed with npx expo install</a:t>
            </a:r>
            <a:endParaRPr lang="en-US" sz="1400" dirty="0"/>
          </a:p>
          <a:p>
            <a:pPr marL="177800" indent="-177800">
              <a:spcAft>
                <a:spcPts val="600"/>
              </a:spcAft>
              <a:buSzPct val="100000"/>
              <a:buChar char="•"/>
            </a:pPr>
            <a:r>
              <a:rPr lang="en-US" sz="1400" b="1" dirty="0">
                <a:solidFill>
                  <a:schemeClr val="tx2"/>
                </a:solidFill>
                <a:latin typeface="Arial" pitchFamily="34" charset="0"/>
                <a:ea typeface="Arial" pitchFamily="34" charset="-122"/>
                <a:cs typeface="Arial" pitchFamily="34" charset="-120"/>
              </a:rPr>
              <a:t>Xcode 26.3</a:t>
            </a:r>
            <a:pPr indent="0" marL="0">
              <a:buNone/>
            </a:pPr>
            <a:r>
              <a:rPr lang="en-US" sz="1400" dirty="0">
                <a:solidFill>
                  <a:schemeClr val="tx2"/>
                </a:solidFill>
                <a:latin typeface="Arial" pitchFamily="34" charset="0"/>
                <a:ea typeface="Arial" pitchFamily="34" charset="-122"/>
                <a:cs typeface="Arial" pitchFamily="34" charset="-120"/>
              </a:rPr>
              <a:t> locally; SDK 57 asks for 26.4 (needs macOS 26.2), so CI should pin it</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dirty="0">
                <a:solidFill>
                  <a:schemeClr val="tx1"/>
                </a:solidFill>
                <a:latin typeface="Georgia" pitchFamily="34" charset="0"/>
                <a:ea typeface="Georgia" pitchFamily="34" charset="-122"/>
                <a:cs typeface="Georgia" pitchFamily="34" charset="-120"/>
              </a:rPr>
              <a:t>Quality gates: strong statically, thin at runtime</a:t>
            </a:r>
            <a:endParaRPr lang="en-US" sz="3200" dirty="0"/>
          </a:p>
        </p:txBody>
      </p:sp>
      <p:sp>
        <p:nvSpPr>
          <p:cNvPr id="3" name="text-347"/>
          <p:cNvSpPr txBox="1"/>
          <p:nvPr/>
        </p:nvSpPr>
        <p:spPr>
          <a:xfrm>
            <a:off x="548640" y="1371600"/>
            <a:ext cx="5486400" cy="365760"/>
          </a:xfrm>
          <a:prstGeom prst="rect">
            <a:avLst/>
          </a:prstGeom>
          <a:noFill/>
          <a:ln/>
        </p:spPr>
        <p:txBody>
          <a:bodyPr wrap="square" lIns="0" tIns="0" rIns="0" bIns="0" rtlCol="0" anchor="t"/>
          <a:lstStyle/>
          <a:p>
            <a:pPr indent="0" marL="0">
              <a:buNone/>
            </a:pPr>
            <a:r>
              <a:rPr lang="en-US" sz="1800" b="1" dirty="0">
                <a:solidFill>
                  <a:schemeClr val="accent3"/>
                </a:solidFill>
                <a:latin typeface="Arial" pitchFamily="34" charset="0"/>
                <a:ea typeface="Arial" pitchFamily="34" charset="-122"/>
                <a:cs typeface="Arial" pitchFamily="34" charset="-120"/>
              </a:rPr>
              <a:t>In place</a:t>
            </a:r>
            <a:endParaRPr lang="en-US" sz="1800" dirty="0"/>
          </a:p>
        </p:txBody>
      </p:sp>
      <p:sp>
        <p:nvSpPr>
          <p:cNvPr id="4" name="icon-bg-348"/>
          <p:cNvSpPr/>
          <p:nvPr/>
        </p:nvSpPr>
        <p:spPr>
          <a:xfrm>
            <a:off x="548640" y="1874520"/>
            <a:ext cx="457200" cy="457200"/>
          </a:xfrm>
          <a:prstGeom prst="ellipse">
            <a:avLst/>
          </a:prstGeom>
          <a:solidFill>
            <a:schemeClr val="accent3"/>
          </a:solidFill>
          <a:ln/>
        </p:spPr>
      </p:sp>
      <p:pic>
        <p:nvPicPr>
          <p:cNvPr id="5" name="icon-349" descr="preencoded.png">    </p:cNvPr>
          <p:cNvPicPr>
            <a:picLocks noChangeAspect="1"/>
          </p:cNvPicPr>
          <p:nvPr/>
        </p:nvPicPr>
        <p:blipFill>
          <a:blip r:embed="rId1"/>
          <a:stretch>
            <a:fillRect/>
          </a:stretch>
        </p:blipFill>
        <p:spPr>
          <a:xfrm>
            <a:off x="649224" y="1975104"/>
            <a:ext cx="256032" cy="256032"/>
          </a:xfrm>
          <a:prstGeom prst="rect">
            <a:avLst/>
          </a:prstGeom>
        </p:spPr>
      </p:pic>
      <p:sp>
        <p:nvSpPr>
          <p:cNvPr id="6" name="text-350"/>
          <p:cNvSpPr txBox="1"/>
          <p:nvPr/>
        </p:nvSpPr>
        <p:spPr>
          <a:xfrm>
            <a:off x="1188720" y="1828800"/>
            <a:ext cx="5852160"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TypeScript strict + typed routes</a:t>
            </a:r>
            <a:endParaRPr lang="en-US" sz="1600" dirty="0"/>
          </a:p>
        </p:txBody>
      </p:sp>
      <p:sp>
        <p:nvSpPr>
          <p:cNvPr id="7" name="text-351"/>
          <p:cNvSpPr txBox="1"/>
          <p:nvPr/>
        </p:nvSpPr>
        <p:spPr>
          <a:xfrm>
            <a:off x="1188720" y="2212848"/>
            <a:ext cx="5852160" cy="54864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Contracts, domain types and route params checked at compile time.</a:t>
            </a:r>
            <a:endParaRPr lang="en-US" sz="1400" dirty="0"/>
          </a:p>
        </p:txBody>
      </p:sp>
      <p:sp>
        <p:nvSpPr>
          <p:cNvPr id="8" name="icon-bg-352"/>
          <p:cNvSpPr/>
          <p:nvPr/>
        </p:nvSpPr>
        <p:spPr>
          <a:xfrm>
            <a:off x="548640" y="2953512"/>
            <a:ext cx="457200" cy="457200"/>
          </a:xfrm>
          <a:prstGeom prst="ellipse">
            <a:avLst/>
          </a:prstGeom>
          <a:solidFill>
            <a:schemeClr val="accent3"/>
          </a:solidFill>
          <a:ln/>
        </p:spPr>
      </p:sp>
      <p:pic>
        <p:nvPicPr>
          <p:cNvPr id="9" name="icon-353" descr="preencoded.png">    </p:cNvPr>
          <p:cNvPicPr>
            <a:picLocks noChangeAspect="1"/>
          </p:cNvPicPr>
          <p:nvPr/>
        </p:nvPicPr>
        <p:blipFill>
          <a:blip r:embed="rId2"/>
          <a:stretch>
            <a:fillRect/>
          </a:stretch>
        </p:blipFill>
        <p:spPr>
          <a:xfrm>
            <a:off x="649224" y="3054096"/>
            <a:ext cx="256032" cy="256032"/>
          </a:xfrm>
          <a:prstGeom prst="rect">
            <a:avLst/>
          </a:prstGeom>
        </p:spPr>
      </p:pic>
      <p:sp>
        <p:nvSpPr>
          <p:cNvPr id="10" name="text-354"/>
          <p:cNvSpPr txBox="1"/>
          <p:nvPr/>
        </p:nvSpPr>
        <p:spPr>
          <a:xfrm>
            <a:off x="1188720" y="2907792"/>
            <a:ext cx="5852160"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React Compiler</a:t>
            </a:r>
            <a:endParaRPr lang="en-US" sz="1600" dirty="0"/>
          </a:p>
        </p:txBody>
      </p:sp>
      <p:sp>
        <p:nvSpPr>
          <p:cNvPr id="11" name="text-355"/>
          <p:cNvSpPr txBox="1"/>
          <p:nvPr/>
        </p:nvSpPr>
        <p:spPr>
          <a:xfrm>
            <a:off x="1188720" y="3291840"/>
            <a:ext cx="5852160" cy="54864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Automatic memoization; no hand-written useMemo/useCallback for performance.</a:t>
            </a:r>
            <a:endParaRPr lang="en-US" sz="1400" dirty="0"/>
          </a:p>
        </p:txBody>
      </p:sp>
      <p:sp>
        <p:nvSpPr>
          <p:cNvPr id="12" name="icon-bg-356"/>
          <p:cNvSpPr/>
          <p:nvPr/>
        </p:nvSpPr>
        <p:spPr>
          <a:xfrm>
            <a:off x="548640" y="4032504"/>
            <a:ext cx="457200" cy="457200"/>
          </a:xfrm>
          <a:prstGeom prst="ellipse">
            <a:avLst/>
          </a:prstGeom>
          <a:solidFill>
            <a:schemeClr val="accent3"/>
          </a:solidFill>
          <a:ln/>
        </p:spPr>
      </p:sp>
      <p:pic>
        <p:nvPicPr>
          <p:cNvPr id="13" name="icon-357" descr="preencoded.png">    </p:cNvPr>
          <p:cNvPicPr>
            <a:picLocks noChangeAspect="1"/>
          </p:cNvPicPr>
          <p:nvPr/>
        </p:nvPicPr>
        <p:blipFill>
          <a:blip r:embed="rId3"/>
          <a:stretch>
            <a:fillRect/>
          </a:stretch>
        </p:blipFill>
        <p:spPr>
          <a:xfrm>
            <a:off x="649224" y="4133088"/>
            <a:ext cx="256032" cy="256032"/>
          </a:xfrm>
          <a:prstGeom prst="rect">
            <a:avLst/>
          </a:prstGeom>
        </p:spPr>
      </p:pic>
      <p:sp>
        <p:nvSpPr>
          <p:cNvPr id="14" name="text-358"/>
          <p:cNvSpPr txBox="1"/>
          <p:nvPr/>
        </p:nvSpPr>
        <p:spPr>
          <a:xfrm>
            <a:off x="1188720" y="3986784"/>
            <a:ext cx="5852160"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ESLint boundaries</a:t>
            </a:r>
            <a:endParaRPr lang="en-US" sz="1600" dirty="0"/>
          </a:p>
        </p:txBody>
      </p:sp>
      <p:sp>
        <p:nvSpPr>
          <p:cNvPr id="15" name="text-359"/>
          <p:cNvSpPr txBox="1"/>
          <p:nvPr/>
        </p:nvSpPr>
        <p:spPr>
          <a:xfrm>
            <a:off x="1188720" y="4370832"/>
            <a:ext cx="5852160" cy="54864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Layering, icon imports and reduced-motion usage enforced as errors.</a:t>
            </a:r>
            <a:endParaRPr lang="en-US" sz="1400" dirty="0"/>
          </a:p>
        </p:txBody>
      </p:sp>
      <p:sp>
        <p:nvSpPr>
          <p:cNvPr id="16" name="icon-bg-360"/>
          <p:cNvSpPr/>
          <p:nvPr/>
        </p:nvSpPr>
        <p:spPr>
          <a:xfrm>
            <a:off x="548640" y="5111496"/>
            <a:ext cx="457200" cy="457200"/>
          </a:xfrm>
          <a:prstGeom prst="ellipse">
            <a:avLst/>
          </a:prstGeom>
          <a:solidFill>
            <a:schemeClr val="accent3"/>
          </a:solidFill>
          <a:ln/>
        </p:spPr>
      </p:sp>
      <p:pic>
        <p:nvPicPr>
          <p:cNvPr id="17" name="icon-361" descr="preencoded.png">    </p:cNvPr>
          <p:cNvPicPr>
            <a:picLocks noChangeAspect="1"/>
          </p:cNvPicPr>
          <p:nvPr/>
        </p:nvPicPr>
        <p:blipFill>
          <a:blip r:embed="rId4"/>
          <a:stretch>
            <a:fillRect/>
          </a:stretch>
        </p:blipFill>
        <p:spPr>
          <a:xfrm>
            <a:off x="649224" y="5212080"/>
            <a:ext cx="256032" cy="256032"/>
          </a:xfrm>
          <a:prstGeom prst="rect">
            <a:avLst/>
          </a:prstGeom>
        </p:spPr>
      </p:pic>
      <p:sp>
        <p:nvSpPr>
          <p:cNvPr id="18" name="text-362"/>
          <p:cNvSpPr txBox="1"/>
          <p:nvPr/>
        </p:nvSpPr>
        <p:spPr>
          <a:xfrm>
            <a:off x="1188720" y="5065776"/>
            <a:ext cx="5852160" cy="365760"/>
          </a:xfrm>
          <a:prstGeom prst="rect">
            <a:avLst/>
          </a:prstGeom>
          <a:noFill/>
          <a:ln/>
        </p:spPr>
        <p:txBody>
          <a:bodyPr wrap="square" lIns="0" tIns="0" rIns="0" bIns="0" rtlCol="0" anchor="t"/>
          <a:lstStyle/>
          <a:p>
            <a:pPr indent="0" marL="0">
              <a:buNone/>
            </a:pPr>
            <a:r>
              <a:rPr lang="en-US" sz="1600" b="1" dirty="0">
                <a:solidFill>
                  <a:schemeClr val="tx1"/>
                </a:solidFill>
                <a:latin typeface="Arial" pitchFamily="34" charset="0"/>
                <a:ea typeface="Arial" pitchFamily="34" charset="-122"/>
                <a:cs typeface="Arial" pitchFamily="34" charset="-120"/>
              </a:rPr>
              <a:t>Lint + typecheck + device test per phase</a:t>
            </a:r>
            <a:endParaRPr lang="en-US" sz="1600" dirty="0"/>
          </a:p>
        </p:txBody>
      </p:sp>
      <p:sp>
        <p:nvSpPr>
          <p:cNvPr id="19" name="text-363"/>
          <p:cNvSpPr txBox="1"/>
          <p:nvPr/>
        </p:nvSpPr>
        <p:spPr>
          <a:xfrm>
            <a:off x="1188720" y="5449824"/>
            <a:ext cx="5852160" cy="548640"/>
          </a:xfrm>
          <a:prstGeom prst="rect">
            <a:avLst/>
          </a:prstGeom>
          <a:noFill/>
          <a:ln/>
        </p:spPr>
        <p:txBody>
          <a:bodyPr wrap="square" lIns="0" tIns="0" rIns="0" bIns="0" rtlCol="0" anchor="t"/>
          <a:lstStyle/>
          <a:p>
            <a:pPr indent="0" marL="0">
              <a:buNone/>
            </a:pPr>
            <a:r>
              <a:rPr lang="en-US" sz="1400" dirty="0">
                <a:solidFill>
                  <a:schemeClr val="tx2"/>
                </a:solidFill>
                <a:latin typeface="Arial" pitchFamily="34" charset="0"/>
                <a:ea typeface="Arial" pitchFamily="34" charset="-122"/>
                <a:cs typeface="Arial" pitchFamily="34" charset="-120"/>
              </a:rPr>
              <a:t>Every phase committed only after both pass and a manual iOS and Android check.</a:t>
            </a:r>
            <a:endParaRPr lang="en-US" sz="1400" dirty="0"/>
          </a:p>
        </p:txBody>
      </p:sp>
      <p:sp>
        <p:nvSpPr>
          <p:cNvPr id="20" name="card-364"/>
          <p:cNvSpPr/>
          <p:nvPr/>
        </p:nvSpPr>
        <p:spPr>
          <a:xfrm>
            <a:off x="7406640" y="1371600"/>
            <a:ext cx="4236415" cy="4754880"/>
          </a:xfrm>
          <a:prstGeom prst="roundRect">
            <a:avLst>
              <a:gd name="adj" fmla="val 2590"/>
            </a:avLst>
          </a:prstGeom>
          <a:solidFill>
            <a:schemeClr val="bg1"/>
          </a:solidFill>
          <a:ln w="19050">
            <a:solidFill>
              <a:schemeClr val="accent5"/>
            </a:solidFill>
            <a:prstDash val="solid"/>
          </a:ln>
        </p:spPr>
      </p:sp>
      <p:sp>
        <p:nvSpPr>
          <p:cNvPr id="21" name="icon-bg-365"/>
          <p:cNvSpPr/>
          <p:nvPr/>
        </p:nvSpPr>
        <p:spPr>
          <a:xfrm>
            <a:off x="7680960" y="1600200"/>
            <a:ext cx="457200" cy="457200"/>
          </a:xfrm>
          <a:prstGeom prst="ellipse">
            <a:avLst/>
          </a:prstGeom>
          <a:solidFill>
            <a:schemeClr val="accent5"/>
          </a:solidFill>
          <a:ln/>
        </p:spPr>
      </p:sp>
      <p:pic>
        <p:nvPicPr>
          <p:cNvPr id="22" name="icon-366" descr="preencoded.png">    </p:cNvPr>
          <p:cNvPicPr>
            <a:picLocks noChangeAspect="1"/>
          </p:cNvPicPr>
          <p:nvPr/>
        </p:nvPicPr>
        <p:blipFill>
          <a:blip r:embed="rId5"/>
          <a:stretch>
            <a:fillRect/>
          </a:stretch>
        </p:blipFill>
        <p:spPr>
          <a:xfrm>
            <a:off x="7781544" y="1700784"/>
            <a:ext cx="256032" cy="256032"/>
          </a:xfrm>
          <a:prstGeom prst="rect">
            <a:avLst/>
          </a:prstGeom>
        </p:spPr>
      </p:pic>
      <p:sp>
        <p:nvSpPr>
          <p:cNvPr id="23" name="text-367"/>
          <p:cNvSpPr txBox="1"/>
          <p:nvPr/>
        </p:nvSpPr>
        <p:spPr>
          <a:xfrm>
            <a:off x="8275320" y="1627632"/>
            <a:ext cx="3139135" cy="411480"/>
          </a:xfrm>
          <a:prstGeom prst="rect">
            <a:avLst/>
          </a:prstGeom>
          <a:noFill/>
          <a:ln/>
        </p:spPr>
        <p:txBody>
          <a:bodyPr wrap="square" lIns="0" tIns="0" rIns="0" bIns="0" rtlCol="0" anchor="ctr"/>
          <a:lstStyle/>
          <a:p>
            <a:pPr indent="0" marL="0">
              <a:buNone/>
            </a:pPr>
            <a:r>
              <a:rPr lang="en-US" sz="1800" b="1" dirty="0">
                <a:solidFill>
                  <a:schemeClr val="accent5"/>
                </a:solidFill>
                <a:latin typeface="Arial" pitchFamily="34" charset="0"/>
                <a:ea typeface="Arial" pitchFamily="34" charset="-122"/>
                <a:cs typeface="Arial" pitchFamily="34" charset="-120"/>
              </a:rPr>
              <a:t>Gap: no automated tests</a:t>
            </a:r>
            <a:endParaRPr lang="en-US" sz="1800" dirty="0"/>
          </a:p>
        </p:txBody>
      </p:sp>
      <p:sp>
        <p:nvSpPr>
          <p:cNvPr id="24" name="text-368"/>
          <p:cNvSpPr txBox="1"/>
          <p:nvPr/>
        </p:nvSpPr>
        <p:spPr>
          <a:xfrm>
            <a:off x="7680960" y="2286000"/>
            <a:ext cx="3687775" cy="365760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2"/>
                </a:solidFill>
                <a:latin typeface="Arial" pitchFamily="34" charset="0"/>
                <a:ea typeface="Arial" pitchFamily="34" charset="-122"/>
                <a:cs typeface="Arial" pitchFamily="34" charset="-120"/>
              </a:rPr>
              <a:t>No unit, component or end-to-end tests yet; correctness rests on types, lint and manual device testing.</a:t>
            </a:r>
            <a:endParaRPr lang="en-US" sz="1400" dirty="0"/>
          </a:p>
          <a:p>
            <a:pPr marL="177800" indent="-177800">
              <a:spcAft>
                <a:spcPts val="600"/>
              </a:spcAft>
              <a:buSzPct val="100000"/>
              <a:buChar char="•"/>
            </a:pPr>
            <a:r>
              <a:rPr lang="en-US" sz="1400" dirty="0">
                <a:solidFill>
                  <a:schemeClr val="tx2"/>
                </a:solidFill>
                <a:latin typeface="Arial" pitchFamily="34" charset="0"/>
                <a:ea typeface="Arial" pitchFamily="34" charset="-122"/>
                <a:cs typeface="Arial" pitchFamily="34" charset="-120"/>
              </a:rPr>
              <a:t>Highest-value first tests: domain/money and lifecycle (pure, cheap), the auth service error mapping, and the checkout idempotency path.</a:t>
            </a:r>
            <a:endParaRPr lang="en-US" sz="1400" dirty="0"/>
          </a:p>
          <a:p>
            <a:pPr marL="177800" indent="-177800">
              <a:spcAft>
                <a:spcPts val="600"/>
              </a:spcAft>
              <a:buSzPct val="100000"/>
              <a:buChar char="•"/>
            </a:pPr>
            <a:r>
              <a:rPr lang="en-US" sz="1400" dirty="0">
                <a:solidFill>
                  <a:schemeClr val="tx2"/>
                </a:solidFill>
                <a:latin typeface="Arial" pitchFamily="34" charset="0"/>
                <a:ea typeface="Arial" pitchFamily="34" charset="-122"/>
                <a:cs typeface="Arial" pitchFamily="34" charset="-120"/>
              </a:rPr>
              <a:t>Then Maestro flows for back-a-campaign and create-and-submit on both platforms.</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dirty="0">
                <a:solidFill>
                  <a:schemeClr val="tx1"/>
                </a:solidFill>
                <a:latin typeface="Georgia" pitchFamily="34" charset="0"/>
                <a:ea typeface="Georgia" pitchFamily="34" charset="-122"/>
                <a:cs typeface="Georgia" pitchFamily="34" charset="-120"/>
              </a:rPr>
              <a:t>Known limitations and risks</a:t>
            </a:r>
            <a:endParaRPr lang="en-US" sz="3200" dirty="0"/>
          </a:p>
        </p:txBody>
      </p:sp>
      <p:graphicFrame>
        <p:nvGraphicFramePr>
          <p:cNvPr id="23" name="risk-table"/>
          <p:cNvGraphicFramePr>
            <a:graphicFrameLocks noGrp="1"/>
          </p:cNvGraphicFramePr>
          <p:nvPr>
            <p:extLst>
              <p:ext uri="{D42A27DB-BD31-4B8C-83A1-F6EECF244321}">
                <p14:modId xmlns:p14="http://schemas.microsoft.com/office/powerpoint/2010/main" val="1579011935"/>
              </p:ext>
            </p:extLst>
          </p:nvPr>
        </p:nvGraphicFramePr>
        <p:xfrm>
          <a:off x="548640" y="1325880"/>
          <a:ext cx="11094415" cy="914400"/>
        </p:xfrm>
        <a:graphic>
          <a:graphicData uri="http://schemas.openxmlformats.org/drawingml/2006/table">
            <a:tbl>
              <a:tblPr/>
              <a:tblGrid>
                <a:gridCol w="1280160"/>
                <a:gridCol w="4846320"/>
                <a:gridCol w="4967935"/>
              </a:tblGrid>
              <a:tr h="438912">
                <a:tc>
                  <a:txBody>
                    <a:bodyPr/>
                    <a:lstStyle/>
                    <a:p>
                      <a:pPr indent="0" marL="0">
                        <a:buNone/>
                      </a:pPr>
                      <a:r>
                        <a:rPr lang="en-US" sz="1300" b="1" dirty="0">
                          <a:solidFill>
                            <a:schemeClr val="bg1"/>
                          </a:solidFill>
                          <a:latin typeface="Arial" pitchFamily="34" charset="0"/>
                          <a:ea typeface="Arial" pitchFamily="34" charset="-122"/>
                          <a:cs typeface="Arial" pitchFamily="34" charset="-120"/>
                        </a:rPr>
                        <a:t>Severity</a:t>
                      </a:r>
                      <a:endParaRPr lang="en-US" sz="1300" dirty="0">
                        <a:latin typeface="Arial" charset="0"/>
                        <a:ea typeface="Arial" charset="0"/>
                        <a:cs typeface="Arial" charset="0"/>
                      </a:endParaRPr>
                    </a:p>
                  </a:txBody>
                  <a:tcPr marL="137160" marR="137160" marT="36576" marB="36576"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300" b="1" dirty="0">
                          <a:solidFill>
                            <a:schemeClr val="bg1"/>
                          </a:solidFill>
                          <a:latin typeface="Arial" pitchFamily="34" charset="0"/>
                          <a:ea typeface="Arial" pitchFamily="34" charset="-122"/>
                          <a:cs typeface="Arial" pitchFamily="34" charset="-120"/>
                        </a:rPr>
                        <a:t>Limitation</a:t>
                      </a:r>
                      <a:endParaRPr lang="en-US" sz="1300" dirty="0">
                        <a:latin typeface="Arial" charset="0"/>
                        <a:ea typeface="Arial" charset="0"/>
                        <a:cs typeface="Arial" charset="0"/>
                      </a:endParaRPr>
                    </a:p>
                  </a:txBody>
                  <a:tcPr marL="137160" marR="137160" marT="36576" marB="36576"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300" b="1" dirty="0">
                          <a:solidFill>
                            <a:schemeClr val="bg1"/>
                          </a:solidFill>
                          <a:latin typeface="Arial" pitchFamily="34" charset="0"/>
                          <a:ea typeface="Arial" pitchFamily="34" charset="-122"/>
                          <a:cs typeface="Arial" pitchFamily="34" charset="-120"/>
                        </a:rPr>
                        <a:t>Mitigation</a:t>
                      </a:r>
                      <a:endParaRPr lang="en-US" sz="1300" dirty="0">
                        <a:latin typeface="Arial" charset="0"/>
                        <a:ea typeface="Arial" charset="0"/>
                        <a:cs typeface="Arial" charset="0"/>
                      </a:endParaRPr>
                    </a:p>
                  </a:txBody>
                  <a:tcPr marL="137160" marR="137160" marT="36576" marB="36576" anchor="ctr">
                    <a:lnL w="0" cap="flat" cmpd="sng" algn="ctr">
                      <a:noFill/>
                    </a:lnL>
                    <a:lnR w="0" cap="flat" cmpd="sng" algn="ctr">
                      <a:noFill/>
                    </a:lnR>
                    <a:lnT w="0" cap="flat" cmpd="sng" algn="ctr">
                      <a:noFill/>
                    </a:lnT>
                    <a:lnB w="0" cap="flat" cmpd="sng" algn="ctr">
                      <a:noFill/>
                    </a:lnB>
                    <a:solidFill>
                      <a:schemeClr val="tx1"/>
                    </a:solidFill>
                  </a:tcPr>
                </a:tc>
              </a:tr>
              <a:tr h="621792">
                <a:tc>
                  <a:txBody>
                    <a:bodyPr/>
                    <a:lstStyle/>
                    <a:p>
                      <a:pPr indent="0" marL="0">
                        <a:buNone/>
                      </a:pPr>
                      <a:r>
                        <a:rPr lang="en-US" sz="1300" b="1" dirty="0">
                          <a:solidFill>
                            <a:schemeClr val="accent5"/>
                          </a:solidFill>
                          <a:latin typeface="Arial" pitchFamily="34" charset="0"/>
                          <a:ea typeface="Arial" pitchFamily="34" charset="-122"/>
                          <a:cs typeface="Arial" pitchFamily="34" charset="-120"/>
                        </a:rPr>
                        <a:t>High</a:t>
                      </a:r>
                      <a:endParaRPr lang="en-US" sz="1300" dirty="0">
                        <a:latin typeface="Arial" charset="0"/>
                        <a:ea typeface="Arial" charset="0"/>
                        <a:cs typeface="Arial" charset="0"/>
                      </a:endParaRPr>
                    </a:p>
                  </a:txBody>
                  <a:tcPr marL="137160" marR="13716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All data except auth lives on one device</a:t>
                      </a:r>
                      <a:endParaRPr lang="en-US" sz="1300" dirty="0">
                        <a:latin typeface="Arial" charset="0"/>
                        <a:ea typeface="Arial" charset="0"/>
                        <a:cs typeface="Arial" charset="0"/>
                      </a:endParaRPr>
                    </a:p>
                  </a:txBody>
                  <a:tcPr marL="137160" marR="13716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2"/>
                          </a:solidFill>
                          <a:latin typeface="Arial" pitchFamily="34" charset="0"/>
                          <a:ea typeface="Arial" pitchFamily="34" charset="-122"/>
                          <a:cs typeface="Arial" pitchFamily="34" charset="-120"/>
                        </a:rPr>
                        <a:t>No sync across devices or users; real backend per service (contracts ready)</a:t>
                      </a:r>
                      <a:endParaRPr lang="en-US" sz="1300" dirty="0">
                        <a:latin typeface="Arial" charset="0"/>
                        <a:ea typeface="Arial" charset="0"/>
                        <a:cs typeface="Arial" charset="0"/>
                      </a:endParaRPr>
                    </a:p>
                  </a:txBody>
                  <a:tcPr marL="137160" marR="137160" marT="36576" marB="36576" anchor="ctr">
                    <a:lnL w="0" cap="flat" cmpd="sng" algn="ctr">
                      <a:noFill/>
                    </a:lnL>
                    <a:lnR w="0" cap="flat" cmpd="sng" algn="ctr">
                      <a:noFill/>
                    </a:lnR>
                    <a:lnT w="0" cap="flat" cmpd="sng" algn="ctr">
                      <a:noFill/>
                    </a:lnT>
                    <a:lnB w="0" cap="flat" cmpd="sng" algn="ctr">
                      <a:noFill/>
                    </a:lnB>
                    <a:solidFill>
                      <a:schemeClr val="bg2"/>
                    </a:solidFill>
                  </a:tcPr>
                </a:tc>
              </a:tr>
              <a:tr h="621792">
                <a:tc>
                  <a:txBody>
                    <a:bodyPr/>
                    <a:lstStyle/>
                    <a:p>
                      <a:pPr indent="0" marL="0">
                        <a:buNone/>
                      </a:pPr>
                      <a:r>
                        <a:rPr lang="en-US" sz="1300" b="1" dirty="0">
                          <a:solidFill>
                            <a:schemeClr val="accent5"/>
                          </a:solidFill>
                          <a:latin typeface="Arial" pitchFamily="34" charset="0"/>
                          <a:ea typeface="Arial" pitchFamily="34" charset="-122"/>
                          <a:cs typeface="Arial" pitchFamily="34" charset="-120"/>
                        </a:rPr>
                        <a:t>High</a:t>
                      </a:r>
                      <a:endParaRPr lang="en-US" sz="1300" dirty="0">
                        <a:latin typeface="Arial" charset="0"/>
                        <a:ea typeface="Arial" charset="0"/>
                        <a:cs typeface="Arial" charset="0"/>
                      </a:endParaRPr>
                    </a:p>
                  </a:txBody>
                  <a:tcPr marL="137160" marR="13716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No automated tests</a:t>
                      </a:r>
                      <a:endParaRPr lang="en-US" sz="1300" dirty="0">
                        <a:latin typeface="Arial" charset="0"/>
                        <a:ea typeface="Arial" charset="0"/>
                        <a:cs typeface="Arial" charset="0"/>
                      </a:endParaRPr>
                    </a:p>
                  </a:txBody>
                  <a:tcPr marL="137160" marR="13716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2"/>
                          </a:solidFill>
                          <a:latin typeface="Arial" pitchFamily="34" charset="0"/>
                          <a:ea typeface="Arial" pitchFamily="34" charset="-122"/>
                          <a:cs typeface="Arial" pitchFamily="34" charset="-120"/>
                        </a:rPr>
                        <a:t>Domain and service unit tests, then Maestro E2E (previous slide)</a:t>
                      </a:r>
                      <a:endParaRPr lang="en-US" sz="1300" dirty="0">
                        <a:latin typeface="Arial" charset="0"/>
                        <a:ea typeface="Arial" charset="0"/>
                        <a:cs typeface="Arial" charset="0"/>
                      </a:endParaRPr>
                    </a:p>
                  </a:txBody>
                  <a:tcPr marL="137160" marR="137160" marT="36576" marB="36576" anchor="ctr">
                    <a:lnL w="0" cap="flat" cmpd="sng" algn="ctr">
                      <a:noFill/>
                    </a:lnL>
                    <a:lnR w="0" cap="flat" cmpd="sng" algn="ctr">
                      <a:noFill/>
                    </a:lnR>
                    <a:lnT w="0" cap="flat" cmpd="sng" algn="ctr">
                      <a:noFill/>
                    </a:lnT>
                    <a:lnB w="0" cap="flat" cmpd="sng" algn="ctr">
                      <a:noFill/>
                    </a:lnB>
                    <a:solidFill>
                      <a:schemeClr val="bg1"/>
                    </a:solidFill>
                  </a:tcPr>
                </a:tc>
              </a:tr>
              <a:tr h="621792">
                <a:tc>
                  <a:txBody>
                    <a:bodyPr/>
                    <a:lstStyle/>
                    <a:p>
                      <a:pPr indent="0" marL="0">
                        <a:buNone/>
                      </a:pPr>
                      <a:r>
                        <a:rPr lang="en-US" sz="1300" b="1" dirty="0">
                          <a:solidFill>
                            <a:schemeClr val="accent4"/>
                          </a:solidFill>
                          <a:latin typeface="Arial" pitchFamily="34" charset="0"/>
                          <a:ea typeface="Arial" pitchFamily="34" charset="-122"/>
                          <a:cs typeface="Arial" pitchFamily="34" charset="-120"/>
                        </a:rPr>
                        <a:t>Medium</a:t>
                      </a:r>
                      <a:endParaRPr lang="en-US" sz="1300" dirty="0">
                        <a:latin typeface="Arial" charset="0"/>
                        <a:ea typeface="Arial" charset="0"/>
                        <a:cs typeface="Arial" charset="0"/>
                      </a:endParaRPr>
                    </a:p>
                  </a:txBody>
                  <a:tcPr marL="137160" marR="13716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Sample creator account mapped by email in the data layer</a:t>
                      </a:r>
                      <a:endParaRPr lang="en-US" sz="1300" dirty="0">
                        <a:latin typeface="Arial" charset="0"/>
                        <a:ea typeface="Arial" charset="0"/>
                        <a:cs typeface="Arial" charset="0"/>
                      </a:endParaRPr>
                    </a:p>
                  </a:txBody>
                  <a:tcPr marL="137160" marR="13716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2"/>
                          </a:solidFill>
                          <a:latin typeface="Arial" pitchFamily="34" charset="0"/>
                          <a:ea typeface="Arial" pitchFamily="34" charset="-122"/>
                          <a:cs typeface="Arial" pitchFamily="34" charset="-120"/>
                        </a:rPr>
                        <a:t>Disappears when campaign ownership moves server-side</a:t>
                      </a:r>
                      <a:endParaRPr lang="en-US" sz="1300" dirty="0">
                        <a:latin typeface="Arial" charset="0"/>
                        <a:ea typeface="Arial" charset="0"/>
                        <a:cs typeface="Arial" charset="0"/>
                      </a:endParaRPr>
                    </a:p>
                  </a:txBody>
                  <a:tcPr marL="137160" marR="137160" marT="36576" marB="36576" anchor="ctr">
                    <a:lnL w="0" cap="flat" cmpd="sng" algn="ctr">
                      <a:noFill/>
                    </a:lnL>
                    <a:lnR w="0" cap="flat" cmpd="sng" algn="ctr">
                      <a:noFill/>
                    </a:lnR>
                    <a:lnT w="0" cap="flat" cmpd="sng" algn="ctr">
                      <a:noFill/>
                    </a:lnT>
                    <a:lnB w="0" cap="flat" cmpd="sng" algn="ctr">
                      <a:noFill/>
                    </a:lnB>
                    <a:solidFill>
                      <a:schemeClr val="bg2"/>
                    </a:solidFill>
                  </a:tcPr>
                </a:tc>
              </a:tr>
              <a:tr h="621792">
                <a:tc>
                  <a:txBody>
                    <a:bodyPr/>
                    <a:lstStyle/>
                    <a:p>
                      <a:pPr indent="0" marL="0">
                        <a:buNone/>
                      </a:pPr>
                      <a:r>
                        <a:rPr lang="en-US" sz="1300" b="1" dirty="0">
                          <a:solidFill>
                            <a:schemeClr val="accent4"/>
                          </a:solidFill>
                          <a:latin typeface="Arial" pitchFamily="34" charset="0"/>
                          <a:ea typeface="Arial" pitchFamily="34" charset="-122"/>
                          <a:cs typeface="Arial" pitchFamily="34" charset="-120"/>
                        </a:rPr>
                        <a:t>Medium</a:t>
                      </a:r>
                      <a:endParaRPr lang="en-US" sz="1300" dirty="0">
                        <a:latin typeface="Arial" charset="0"/>
                        <a:ea typeface="Arial" charset="0"/>
                        <a:cs typeface="Arial" charset="0"/>
                      </a:endParaRPr>
                    </a:p>
                  </a:txBody>
                  <a:tcPr marL="137160" marR="13716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Long lists render every loaded item (FlashList unused)</a:t>
                      </a:r>
                      <a:endParaRPr lang="en-US" sz="1300" dirty="0">
                        <a:latin typeface="Arial" charset="0"/>
                        <a:ea typeface="Arial" charset="0"/>
                        <a:cs typeface="Arial" charset="0"/>
                      </a:endParaRPr>
                    </a:p>
                  </a:txBody>
                  <a:tcPr marL="137160" marR="13716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2"/>
                          </a:solidFill>
                          <a:latin typeface="Arial" pitchFamily="34" charset="0"/>
                          <a:ea typeface="Arial" pitchFamily="34" charset="-122"/>
                          <a:cs typeface="Arial" pitchFamily="34" charset="-120"/>
                        </a:rPr>
                        <a:t>Move Explore and Activity to FlashList</a:t>
                      </a:r>
                      <a:endParaRPr lang="en-US" sz="1300" dirty="0">
                        <a:latin typeface="Arial" charset="0"/>
                        <a:ea typeface="Arial" charset="0"/>
                        <a:cs typeface="Arial" charset="0"/>
                      </a:endParaRPr>
                    </a:p>
                  </a:txBody>
                  <a:tcPr marL="137160" marR="137160" marT="36576" marB="36576" anchor="ctr">
                    <a:lnL w="0" cap="flat" cmpd="sng" algn="ctr">
                      <a:noFill/>
                    </a:lnL>
                    <a:lnR w="0" cap="flat" cmpd="sng" algn="ctr">
                      <a:noFill/>
                    </a:lnR>
                    <a:lnT w="0" cap="flat" cmpd="sng" algn="ctr">
                      <a:noFill/>
                    </a:lnT>
                    <a:lnB w="0" cap="flat" cmpd="sng" algn="ctr">
                      <a:noFill/>
                    </a:lnB>
                    <a:solidFill>
                      <a:schemeClr val="bg1"/>
                    </a:solidFill>
                  </a:tcPr>
                </a:tc>
              </a:tr>
              <a:tr h="621792">
                <a:tc>
                  <a:txBody>
                    <a:bodyPr/>
                    <a:lstStyle/>
                    <a:p>
                      <a:pPr indent="0" marL="0">
                        <a:buNone/>
                      </a:pPr>
                      <a:r>
                        <a:rPr lang="en-US" sz="1300" b="1" dirty="0">
                          <a:solidFill>
                            <a:schemeClr val="accent4"/>
                          </a:solidFill>
                          <a:latin typeface="Arial" pitchFamily="34" charset="0"/>
                          <a:ea typeface="Arial" pitchFamily="34" charset="-122"/>
                          <a:cs typeface="Arial" pitchFamily="34" charset="-120"/>
                        </a:rPr>
                        <a:t>Medium</a:t>
                      </a:r>
                      <a:endParaRPr lang="en-US" sz="1300" dirty="0">
                        <a:latin typeface="Arial" charset="0"/>
                        <a:ea typeface="Arial" charset="0"/>
                        <a:cs typeface="Arial" charset="0"/>
                      </a:endParaRPr>
                    </a:p>
                  </a:txBody>
                  <a:tcPr marL="137160" marR="13716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Placeholder bundle id; Firebase config committed</a:t>
                      </a:r>
                      <a:endParaRPr lang="en-US" sz="1300" dirty="0">
                        <a:latin typeface="Arial" charset="0"/>
                        <a:ea typeface="Arial" charset="0"/>
                        <a:cs typeface="Arial" charset="0"/>
                      </a:endParaRPr>
                    </a:p>
                  </a:txBody>
                  <a:tcPr marL="137160" marR="13716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2"/>
                          </a:solidFill>
                          <a:latin typeface="Arial" pitchFamily="34" charset="0"/>
                          <a:ea typeface="Arial" pitchFamily="34" charset="-122"/>
                          <a:cs typeface="Arial" pitchFamily="34" charset="-120"/>
                        </a:rPr>
                        <a:t>Own bundle id + re-registered Firebase apps; review App Check and console restrictions</a:t>
                      </a:r>
                      <a:endParaRPr lang="en-US" sz="1300" dirty="0">
                        <a:latin typeface="Arial" charset="0"/>
                        <a:ea typeface="Arial" charset="0"/>
                        <a:cs typeface="Arial" charset="0"/>
                      </a:endParaRPr>
                    </a:p>
                  </a:txBody>
                  <a:tcPr marL="137160" marR="137160" marT="36576" marB="36576" anchor="ctr">
                    <a:lnL w="0" cap="flat" cmpd="sng" algn="ctr">
                      <a:noFill/>
                    </a:lnL>
                    <a:lnR w="0" cap="flat" cmpd="sng" algn="ctr">
                      <a:noFill/>
                    </a:lnR>
                    <a:lnT w="0" cap="flat" cmpd="sng" algn="ctr">
                      <a:noFill/>
                    </a:lnT>
                    <a:lnB w="0" cap="flat" cmpd="sng" algn="ctr">
                      <a:noFill/>
                    </a:lnB>
                    <a:solidFill>
                      <a:schemeClr val="bg2"/>
                    </a:solidFill>
                  </a:tcPr>
                </a:tc>
              </a:tr>
              <a:tr h="621792">
                <a:tc>
                  <a:txBody>
                    <a:bodyPr/>
                    <a:lstStyle/>
                    <a:p>
                      <a:pPr indent="0" marL="0">
                        <a:buNone/>
                      </a:pPr>
                      <a:r>
                        <a:rPr lang="en-US" sz="1300" b="1" dirty="0">
                          <a:solidFill>
                            <a:schemeClr val="accent6"/>
                          </a:solidFill>
                          <a:latin typeface="Arial" pitchFamily="34" charset="0"/>
                          <a:ea typeface="Arial" pitchFamily="34" charset="-122"/>
                          <a:cs typeface="Arial" pitchFamily="34" charset="-120"/>
                        </a:rPr>
                        <a:t>Low</a:t>
                      </a:r>
                      <a:endParaRPr lang="en-US" sz="1300" dirty="0">
                        <a:latin typeface="Arial" charset="0"/>
                        <a:ea typeface="Arial" charset="0"/>
                        <a:cs typeface="Arial" charset="0"/>
                      </a:endParaRPr>
                    </a:p>
                  </a:txBody>
                  <a:tcPr marL="137160" marR="13716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Xcode 26.3 below SDK 57’s 26.4 requirement</a:t>
                      </a:r>
                      <a:endParaRPr lang="en-US" sz="1300" dirty="0">
                        <a:latin typeface="Arial" charset="0"/>
                        <a:ea typeface="Arial" charset="0"/>
                        <a:cs typeface="Arial" charset="0"/>
                      </a:endParaRPr>
                    </a:p>
                  </a:txBody>
                  <a:tcPr marL="137160" marR="137160" marT="36576" marB="36576"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300" dirty="0">
                          <a:solidFill>
                            <a:schemeClr val="tx2"/>
                          </a:solidFill>
                          <a:latin typeface="Arial" pitchFamily="34" charset="0"/>
                          <a:ea typeface="Arial" pitchFamily="34" charset="-122"/>
                          <a:cs typeface="Arial" pitchFamily="34" charset="-120"/>
                        </a:rPr>
                        <a:t>Pin a supported Xcode in CI / EAS</a:t>
                      </a:r>
                      <a:endParaRPr lang="en-US" sz="1300" dirty="0">
                        <a:latin typeface="Arial" charset="0"/>
                        <a:ea typeface="Arial" charset="0"/>
                        <a:cs typeface="Arial" charset="0"/>
                      </a:endParaRPr>
                    </a:p>
                  </a:txBody>
                  <a:tcPr marL="137160" marR="137160" marT="36576" marB="36576" anchor="ctr">
                    <a:lnL w="0" cap="flat" cmpd="sng" algn="ctr">
                      <a:noFill/>
                    </a:lnL>
                    <a:lnR w="0" cap="flat" cmpd="sng" algn="ctr">
                      <a:noFill/>
                    </a:lnR>
                    <a:lnT w="0" cap="flat" cmpd="sng" algn="ctr">
                      <a:noFill/>
                    </a:lnT>
                    <a:lnB w="0" cap="flat" cmpd="sng" algn="ctr">
                      <a:noFill/>
                    </a:lnB>
                    <a:solidFill>
                      <a:schemeClr val="bg1"/>
                    </a:solidFill>
                  </a:tcPr>
                </a:tc>
              </a:tr>
              <a:tr h="621792">
                <a:tc>
                  <a:txBody>
                    <a:bodyPr/>
                    <a:lstStyle/>
                    <a:p>
                      <a:pPr indent="0" marL="0">
                        <a:buNone/>
                      </a:pPr>
                      <a:r>
                        <a:rPr lang="en-US" sz="1300" b="1" dirty="0">
                          <a:solidFill>
                            <a:schemeClr val="accent6"/>
                          </a:solidFill>
                          <a:latin typeface="Arial" pitchFamily="34" charset="0"/>
                          <a:ea typeface="Arial" pitchFamily="34" charset="-122"/>
                          <a:cs typeface="Arial" pitchFamily="34" charset="-120"/>
                        </a:rPr>
                        <a:t>Low</a:t>
                      </a:r>
                      <a:endParaRPr lang="en-US" sz="1300" dirty="0">
                        <a:latin typeface="Arial" charset="0"/>
                        <a:ea typeface="Arial" charset="0"/>
                        <a:cs typeface="Arial" charset="0"/>
                      </a:endParaRPr>
                    </a:p>
                  </a:txBody>
                  <a:tcPr marL="137160" marR="13716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1"/>
                          </a:solidFill>
                          <a:latin typeface="Arial" pitchFamily="34" charset="0"/>
                          <a:ea typeface="Arial" pitchFamily="34" charset="-122"/>
                          <a:cs typeface="Arial" pitchFamily="34" charset="-120"/>
                        </a:rPr>
                        <a:t>Expo Go path diverges (mock auth)</a:t>
                      </a:r>
                      <a:endParaRPr lang="en-US" sz="1300" dirty="0">
                        <a:latin typeface="Arial" charset="0"/>
                        <a:ea typeface="Arial" charset="0"/>
                        <a:cs typeface="Arial" charset="0"/>
                      </a:endParaRPr>
                    </a:p>
                  </a:txBody>
                  <a:tcPr marL="137160" marR="137160" marT="36576" marB="36576"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300" dirty="0">
                          <a:solidFill>
                            <a:schemeClr val="tx2"/>
                          </a:solidFill>
                          <a:latin typeface="Arial" pitchFamily="34" charset="0"/>
                          <a:ea typeface="Arial" pitchFamily="34" charset="-122"/>
                          <a:cs typeface="Arial" pitchFamily="34" charset="-120"/>
                        </a:rPr>
                        <a:t>Keep it for UI work only; dev build is the reference</a:t>
                      </a:r>
                      <a:endParaRPr lang="en-US" sz="1300" dirty="0">
                        <a:latin typeface="Arial" charset="0"/>
                        <a:ea typeface="Arial" charset="0"/>
                        <a:cs typeface="Arial" charset="0"/>
                      </a:endParaRPr>
                    </a:p>
                  </a:txBody>
                  <a:tcPr marL="137160" marR="137160" marT="36576" marB="36576" anchor="ctr">
                    <a:lnL w="0" cap="flat" cmpd="sng" algn="ctr">
                      <a:noFill/>
                    </a:lnL>
                    <a:lnR w="0" cap="flat" cmpd="sng" algn="ctr">
                      <a:noFill/>
                    </a:lnR>
                    <a:lnT w="0" cap="flat" cmpd="sng" algn="ctr">
                      <a:noFill/>
                    </a:lnT>
                    <a:lnB w="0" cap="flat" cmpd="sng" algn="ctr">
                      <a:noFill/>
                    </a:lnB>
                    <a:solidFill>
                      <a:schemeClr val="bg2"/>
                    </a:solidFill>
                  </a:tcPr>
                </a:tc>
              </a:tr>
            </a:tbl>
          </a:graphicData>
        </a:graphic>
      </p:graphicFrame>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dirty="0">
                <a:solidFill>
                  <a:schemeClr val="tx1"/>
                </a:solidFill>
                <a:latin typeface="Georgia" pitchFamily="34" charset="0"/>
                <a:ea typeface="Georgia" pitchFamily="34" charset="-122"/>
                <a:cs typeface="Georgia" pitchFamily="34" charset="-120"/>
              </a:rPr>
              <a:t>Path to production</a:t>
            </a:r>
            <a:endParaRPr lang="en-US" sz="3200" dirty="0"/>
          </a:p>
        </p:txBody>
      </p:sp>
      <p:sp>
        <p:nvSpPr>
          <p:cNvPr id="3" name="card-369"/>
          <p:cNvSpPr/>
          <p:nvPr/>
        </p:nvSpPr>
        <p:spPr>
          <a:xfrm>
            <a:off x="548640" y="1371600"/>
            <a:ext cx="3515258" cy="3840480"/>
          </a:xfrm>
          <a:prstGeom prst="roundRect">
            <a:avLst>
              <a:gd name="adj" fmla="val 3121"/>
            </a:avLst>
          </a:prstGeom>
          <a:solidFill>
            <a:schemeClr val="bg2"/>
          </a:solidFill>
          <a:ln/>
        </p:spPr>
      </p:sp>
      <p:sp>
        <p:nvSpPr>
          <p:cNvPr id="4" name="pill-370"/>
          <p:cNvSpPr/>
          <p:nvPr/>
        </p:nvSpPr>
        <p:spPr>
          <a:xfrm>
            <a:off x="822960" y="1600200"/>
            <a:ext cx="1005840" cy="384048"/>
          </a:xfrm>
          <a:prstGeom prst="roundRect">
            <a:avLst>
              <a:gd name="adj" fmla="val 50000"/>
            </a:avLst>
          </a:prstGeom>
          <a:solidFill>
            <a:schemeClr val="accent1"/>
          </a:solidFill>
          <a:ln/>
        </p:spPr>
      </p:sp>
      <p:sp>
        <p:nvSpPr>
          <p:cNvPr id="5" name="text-371"/>
          <p:cNvSpPr txBox="1"/>
          <p:nvPr/>
        </p:nvSpPr>
        <p:spPr>
          <a:xfrm>
            <a:off x="822960" y="1600200"/>
            <a:ext cx="1005840"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Next</a:t>
            </a:r>
            <a:endParaRPr lang="en-US" sz="1400" dirty="0"/>
          </a:p>
        </p:txBody>
      </p:sp>
      <p:sp>
        <p:nvSpPr>
          <p:cNvPr id="6" name="text-372"/>
          <p:cNvSpPr txBox="1"/>
          <p:nvPr/>
        </p:nvSpPr>
        <p:spPr>
          <a:xfrm>
            <a:off x="822960" y="2240280"/>
            <a:ext cx="3012338" cy="28346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2"/>
                </a:solidFill>
                <a:latin typeface="Arial" pitchFamily="34" charset="0"/>
                <a:ea typeface="Arial" pitchFamily="34" charset="-122"/>
                <a:cs typeface="Arial" pitchFamily="34" charset="-120"/>
              </a:rPr>
              <a:t>Tests: domain, auth mapping, checkout idempotency</a:t>
            </a:r>
            <a:endParaRPr lang="en-US" sz="1400" dirty="0"/>
          </a:p>
          <a:p>
            <a:pPr marL="177800" indent="-177800">
              <a:spcAft>
                <a:spcPts val="600"/>
              </a:spcAft>
              <a:buSzPct val="100000"/>
              <a:buChar char="•"/>
            </a:pPr>
            <a:r>
              <a:rPr lang="en-US" sz="1400" dirty="0">
                <a:solidFill>
                  <a:schemeClr val="tx2"/>
                </a:solidFill>
                <a:latin typeface="Arial" pitchFamily="34" charset="0"/>
                <a:ea typeface="Arial" pitchFamily="34" charset="-122"/>
                <a:cs typeface="Arial" pitchFamily="34" charset="-120"/>
              </a:rPr>
              <a:t>FlashList for Explore and Activity</a:t>
            </a:r>
            <a:endParaRPr lang="en-US" sz="1400" dirty="0"/>
          </a:p>
          <a:p>
            <a:pPr marL="177800" indent="-177800">
              <a:spcAft>
                <a:spcPts val="600"/>
              </a:spcAft>
              <a:buSzPct val="100000"/>
              <a:buChar char="•"/>
            </a:pPr>
            <a:r>
              <a:rPr lang="en-US" sz="1400" dirty="0">
                <a:solidFill>
                  <a:schemeClr val="tx2"/>
                </a:solidFill>
                <a:latin typeface="Arial" pitchFamily="34" charset="0"/>
                <a:ea typeface="Arial" pitchFamily="34" charset="-122"/>
                <a:cs typeface="Arial" pitchFamily="34" charset="-120"/>
              </a:rPr>
              <a:t>Own bundle id; EAS builds with pinned Xcode</a:t>
            </a:r>
            <a:endParaRPr lang="en-US" sz="1400" dirty="0"/>
          </a:p>
          <a:p>
            <a:pPr marL="177800" indent="-177800">
              <a:spcAft>
                <a:spcPts val="600"/>
              </a:spcAft>
              <a:buSzPct val="100000"/>
              <a:buChar char="•"/>
            </a:pPr>
            <a:r>
              <a:rPr lang="en-US" sz="1400" dirty="0">
                <a:solidFill>
                  <a:schemeClr val="tx2"/>
                </a:solidFill>
                <a:latin typeface="Arial" pitchFamily="34" charset="0"/>
                <a:ea typeface="Arial" pitchFamily="34" charset="-122"/>
                <a:cs typeface="Arial" pitchFamily="34" charset="-120"/>
              </a:rPr>
              <a:t>Crash and performance monitoring (Crashlytics or Sentry)</a:t>
            </a:r>
            <a:endParaRPr lang="en-US" sz="1400" dirty="0"/>
          </a:p>
        </p:txBody>
      </p:sp>
      <p:sp>
        <p:nvSpPr>
          <p:cNvPr id="7" name="card-373"/>
          <p:cNvSpPr/>
          <p:nvPr/>
        </p:nvSpPr>
        <p:spPr>
          <a:xfrm>
            <a:off x="4338218" y="1371600"/>
            <a:ext cx="3515258" cy="3840480"/>
          </a:xfrm>
          <a:prstGeom prst="roundRect">
            <a:avLst>
              <a:gd name="adj" fmla="val 3121"/>
            </a:avLst>
          </a:prstGeom>
          <a:solidFill>
            <a:schemeClr val="bg2"/>
          </a:solidFill>
          <a:ln/>
        </p:spPr>
      </p:sp>
      <p:sp>
        <p:nvSpPr>
          <p:cNvPr id="8" name="pill-374"/>
          <p:cNvSpPr/>
          <p:nvPr/>
        </p:nvSpPr>
        <p:spPr>
          <a:xfrm>
            <a:off x="4612538" y="1600200"/>
            <a:ext cx="1005840" cy="384048"/>
          </a:xfrm>
          <a:prstGeom prst="roundRect">
            <a:avLst>
              <a:gd name="adj" fmla="val 50000"/>
            </a:avLst>
          </a:prstGeom>
          <a:solidFill>
            <a:schemeClr val="accent2"/>
          </a:solidFill>
          <a:ln/>
        </p:spPr>
      </p:sp>
      <p:sp>
        <p:nvSpPr>
          <p:cNvPr id="9" name="text-375"/>
          <p:cNvSpPr txBox="1"/>
          <p:nvPr/>
        </p:nvSpPr>
        <p:spPr>
          <a:xfrm>
            <a:off x="4612538" y="1600200"/>
            <a:ext cx="1005840" cy="384048"/>
          </a:xfrm>
          <a:prstGeom prst="rect">
            <a:avLst/>
          </a:prstGeom>
          <a:noFill/>
          <a:ln/>
        </p:spPr>
        <p:txBody>
          <a:bodyPr wrap="square" lIns="0" tIns="0" rIns="0" bIns="0" rtlCol="0" anchor="ctr"/>
          <a:lstStyle/>
          <a:p>
            <a:pPr algn="ctr" indent="0" marL="0">
              <a:buNone/>
            </a:pPr>
            <a:r>
              <a:rPr lang="en-US" sz="1400" b="1" dirty="0">
                <a:solidFill>
                  <a:schemeClr val="tx1"/>
                </a:solidFill>
                <a:latin typeface="Arial" pitchFamily="34" charset="0"/>
                <a:ea typeface="Arial" pitchFamily="34" charset="-122"/>
                <a:cs typeface="Arial" pitchFamily="34" charset="-120"/>
              </a:rPr>
              <a:t>Then</a:t>
            </a:r>
            <a:endParaRPr lang="en-US" sz="1400" dirty="0"/>
          </a:p>
        </p:txBody>
      </p:sp>
      <p:sp>
        <p:nvSpPr>
          <p:cNvPr id="10" name="text-376"/>
          <p:cNvSpPr txBox="1"/>
          <p:nvPr/>
        </p:nvSpPr>
        <p:spPr>
          <a:xfrm>
            <a:off x="4612538" y="2240280"/>
            <a:ext cx="3012338" cy="28346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2"/>
                </a:solidFill>
                <a:latin typeface="Arial" pitchFamily="34" charset="0"/>
                <a:ea typeface="Arial" pitchFamily="34" charset="-122"/>
                <a:cs typeface="Arial" pitchFamily="34" charset="-120"/>
              </a:rPr>
              <a:t>Real campaigns, drafts and engagement services behind the existing contracts</a:t>
            </a:r>
            <a:endParaRPr lang="en-US" sz="1400" dirty="0"/>
          </a:p>
          <a:p>
            <a:pPr marL="177800" indent="-177800">
              <a:spcAft>
                <a:spcPts val="600"/>
              </a:spcAft>
              <a:buSzPct val="100000"/>
              <a:buChar char="•"/>
            </a:pPr>
            <a:r>
              <a:rPr lang="en-US" sz="1400" dirty="0">
                <a:solidFill>
                  <a:schemeClr val="tx2"/>
                </a:solidFill>
                <a:latin typeface="Arial" pitchFamily="34" charset="0"/>
                <a:ea typeface="Arial" pitchFamily="34" charset="-122"/>
                <a:cs typeface="Arial" pitchFamily="34" charset="-120"/>
              </a:rPr>
              <a:t>Server-side lifecycle state machine and review tooling</a:t>
            </a:r>
            <a:endParaRPr lang="en-US" sz="1400" dirty="0"/>
          </a:p>
          <a:p>
            <a:pPr marL="177800" indent="-177800">
              <a:spcAft>
                <a:spcPts val="600"/>
              </a:spcAft>
              <a:buSzPct val="100000"/>
              <a:buChar char="•"/>
            </a:pPr>
            <a:r>
              <a:rPr lang="en-US" sz="1400" dirty="0">
                <a:solidFill>
                  <a:schemeClr val="tx2"/>
                </a:solidFill>
                <a:latin typeface="Arial" pitchFamily="34" charset="0"/>
                <a:ea typeface="Arial" pitchFamily="34" charset="-122"/>
                <a:cs typeface="Arial" pitchFamily="34" charset="-120"/>
              </a:rPr>
              <a:t>Payments on a provider (e.g. Stripe), webhooks for pending settles</a:t>
            </a:r>
            <a:endParaRPr lang="en-US" sz="1400" dirty="0"/>
          </a:p>
          <a:p>
            <a:pPr marL="177800" indent="-177800">
              <a:spcAft>
                <a:spcPts val="600"/>
              </a:spcAft>
              <a:buSzPct val="100000"/>
              <a:buChar char="•"/>
            </a:pPr>
            <a:r>
              <a:rPr lang="en-US" sz="1400" dirty="0">
                <a:solidFill>
                  <a:schemeClr val="tx2"/>
                </a:solidFill>
                <a:latin typeface="Arial" pitchFamily="34" charset="0"/>
                <a:ea typeface="Arial" pitchFamily="34" charset="-122"/>
                <a:cs typeface="Arial" pitchFamily="34" charset="-120"/>
              </a:rPr>
              <a:t>Push notifications for the Activity events</a:t>
            </a:r>
            <a:endParaRPr lang="en-US" sz="1400" dirty="0"/>
          </a:p>
        </p:txBody>
      </p:sp>
      <p:sp>
        <p:nvSpPr>
          <p:cNvPr id="11" name="card-377"/>
          <p:cNvSpPr/>
          <p:nvPr/>
        </p:nvSpPr>
        <p:spPr>
          <a:xfrm>
            <a:off x="8127797" y="1371600"/>
            <a:ext cx="3515258" cy="3840480"/>
          </a:xfrm>
          <a:prstGeom prst="roundRect">
            <a:avLst>
              <a:gd name="adj" fmla="val 3121"/>
            </a:avLst>
          </a:prstGeom>
          <a:solidFill>
            <a:schemeClr val="bg2"/>
          </a:solidFill>
          <a:ln/>
        </p:spPr>
      </p:sp>
      <p:sp>
        <p:nvSpPr>
          <p:cNvPr id="12" name="pill-378"/>
          <p:cNvSpPr/>
          <p:nvPr/>
        </p:nvSpPr>
        <p:spPr>
          <a:xfrm>
            <a:off x="8402117" y="1600200"/>
            <a:ext cx="1005840" cy="384048"/>
          </a:xfrm>
          <a:prstGeom prst="roundRect">
            <a:avLst>
              <a:gd name="adj" fmla="val 50000"/>
            </a:avLst>
          </a:prstGeom>
          <a:solidFill>
            <a:schemeClr val="accent6"/>
          </a:solidFill>
          <a:ln/>
        </p:spPr>
      </p:sp>
      <p:sp>
        <p:nvSpPr>
          <p:cNvPr id="13" name="text-379"/>
          <p:cNvSpPr txBox="1"/>
          <p:nvPr/>
        </p:nvSpPr>
        <p:spPr>
          <a:xfrm>
            <a:off x="8402117" y="1600200"/>
            <a:ext cx="1005840" cy="384048"/>
          </a:xfrm>
          <a:prstGeom prst="rect">
            <a:avLst/>
          </a:prstGeom>
          <a:noFill/>
          <a:ln/>
        </p:spPr>
        <p:txBody>
          <a:bodyPr wrap="square" lIns="0" tIns="0" rIns="0" bIns="0" rtlCol="0" anchor="ctr"/>
          <a:lstStyle/>
          <a:p>
            <a:pPr algn="ctr" indent="0" marL="0">
              <a:buNone/>
            </a:pPr>
            <a:r>
              <a:rPr lang="en-US" sz="1400" b="1" dirty="0">
                <a:solidFill>
                  <a:schemeClr val="bg1"/>
                </a:solidFill>
                <a:latin typeface="Arial" pitchFamily="34" charset="0"/>
                <a:ea typeface="Arial" pitchFamily="34" charset="-122"/>
                <a:cs typeface="Arial" pitchFamily="34" charset="-120"/>
              </a:rPr>
              <a:t>Later</a:t>
            </a:r>
            <a:endParaRPr lang="en-US" sz="1400" dirty="0"/>
          </a:p>
        </p:txBody>
      </p:sp>
      <p:sp>
        <p:nvSpPr>
          <p:cNvPr id="14" name="text-380"/>
          <p:cNvSpPr txBox="1"/>
          <p:nvPr/>
        </p:nvSpPr>
        <p:spPr>
          <a:xfrm>
            <a:off x="8402117" y="2240280"/>
            <a:ext cx="3012338" cy="2834640"/>
          </a:xfrm>
          <a:prstGeom prst="rect">
            <a:avLst/>
          </a:prstGeom>
          <a:noFill/>
          <a:ln/>
        </p:spPr>
        <p:txBody>
          <a:bodyPr wrap="square" lIns="0" tIns="0" rIns="0" bIns="0" rtlCol="0" anchor="t"/>
          <a:lstStyle/>
          <a:p>
            <a:pPr marL="177800" indent="-177800">
              <a:spcAft>
                <a:spcPts val="600"/>
              </a:spcAft>
              <a:buSzPct val="100000"/>
              <a:buChar char="•"/>
            </a:pPr>
            <a:r>
              <a:rPr lang="en-US" sz="1400" dirty="0">
                <a:solidFill>
                  <a:schemeClr val="tx2"/>
                </a:solidFill>
                <a:latin typeface="Arial" pitchFamily="34" charset="0"/>
                <a:ea typeface="Arial" pitchFamily="34" charset="-122"/>
                <a:cs typeface="Arial" pitchFamily="34" charset="-120"/>
              </a:rPr>
              <a:t>Ad network integrations and measured delivery reports</a:t>
            </a:r>
            <a:endParaRPr lang="en-US" sz="1400" dirty="0"/>
          </a:p>
          <a:p>
            <a:pPr marL="177800" indent="-177800">
              <a:spcAft>
                <a:spcPts val="600"/>
              </a:spcAft>
              <a:buSzPct val="100000"/>
              <a:buChar char="•"/>
            </a:pPr>
            <a:r>
              <a:rPr lang="en-US" sz="1400" dirty="0">
                <a:solidFill>
                  <a:schemeClr val="tx2"/>
                </a:solidFill>
                <a:latin typeface="Arial" pitchFamily="34" charset="0"/>
                <a:ea typeface="Arial" pitchFamily="34" charset="-122"/>
                <a:cs typeface="Arial" pitchFamily="34" charset="-120"/>
              </a:rPr>
              <a:t>Real speech-to-text and AI drafting</a:t>
            </a:r>
            <a:endParaRPr lang="en-US" sz="1400" dirty="0"/>
          </a:p>
          <a:p>
            <a:pPr marL="177800" indent="-177800">
              <a:spcAft>
                <a:spcPts val="600"/>
              </a:spcAft>
              <a:buSzPct val="100000"/>
              <a:buChar char="•"/>
            </a:pPr>
            <a:r>
              <a:rPr lang="en-US" sz="1400" dirty="0">
                <a:solidFill>
                  <a:schemeClr val="tx2"/>
                </a:solidFill>
                <a:latin typeface="Arial" pitchFamily="34" charset="0"/>
                <a:ea typeface="Arial" pitchFamily="34" charset="-122"/>
                <a:cs typeface="Arial" pitchFamily="34" charset="-120"/>
              </a:rPr>
              <a:t>Maestro E2E in CI on both platforms</a:t>
            </a:r>
            <a:endParaRPr lang="en-US" sz="1400" dirty="0"/>
          </a:p>
          <a:p>
            <a:pPr marL="177800" indent="-177800">
              <a:spcAft>
                <a:spcPts val="600"/>
              </a:spcAft>
              <a:buSzPct val="100000"/>
              <a:buChar char="•"/>
            </a:pPr>
            <a:r>
              <a:rPr lang="en-US" sz="1400" dirty="0">
                <a:solidFill>
                  <a:schemeClr val="tx2"/>
                </a:solidFill>
                <a:latin typeface="Arial" pitchFamily="34" charset="0"/>
                <a:ea typeface="Arial" pitchFamily="34" charset="-122"/>
                <a:cs typeface="Arial" pitchFamily="34" charset="-120"/>
              </a:rPr>
              <a:t>OTA updates with EAS Update</a:t>
            </a:r>
            <a:endParaRPr lang="en-US" sz="1400" dirty="0"/>
          </a:p>
        </p:txBody>
      </p:sp>
      <p:sp>
        <p:nvSpPr>
          <p:cNvPr id="15" name="icon-bg-381"/>
          <p:cNvSpPr/>
          <p:nvPr/>
        </p:nvSpPr>
        <p:spPr>
          <a:xfrm>
            <a:off x="548640" y="5486400"/>
            <a:ext cx="457200" cy="457200"/>
          </a:xfrm>
          <a:prstGeom prst="ellipse">
            <a:avLst/>
          </a:prstGeom>
          <a:solidFill>
            <a:schemeClr val="accent1"/>
          </a:solidFill>
          <a:ln/>
        </p:spPr>
      </p:sp>
      <p:pic>
        <p:nvPicPr>
          <p:cNvPr id="16" name="icon-382" descr="preencoded.png">    </p:cNvPr>
          <p:cNvPicPr>
            <a:picLocks noChangeAspect="1"/>
          </p:cNvPicPr>
          <p:nvPr/>
        </p:nvPicPr>
        <p:blipFill>
          <a:blip r:embed="rId1"/>
          <a:stretch>
            <a:fillRect/>
          </a:stretch>
        </p:blipFill>
        <p:spPr>
          <a:xfrm>
            <a:off x="649224" y="5586984"/>
            <a:ext cx="256032" cy="256032"/>
          </a:xfrm>
          <a:prstGeom prst="rect">
            <a:avLst/>
          </a:prstGeom>
        </p:spPr>
      </p:pic>
      <p:sp>
        <p:nvSpPr>
          <p:cNvPr id="17" name="text-383"/>
          <p:cNvSpPr txBox="1"/>
          <p:nvPr/>
        </p:nvSpPr>
        <p:spPr>
          <a:xfrm>
            <a:off x="1188720" y="5440680"/>
            <a:ext cx="10454335" cy="548640"/>
          </a:xfrm>
          <a:prstGeom prst="rect">
            <a:avLst/>
          </a:prstGeom>
          <a:noFill/>
          <a:ln/>
        </p:spPr>
        <p:txBody>
          <a:bodyPr wrap="square" lIns="0" tIns="0" rIns="0" bIns="0" rtlCol="0" anchor="ctr"/>
          <a:lstStyle/>
          <a:p>
            <a:pPr indent="0" marL="0">
              <a:buNone/>
            </a:pPr>
            <a:r>
              <a:rPr lang="en-US" sz="1400" b="1" dirty="0">
                <a:solidFill>
                  <a:schemeClr val="tx1"/>
                </a:solidFill>
                <a:latin typeface="Arial" pitchFamily="34" charset="0"/>
                <a:ea typeface="Arial" pitchFamily="34" charset="-122"/>
                <a:cs typeface="Arial" pitchFamily="34" charset="-120"/>
              </a:rPr>
              <a:t>Ordering principle: </a:t>
            </a:r>
            <a:pPr indent="0" marL="0">
              <a:buNone/>
            </a:pPr>
            <a:r>
              <a:rPr lang="en-US" sz="1400" dirty="0">
                <a:solidFill>
                  <a:schemeClr val="tx2"/>
                </a:solidFill>
                <a:latin typeface="Arial" pitchFamily="34" charset="0"/>
                <a:ea typeface="Arial" pitchFamily="34" charset="-122"/>
                <a:cs typeface="Arial" pitchFamily="34" charset="-120"/>
              </a:rPr>
              <a:t>make what exists safe to change, then move services server-side by risk, then add integrations that need real infrastructure.</a:t>
            </a:r>
            <a:endParaRPr lang="en-US" sz="14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4415" cy="777240"/>
          </a:xfrm>
          <a:prstGeom prst="rect">
            <a:avLst/>
          </a:prstGeom>
          <a:noFill/>
          <a:ln/>
        </p:spPr>
        <p:txBody>
          <a:bodyPr wrap="square" lIns="0" tIns="0" rIns="0" bIns="0" rtlCol="0" anchor="ctr"/>
          <a:lstStyle/>
          <a:p>
            <a:pPr algn="l" indent="0" marL="0">
              <a:buNone/>
            </a:pPr>
            <a:r>
              <a:rPr lang="en-US" sz="3200" dirty="0">
                <a:solidFill>
                  <a:schemeClr val="bg1"/>
                </a:solidFill>
                <a:latin typeface="Georgia" pitchFamily="34" charset="0"/>
                <a:ea typeface="Georgia" pitchFamily="34" charset="-122"/>
                <a:cs typeface="Georgia" pitchFamily="34" charset="-120"/>
              </a:rPr>
              <a:t>Decisions we’d like challenged</a:t>
            </a:r>
            <a:endParaRPr lang="en-US" sz="3200" dirty="0"/>
          </a:p>
        </p:txBody>
      </p:sp>
      <p:sp>
        <p:nvSpPr>
          <p:cNvPr id="3" name="q-384"/>
          <p:cNvSpPr/>
          <p:nvPr/>
        </p:nvSpPr>
        <p:spPr>
          <a:xfrm>
            <a:off x="548640" y="1463040"/>
            <a:ext cx="548640" cy="548640"/>
          </a:xfrm>
          <a:prstGeom prst="ellipse">
            <a:avLst/>
          </a:prstGeom>
          <a:solidFill>
            <a:schemeClr val="accent1"/>
          </a:solidFill>
          <a:ln/>
        </p:spPr>
      </p:sp>
      <p:sp>
        <p:nvSpPr>
          <p:cNvPr id="4" name="text-385"/>
          <p:cNvSpPr txBox="1"/>
          <p:nvPr/>
        </p:nvSpPr>
        <p:spPr>
          <a:xfrm>
            <a:off x="548640" y="146304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Georgia" pitchFamily="34" charset="0"/>
                <a:ea typeface="Georgia" pitchFamily="34" charset="-122"/>
                <a:cs typeface="Georgia" pitchFamily="34" charset="-120"/>
              </a:rPr>
              <a:t>1</a:t>
            </a:r>
            <a:endParaRPr lang="en-US" sz="2000" dirty="0"/>
          </a:p>
        </p:txBody>
      </p:sp>
      <p:sp>
        <p:nvSpPr>
          <p:cNvPr id="5" name="text-386"/>
          <p:cNvSpPr txBox="1"/>
          <p:nvPr/>
        </p:nvSpPr>
        <p:spPr>
          <a:xfrm>
            <a:off x="1371600" y="1417320"/>
            <a:ext cx="10271455" cy="914400"/>
          </a:xfrm>
          <a:prstGeom prst="rect">
            <a:avLst/>
          </a:prstGeom>
          <a:noFill/>
          <a:ln/>
        </p:spPr>
        <p:txBody>
          <a:bodyPr wrap="square" lIns="0" tIns="0" rIns="0" bIns="0" rtlCol="0" anchor="ctr"/>
          <a:lstStyle/>
          <a:p>
            <a:pPr indent="0" marL="0">
              <a:buNone/>
            </a:pPr>
            <a:r>
              <a:rPr lang="en-US" sz="1800" dirty="0">
                <a:solidFill>
                  <a:schemeClr val="bg1"/>
                </a:solidFill>
                <a:latin typeface="Arial" pitchFamily="34" charset="0"/>
                <a:ea typeface="Arial" pitchFamily="34" charset="-122"/>
                <a:cs typeface="Arial" pitchFamily="34" charset="-120"/>
              </a:rPr>
              <a:t>Backend for the eight sample services: Firestore alongside Firebase Auth, or a relational API (e.g. Postgres) with Firebase only for identity?</a:t>
            </a:r>
            <a:endParaRPr lang="en-US" sz="1800" dirty="0"/>
          </a:p>
        </p:txBody>
      </p:sp>
      <p:sp>
        <p:nvSpPr>
          <p:cNvPr id="6" name="q-387"/>
          <p:cNvSpPr/>
          <p:nvPr/>
        </p:nvSpPr>
        <p:spPr>
          <a:xfrm>
            <a:off x="548640" y="2651760"/>
            <a:ext cx="548640" cy="548640"/>
          </a:xfrm>
          <a:prstGeom prst="ellipse">
            <a:avLst/>
          </a:prstGeom>
          <a:solidFill>
            <a:schemeClr val="accent1"/>
          </a:solidFill>
          <a:ln/>
        </p:spPr>
      </p:sp>
      <p:sp>
        <p:nvSpPr>
          <p:cNvPr id="7" name="text-388"/>
          <p:cNvSpPr txBox="1"/>
          <p:nvPr/>
        </p:nvSpPr>
        <p:spPr>
          <a:xfrm>
            <a:off x="548640" y="265176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Georgia" pitchFamily="34" charset="0"/>
                <a:ea typeface="Georgia" pitchFamily="34" charset="-122"/>
                <a:cs typeface="Georgia" pitchFamily="34" charset="-120"/>
              </a:rPr>
              <a:t>2</a:t>
            </a:r>
            <a:endParaRPr lang="en-US" sz="2000" dirty="0"/>
          </a:p>
        </p:txBody>
      </p:sp>
      <p:sp>
        <p:nvSpPr>
          <p:cNvPr id="8" name="text-389"/>
          <p:cNvSpPr txBox="1"/>
          <p:nvPr/>
        </p:nvSpPr>
        <p:spPr>
          <a:xfrm>
            <a:off x="1371600" y="2606040"/>
            <a:ext cx="10271455" cy="914400"/>
          </a:xfrm>
          <a:prstGeom prst="rect">
            <a:avLst/>
          </a:prstGeom>
          <a:noFill/>
          <a:ln/>
        </p:spPr>
        <p:txBody>
          <a:bodyPr wrap="square" lIns="0" tIns="0" rIns="0" bIns="0" rtlCol="0" anchor="ctr"/>
          <a:lstStyle/>
          <a:p>
            <a:pPr indent="0" marL="0">
              <a:buNone/>
            </a:pPr>
            <a:r>
              <a:rPr lang="en-US" sz="1800" dirty="0">
                <a:solidFill>
                  <a:schemeClr val="bg1"/>
                </a:solidFill>
                <a:latin typeface="Arial" pitchFamily="34" charset="0"/>
                <a:ea typeface="Arial" pitchFamily="34" charset="-122"/>
                <a:cs typeface="Arial" pitchFamily="34" charset="-120"/>
              </a:rPr>
              <a:t>Keep React Native Firebase on CocoaPods + static frameworks, or move to its default SPM + dynamic linkage?</a:t>
            </a:r>
            <a:endParaRPr lang="en-US" sz="1800" dirty="0"/>
          </a:p>
        </p:txBody>
      </p:sp>
      <p:sp>
        <p:nvSpPr>
          <p:cNvPr id="9" name="q-390"/>
          <p:cNvSpPr/>
          <p:nvPr/>
        </p:nvSpPr>
        <p:spPr>
          <a:xfrm>
            <a:off x="548640" y="3840480"/>
            <a:ext cx="548640" cy="548640"/>
          </a:xfrm>
          <a:prstGeom prst="ellipse">
            <a:avLst/>
          </a:prstGeom>
          <a:solidFill>
            <a:schemeClr val="accent1"/>
          </a:solidFill>
          <a:ln/>
        </p:spPr>
      </p:sp>
      <p:sp>
        <p:nvSpPr>
          <p:cNvPr id="10" name="text-391"/>
          <p:cNvSpPr txBox="1"/>
          <p:nvPr/>
        </p:nvSpPr>
        <p:spPr>
          <a:xfrm>
            <a:off x="548640" y="384048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Georgia" pitchFamily="34" charset="0"/>
                <a:ea typeface="Georgia" pitchFamily="34" charset="-122"/>
                <a:cs typeface="Georgia" pitchFamily="34" charset="-120"/>
              </a:rPr>
              <a:t>3</a:t>
            </a:r>
            <a:endParaRPr lang="en-US" sz="2000" dirty="0"/>
          </a:p>
        </p:txBody>
      </p:sp>
      <p:sp>
        <p:nvSpPr>
          <p:cNvPr id="11" name="text-392"/>
          <p:cNvSpPr txBox="1"/>
          <p:nvPr/>
        </p:nvSpPr>
        <p:spPr>
          <a:xfrm>
            <a:off x="1371600" y="3794760"/>
            <a:ext cx="10271455" cy="914400"/>
          </a:xfrm>
          <a:prstGeom prst="rect">
            <a:avLst/>
          </a:prstGeom>
          <a:noFill/>
          <a:ln/>
        </p:spPr>
        <p:txBody>
          <a:bodyPr wrap="square" lIns="0" tIns="0" rIns="0" bIns="0" rtlCol="0" anchor="ctr"/>
          <a:lstStyle/>
          <a:p>
            <a:pPr indent="0" marL="0">
              <a:buNone/>
            </a:pPr>
            <a:r>
              <a:rPr lang="en-US" sz="1800" dirty="0">
                <a:solidFill>
                  <a:schemeClr val="bg1"/>
                </a:solidFill>
                <a:latin typeface="Arial" pitchFamily="34" charset="0"/>
                <a:ea typeface="Arial" pitchFamily="34" charset="-122"/>
                <a:cs typeface="Arial" pitchFamily="34" charset="-120"/>
              </a:rPr>
              <a:t>Test strategy and coverage bar before real users: which flows must be covered end to end?</a:t>
            </a:r>
            <a:endParaRPr lang="en-US" sz="1800" dirty="0"/>
          </a:p>
        </p:txBody>
      </p:sp>
      <p:sp>
        <p:nvSpPr>
          <p:cNvPr id="12" name="q-393"/>
          <p:cNvSpPr/>
          <p:nvPr/>
        </p:nvSpPr>
        <p:spPr>
          <a:xfrm>
            <a:off x="548640" y="5029200"/>
            <a:ext cx="548640" cy="548640"/>
          </a:xfrm>
          <a:prstGeom prst="ellipse">
            <a:avLst/>
          </a:prstGeom>
          <a:solidFill>
            <a:schemeClr val="accent1"/>
          </a:solidFill>
          <a:ln/>
        </p:spPr>
      </p:sp>
      <p:sp>
        <p:nvSpPr>
          <p:cNvPr id="13" name="text-394"/>
          <p:cNvSpPr txBox="1"/>
          <p:nvPr/>
        </p:nvSpPr>
        <p:spPr>
          <a:xfrm>
            <a:off x="548640" y="5029200"/>
            <a:ext cx="548640" cy="548640"/>
          </a:xfrm>
          <a:prstGeom prst="rect">
            <a:avLst/>
          </a:prstGeom>
          <a:noFill/>
          <a:ln/>
        </p:spPr>
        <p:txBody>
          <a:bodyPr wrap="square" lIns="0" tIns="0" rIns="0" bIns="0" rtlCol="0" anchor="ctr"/>
          <a:lstStyle/>
          <a:p>
            <a:pPr algn="ctr" indent="0" marL="0">
              <a:buNone/>
            </a:pPr>
            <a:r>
              <a:rPr lang="en-US" sz="2000" b="1" dirty="0">
                <a:solidFill>
                  <a:schemeClr val="bg1"/>
                </a:solidFill>
                <a:latin typeface="Georgia" pitchFamily="34" charset="0"/>
                <a:ea typeface="Georgia" pitchFamily="34" charset="-122"/>
                <a:cs typeface="Georgia" pitchFamily="34" charset="-120"/>
              </a:rPr>
              <a:t>4</a:t>
            </a:r>
            <a:endParaRPr lang="en-US" sz="2000" dirty="0"/>
          </a:p>
        </p:txBody>
      </p:sp>
      <p:sp>
        <p:nvSpPr>
          <p:cNvPr id="14" name="text-395"/>
          <p:cNvSpPr txBox="1"/>
          <p:nvPr/>
        </p:nvSpPr>
        <p:spPr>
          <a:xfrm>
            <a:off x="1371600" y="4983480"/>
            <a:ext cx="10271455" cy="914400"/>
          </a:xfrm>
          <a:prstGeom prst="rect">
            <a:avLst/>
          </a:prstGeom>
          <a:noFill/>
          <a:ln/>
        </p:spPr>
        <p:txBody>
          <a:bodyPr wrap="square" lIns="0" tIns="0" rIns="0" bIns="0" rtlCol="0" anchor="ctr"/>
          <a:lstStyle/>
          <a:p>
            <a:pPr indent="0" marL="0">
              <a:buNone/>
            </a:pPr>
            <a:r>
              <a:rPr lang="en-US" sz="1800" dirty="0">
                <a:solidFill>
                  <a:schemeClr val="bg1"/>
                </a:solidFill>
                <a:latin typeface="Arial" pitchFamily="34" charset="0"/>
                <a:ea typeface="Arial" pitchFamily="34" charset="-122"/>
                <a:cs typeface="Arial" pitchFamily="34" charset="-120"/>
              </a:rPr>
              <a:t>Payments provider and where the funding state machine is authoritative: server, provider webhooks, or both?</a:t>
            </a:r>
            <a:endParaRPr lang="en-US" sz="1800" dirty="0"/>
          </a:p>
        </p:txBody>
      </p:sp>
      <p:sp>
        <p:nvSpPr>
          <p:cNvPr id="25" name="Slide Number Placeholder 0"/>
          <p:cNvSpPr>
            <a:spLocks noGrp="1"/>
          </p:cNvSpPr>
          <p:nvPr>
            <p:ph type="sldNum" sz="quarter" idx="4294967295"/>
          </p:nvPr>
        </p:nvSpPr>
        <p:spPr>
          <a:xfrm>
            <a:off x="11094415"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Campaigns">
  <a:themeElements>
    <a:clrScheme name="Campaigns">
      <a:dk1>
        <a:srgbClr val="14161F"/>
      </a:dk1>
      <a:lt1>
        <a:srgbClr val="FFFFFF"/>
      </a:lt1>
      <a:dk2>
        <a:srgbClr val="4A4F66"/>
      </a:dk2>
      <a:lt2>
        <a:srgbClr val="EEF0FB"/>
      </a:lt2>
      <a:accent1>
        <a:srgbClr val="3341C4"/>
      </a:accent1>
      <a:accent2>
        <a:srgbClr val="8F9BFF"/>
      </a:accent2>
      <a:accent3>
        <a:srgbClr val="1F8A5B"/>
      </a:accent3>
      <a:accent4>
        <a:srgbClr val="B7791F"/>
      </a:accent4>
      <a:accent5>
        <a:srgbClr val="C2413B"/>
      </a:accent5>
      <a:accent6>
        <a:srgbClr val="8A8FA6"/>
      </a:accent6>
      <a:hlink>
        <a:srgbClr val="3341C4"/>
      </a:hlink>
      <a:folHlink>
        <a:srgbClr val="2A36A6"/>
      </a:folHlink>
    </a:clrScheme>
    <a:fontScheme name="Campaigns">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Campaigns: Technical overview</dc:title>
  <dc:subject>Architecture and technical decisions</dc:subject>
  <dc:creator>Campaigns engineering</dc:creator>
  <cp:lastModifiedBy>Campaigns engineering</cp:lastModifiedBy>
  <cp:revision>1</cp:revision>
  <dcterms:created xsi:type="dcterms:W3CDTF">2026-10-18T17:17:18Z</dcterms:created>
  <dcterms:modified xsi:type="dcterms:W3CDTF">2026-10-18T17:17:18Z</dcterms:modified>
</cp:coreProperties>
</file>