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3c59ae61-9001-05f2-fa31-04b4a3536da6}">
          <p14:sldIdLst>
            <p14:sldId id="256"/>
            <p14:sldId id="257"/>
            <p14:sldId id="258"/>
            <p14:sldId id="259"/>
          </p14:sldIdLst>
        </p14:section>
        <p14:section name="Product" id="{a3169238-236b-7a5e-4fb5-38595b76ee2a}">
          <p14:sldIdLst>
            <p14:sldId id="260"/>
            <p14:sldId id="261"/>
            <p14:sldId id="262"/>
            <p14:sldId id="263"/>
            <p14:sldId id="264"/>
            <p14:sldId id="265"/>
            <p14:sldId id="266"/>
            <p14:sldId id="267"/>
            <p14:sldId id="268"/>
            <p14:sldId id="269"/>
          </p14:sldIdLst>
        </p14:section>
        <p14:section name="Business" id="{7b0c21a9-1b71-94eb-98cb-a82f7275a3c5}">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Campaigns is a mobile app that helps important messages travel further. Think of a free tutoring program, a heat-safety tip, a public comment deadline: useful information that stays stuck inside the creator’s own circle. Today I’ll show you the problem, how the app works, and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reach, not the message. Organizations already have something worth saying. What they lack is a way to get it in front of people outside their bubble. Supporters want to help, but their shares stay inside the same circles, and when they give money they rarely see what it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Backers don’t donate to a cause; they pay for the message to be seen. That distinction matters: it makes small amounts meaningful, because ten dollars buys real reach, and it keeps the promise simple: your money buys ads, and you’ll see how many people they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Creators bring the message: nonprofits, community groups, small businesses, even individuals. Backers bring the reach. Both need to trust the process, which is why review, sources and reporting are built into every step you’re about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opens on a curated home: one featured story, then campaigns closing soon and campaigns whose ads are already running. Explore lets you search and filter across ten categories. Every card shows the same three things: how much is raised, how long is left, and roughly how many people the ads will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campaign page is designed to earn trust quickly. The numbers are right at the top. Reach is shown as a range and always marked as an estimate. Claims in the story link to their sources. And the split of every dollar is visible before anyone decides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Backing is three short steps. The key moment is the first one: as you pick an amount, the app shows how many people it will reach. Twenty-five dollars reaches roughly six hundred to twelve hundred people. Fees and refund rules are shown before payment, and guests can back without creating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the product. Six commitments run through the whole experience: review before anyone can back, sources for every claim, money that only buys ads, automatic refunds when a campaign can’t run, honest estimates, and privacy by default. These are also the strongest messages for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creators are not marketers, so creation is a guided, five-step flow. AI can suggest a title, summary or ad copy, but the creator stays in control and accepts or ignores each suggestion. Work saves automatically, and creators see exactly how their ads will look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people who would rather talk than type, there is a voice path. Four simple questions, answered out loud, become a first draft that the creator then edits. In the prototype a sample answer is typed out to show the experience; real speech recognition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campaign is submitted, creators get a dashboard that groups everything by stage and always says what to do next. Each campaign has a timeline from submission to final report, and creators can post updates that reach their backers and followers.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keeps backers and creators engaged after the first tap: payment confirmations, funding milestones, review decisions, ads going live and final reports. It is filtered by your relationship to the campaign, and every notification type can be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lead with in marketing. Every campaign ends with a public report: what was raised, the fee, what was spent on ads, what was refunded, and how many people were reached. Figures shown are from a completed sample campaign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matters for trust. The app has an editorial look, works in light and dark mode, uses motion and haptics to make actions feel confirmed, and respects accessibility settings such as Reduce Motion. It runs on both iPhone and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money in one example. A backer contributes 100 dollars; card processing is added on top, so the campaign receives the full 100. Ten percent is our platform fee, covering review, ad setup and reporting. Ninety dollars buys ads, which at our current assumptions reaches about 3,600 people. Reach assumptions: an average of 10 dollars per thousand ad views and 2.5 views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status: the app is real and complete as an experience, and accounts are real. Everything that involves money or outside partners is simulated, so we can show the full journey safely. Moving each simulated piece to the real thing is the next phase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forward has three stages. First, make the simulated parts real: payments, shared data and review tools. Then a small pilot with a handful of local organizations in one city, measuring reach and whether backers come back. Then launch. We need product help choosing the pilot and its measures, and marketing help testing the core message and recruiting creators.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and I can do a live walkthrough of any part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400" dirty="0">
                <a:solidFill>
                  <a:schemeClr val="tx1"/>
                </a:solidFill>
                <a:latin typeface="Georgia" pitchFamily="34" charset="0"/>
                <a:ea typeface="Georgia" pitchFamily="34" charset="-122"/>
                <a:cs typeface="Georgia"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Arial" pitchFamily="34" charset="0"/>
                <a:ea typeface="Arial" pitchFamily="34" charset="-122"/>
                <a:cs typeface="Arial" pitchFamily="34" charset="-120"/>
              </a:rPr>
              <a:t>Campaigns · Product overview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400" dirty="0">
                <a:solidFill>
                  <a:schemeClr val="bg1"/>
                </a:solidFill>
                <a:latin typeface="Georgia" pitchFamily="34" charset="0"/>
                <a:ea typeface="Georgia" pitchFamily="34" charset="-122"/>
                <a:cs typeface="Georgia"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Arial" pitchFamily="34" charset="0"/>
                <a:ea typeface="Arial" pitchFamily="34" charset="-122"/>
                <a:cs typeface="Arial" pitchFamily="34" charset="-120"/>
              </a:rPr>
              <a:t>Campaigns · Product overview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Users/kaushiksharma/Desktop/campaign-app/assets/images/splash-icon-dark.png">    </p:cNvPr>
          <p:cNvPicPr>
            <a:picLocks noChangeAspect="1"/>
          </p:cNvPicPr>
          <p:nvPr/>
        </p:nvPicPr>
        <p:blipFill>
          <a:blip r:embed="rId1"/>
          <a:stretch>
            <a:fillRect/>
          </a:stretch>
        </p:blipFill>
        <p:spPr>
          <a:xfrm>
            <a:off x="502920" y="822960"/>
            <a:ext cx="1097280" cy="1097280"/>
          </a:xfrm>
          <a:prstGeom prst="rect">
            <a:avLst/>
          </a:prstGeom>
        </p:spPr>
      </p:pic>
      <p:sp>
        <p:nvSpPr>
          <p:cNvPr id="3" name="text-1"/>
          <p:cNvSpPr txBox="1"/>
          <p:nvPr/>
        </p:nvSpPr>
        <p:spPr>
          <a:xfrm>
            <a:off x="548640" y="2148840"/>
            <a:ext cx="6766560" cy="1005840"/>
          </a:xfrm>
          <a:prstGeom prst="rect">
            <a:avLst/>
          </a:prstGeom>
          <a:noFill/>
          <a:ln/>
        </p:spPr>
        <p:txBody>
          <a:bodyPr wrap="square" lIns="0" tIns="0" rIns="0" bIns="0" rtlCol="0" anchor="t"/>
          <a:lstStyle/>
          <a:p>
            <a:pPr indent="0" marL="0">
              <a:buNone/>
            </a:pPr>
            <a:r>
              <a:rPr lang="en-US" sz="5400" dirty="0">
                <a:solidFill>
                  <a:schemeClr val="bg1"/>
                </a:solidFill>
                <a:latin typeface="Georgia" pitchFamily="34" charset="0"/>
                <a:ea typeface="Georgia" pitchFamily="34" charset="-122"/>
                <a:cs typeface="Georgia" pitchFamily="34" charset="-120"/>
              </a:rPr>
              <a:t>Campaigns</a:t>
            </a:r>
            <a:endParaRPr lang="en-US" sz="5400" dirty="0"/>
          </a:p>
        </p:txBody>
      </p:sp>
      <p:sp>
        <p:nvSpPr>
          <p:cNvPr id="4" name="text-2"/>
          <p:cNvSpPr txBox="1"/>
          <p:nvPr/>
        </p:nvSpPr>
        <p:spPr>
          <a:xfrm>
            <a:off x="548640" y="3246120"/>
            <a:ext cx="6400800" cy="1188720"/>
          </a:xfrm>
          <a:prstGeom prst="rect">
            <a:avLst/>
          </a:prstGeom>
          <a:noFill/>
          <a:ln/>
        </p:spPr>
        <p:txBody>
          <a:bodyPr wrap="square" lIns="0" tIns="0" rIns="0" bIns="0" rtlCol="0" anchor="t"/>
          <a:lstStyle/>
          <a:p>
            <a:pPr indent="0" marL="0">
              <a:buNone/>
            </a:pPr>
            <a:r>
              <a:rPr lang="en-US" sz="2600" dirty="0">
                <a:solidFill>
                  <a:schemeClr val="accent2"/>
                </a:solidFill>
                <a:latin typeface="Georgia" pitchFamily="34" charset="0"/>
                <a:ea typeface="Georgia" pitchFamily="34" charset="-122"/>
                <a:cs typeface="Georgia" pitchFamily="34" charset="-120"/>
              </a:rPr>
              <a:t>Help important messages reach the people who need to hear them.</a:t>
            </a:r>
            <a:endParaRPr lang="en-US" sz="2600" dirty="0"/>
          </a:p>
        </p:txBody>
      </p:sp>
      <p:sp>
        <p:nvSpPr>
          <p:cNvPr id="5" name="text-3"/>
          <p:cNvSpPr txBox="1"/>
          <p:nvPr/>
        </p:nvSpPr>
        <p:spPr>
          <a:xfrm>
            <a:off x="548640" y="5897880"/>
            <a:ext cx="6400800" cy="365760"/>
          </a:xfrm>
          <a:prstGeom prst="rect">
            <a:avLst/>
          </a:prstGeom>
          <a:noFill/>
          <a:ln/>
        </p:spPr>
        <p:txBody>
          <a:bodyPr wrap="square" lIns="0" tIns="0" rIns="0" bIns="0" rtlCol="0" anchor="t"/>
          <a:lstStyle/>
          <a:p>
            <a:pPr indent="0" marL="0">
              <a:buNone/>
            </a:pPr>
            <a:r>
              <a:rPr lang="en-US" sz="1400" dirty="0">
                <a:solidFill>
                  <a:schemeClr val="accent6"/>
                </a:solidFill>
                <a:latin typeface="Arial" pitchFamily="34" charset="0"/>
                <a:ea typeface="Arial" pitchFamily="34" charset="-122"/>
                <a:cs typeface="Arial" pitchFamily="34" charset="-120"/>
              </a:rPr>
              <a:t>Product overview  ·  iPhone and Android</a:t>
            </a:r>
            <a:endParaRPr lang="en-US" sz="1400" dirty="0"/>
          </a:p>
        </p:txBody>
      </p:sp>
      <p:pic>
        <p:nvPicPr>
          <p:cNvPr id="6" name="phone-home-4" descr="preencoded.png">    </p:cNvPr>
          <p:cNvPicPr>
            <a:picLocks noChangeAspect="1"/>
          </p:cNvPicPr>
          <p:nvPr/>
        </p:nvPicPr>
        <p:blipFill>
          <a:blip r:embed="rId2"/>
          <a:stretch>
            <a:fillRect/>
          </a:stretch>
        </p:blipFill>
        <p:spPr>
          <a:xfrm>
            <a:off x="7818120" y="502920"/>
            <a:ext cx="2772304"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Good messages rarely travel past their creator’s followers</a:t>
            </a:r>
            <a:endParaRPr lang="en-US" sz="3400" dirty="0"/>
          </a:p>
        </p:txBody>
      </p:sp>
      <p:sp>
        <p:nvSpPr>
          <p:cNvPr id="3" name="outer-circle"/>
          <p:cNvSpPr/>
          <p:nvPr/>
        </p:nvSpPr>
        <p:spPr>
          <a:xfrm>
            <a:off x="548640" y="1645920"/>
            <a:ext cx="4297680" cy="4297680"/>
          </a:xfrm>
          <a:prstGeom prst="ellipse">
            <a:avLst/>
          </a:prstGeom>
          <a:solidFill>
            <a:schemeClr val="bg2"/>
          </a:solidFill>
          <a:ln/>
        </p:spPr>
      </p:sp>
      <p:sp>
        <p:nvSpPr>
          <p:cNvPr id="4" name="inner-circle"/>
          <p:cNvSpPr/>
          <p:nvPr/>
        </p:nvSpPr>
        <p:spPr>
          <a:xfrm>
            <a:off x="1828800" y="3429000"/>
            <a:ext cx="1737360" cy="1737360"/>
          </a:xfrm>
          <a:prstGeom prst="ellipse">
            <a:avLst/>
          </a:prstGeom>
          <a:solidFill>
            <a:schemeClr val="accent1"/>
          </a:solidFill>
          <a:ln/>
        </p:spPr>
      </p:sp>
      <p:sp>
        <p:nvSpPr>
          <p:cNvPr id="5" name="text-5"/>
          <p:cNvSpPr txBox="1"/>
          <p:nvPr/>
        </p:nvSpPr>
        <p:spPr>
          <a:xfrm>
            <a:off x="1920240" y="397764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Who already follows the creator</a:t>
            </a:r>
            <a:endParaRPr lang="en-US" sz="1300" dirty="0"/>
          </a:p>
        </p:txBody>
      </p:sp>
      <p:sp>
        <p:nvSpPr>
          <p:cNvPr id="6" name="text-6"/>
          <p:cNvSpPr txBox="1"/>
          <p:nvPr/>
        </p:nvSpPr>
        <p:spPr>
          <a:xfrm>
            <a:off x="960120" y="2011680"/>
            <a:ext cx="3474720" cy="685800"/>
          </a:xfrm>
          <a:prstGeom prst="rect">
            <a:avLst/>
          </a:prstGeom>
          <a:noFill/>
          <a:ln/>
        </p:spPr>
        <p:txBody>
          <a:bodyPr wrap="square" lIns="0" tIns="0" rIns="0" bIns="0" rtlCol="0" anchor="ctr"/>
          <a:lstStyle/>
          <a:p>
            <a:pPr algn="ctr" indent="0" marL="0">
              <a:buNone/>
            </a:pPr>
            <a:r>
              <a:rPr lang="en-US" sz="1600" b="1" dirty="0">
                <a:solidFill>
                  <a:schemeClr val="accent1"/>
                </a:solidFill>
                <a:latin typeface="Arial" pitchFamily="34" charset="0"/>
                <a:ea typeface="Arial" pitchFamily="34" charset="-122"/>
                <a:cs typeface="Arial" pitchFamily="34" charset="-120"/>
              </a:rPr>
              <a:t>The people who need to hear it</a:t>
            </a:r>
            <a:endParaRPr lang="en-US" sz="1600" dirty="0"/>
          </a:p>
        </p:txBody>
      </p:sp>
      <p:sp>
        <p:nvSpPr>
          <p:cNvPr id="7" name="text-7"/>
          <p:cNvSpPr txBox="1"/>
          <p:nvPr/>
        </p:nvSpPr>
        <p:spPr>
          <a:xfrm>
            <a:off x="5577840" y="1508760"/>
            <a:ext cx="6065215" cy="822960"/>
          </a:xfrm>
          <a:prstGeom prst="rect">
            <a:avLst/>
          </a:prstGeom>
          <a:noFill/>
          <a:ln/>
        </p:spPr>
        <p:txBody>
          <a:bodyPr wrap="square" lIns="0" tIns="0" rIns="0" bIns="0" rtlCol="0" anchor="t"/>
          <a:lstStyle/>
          <a:p>
            <a:pPr indent="0" marL="0">
              <a:buNone/>
            </a:pPr>
            <a:r>
              <a:rPr lang="en-US" sz="2400" i="1" dirty="0">
                <a:solidFill>
                  <a:schemeClr val="tx1"/>
                </a:solidFill>
                <a:latin typeface="Georgia" pitchFamily="34" charset="0"/>
                <a:ea typeface="Georgia" pitchFamily="34" charset="-122"/>
                <a:cs typeface="Georgia" pitchFamily="34" charset="-120"/>
              </a:rPr>
              <a:t>“Free tutoring exists. Families don’t know.”</a:t>
            </a:r>
            <a:endParaRPr lang="en-US" sz="2400" dirty="0"/>
          </a:p>
        </p:txBody>
      </p:sp>
      <p:sp>
        <p:nvSpPr>
          <p:cNvPr id="8" name="text-8"/>
          <p:cNvSpPr txBox="1"/>
          <p:nvPr/>
        </p:nvSpPr>
        <p:spPr>
          <a:xfrm>
            <a:off x="5577840" y="2331720"/>
            <a:ext cx="6065215" cy="82296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A program can be free, proven and nearby, and still go unused because the people it’s for never hear about it.</a:t>
            </a:r>
            <a:endParaRPr lang="en-US" sz="1600" dirty="0"/>
          </a:p>
        </p:txBody>
      </p:sp>
      <p:sp>
        <p:nvSpPr>
          <p:cNvPr id="9" name="icon-bg-9"/>
          <p:cNvSpPr/>
          <p:nvPr/>
        </p:nvSpPr>
        <p:spPr>
          <a:xfrm>
            <a:off x="5577840" y="3429000"/>
            <a:ext cx="502920" cy="502920"/>
          </a:xfrm>
          <a:prstGeom prst="ellipse">
            <a:avLst/>
          </a:prstGeom>
          <a:solidFill>
            <a:schemeClr val="accent1"/>
          </a:solidFill>
          <a:ln/>
        </p:spPr>
      </p:sp>
      <p:pic>
        <p:nvPicPr>
          <p:cNvPr id="10" name="icon-10" descr="preencoded.png">    </p:cNvPr>
          <p:cNvPicPr>
            <a:picLocks noChangeAspect="1"/>
          </p:cNvPicPr>
          <p:nvPr/>
        </p:nvPicPr>
        <p:blipFill>
          <a:blip r:embed="rId1"/>
          <a:stretch>
            <a:fillRect/>
          </a:stretch>
        </p:blipFill>
        <p:spPr>
          <a:xfrm>
            <a:off x="5688482" y="3539642"/>
            <a:ext cx="281635" cy="281635"/>
          </a:xfrm>
          <a:prstGeom prst="rect">
            <a:avLst/>
          </a:prstGeom>
        </p:spPr>
      </p:pic>
      <p:sp>
        <p:nvSpPr>
          <p:cNvPr id="11" name="text-11"/>
          <p:cNvSpPr txBox="1"/>
          <p:nvPr/>
        </p:nvSpPr>
        <p:spPr>
          <a:xfrm>
            <a:off x="6309360" y="3410712"/>
            <a:ext cx="53336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Ads cost money and know-how</a:t>
            </a:r>
            <a:endParaRPr lang="en-US" sz="1800" dirty="0"/>
          </a:p>
        </p:txBody>
      </p:sp>
      <p:sp>
        <p:nvSpPr>
          <p:cNvPr id="12" name="text-12"/>
          <p:cNvSpPr txBox="1"/>
          <p:nvPr/>
        </p:nvSpPr>
        <p:spPr>
          <a:xfrm>
            <a:off x="6309360" y="3794760"/>
            <a:ext cx="5333695" cy="5029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Small organizations rarely have an ad budget or someone who can run one.</a:t>
            </a:r>
            <a:endParaRPr lang="en-US" sz="1500" dirty="0"/>
          </a:p>
        </p:txBody>
      </p:sp>
      <p:sp>
        <p:nvSpPr>
          <p:cNvPr id="13" name="icon-bg-13"/>
          <p:cNvSpPr/>
          <p:nvPr/>
        </p:nvSpPr>
        <p:spPr>
          <a:xfrm>
            <a:off x="5577840" y="4343400"/>
            <a:ext cx="502920" cy="502920"/>
          </a:xfrm>
          <a:prstGeom prst="ellipse">
            <a:avLst/>
          </a:prstGeom>
          <a:solidFill>
            <a:schemeClr val="accent1"/>
          </a:solidFill>
          <a:ln/>
        </p:spPr>
      </p:sp>
      <p:pic>
        <p:nvPicPr>
          <p:cNvPr id="14" name="icon-14" descr="preencoded.png">    </p:cNvPr>
          <p:cNvPicPr>
            <a:picLocks noChangeAspect="1"/>
          </p:cNvPicPr>
          <p:nvPr/>
        </p:nvPicPr>
        <p:blipFill>
          <a:blip r:embed="rId2"/>
          <a:stretch>
            <a:fillRect/>
          </a:stretch>
        </p:blipFill>
        <p:spPr>
          <a:xfrm>
            <a:off x="5688482" y="4454042"/>
            <a:ext cx="281635" cy="281635"/>
          </a:xfrm>
          <a:prstGeom prst="rect">
            <a:avLst/>
          </a:prstGeom>
        </p:spPr>
      </p:pic>
      <p:sp>
        <p:nvSpPr>
          <p:cNvPr id="15" name="text-15"/>
          <p:cNvSpPr txBox="1"/>
          <p:nvPr/>
        </p:nvSpPr>
        <p:spPr>
          <a:xfrm>
            <a:off x="6309360" y="4325112"/>
            <a:ext cx="53336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Sharing stays in the same circles</a:t>
            </a:r>
            <a:endParaRPr lang="en-US" sz="1800" dirty="0"/>
          </a:p>
        </p:txBody>
      </p:sp>
      <p:sp>
        <p:nvSpPr>
          <p:cNvPr id="16" name="text-16"/>
          <p:cNvSpPr txBox="1"/>
          <p:nvPr/>
        </p:nvSpPr>
        <p:spPr>
          <a:xfrm>
            <a:off x="6309360" y="4709160"/>
            <a:ext cx="5333695" cy="5029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Supporters repost to people who already agree.</a:t>
            </a:r>
            <a:endParaRPr lang="en-US" sz="1500" dirty="0"/>
          </a:p>
        </p:txBody>
      </p:sp>
      <p:sp>
        <p:nvSpPr>
          <p:cNvPr id="17" name="icon-bg-17"/>
          <p:cNvSpPr/>
          <p:nvPr/>
        </p:nvSpPr>
        <p:spPr>
          <a:xfrm>
            <a:off x="5577840" y="5257800"/>
            <a:ext cx="502920" cy="502920"/>
          </a:xfrm>
          <a:prstGeom prst="ellipse">
            <a:avLst/>
          </a:prstGeom>
          <a:solidFill>
            <a:schemeClr val="accent1"/>
          </a:solidFill>
          <a:ln/>
        </p:spPr>
      </p:sp>
      <p:pic>
        <p:nvPicPr>
          <p:cNvPr id="18" name="icon-18" descr="preencoded.png">    </p:cNvPr>
          <p:cNvPicPr>
            <a:picLocks noChangeAspect="1"/>
          </p:cNvPicPr>
          <p:nvPr/>
        </p:nvPicPr>
        <p:blipFill>
          <a:blip r:embed="rId3"/>
          <a:stretch>
            <a:fillRect/>
          </a:stretch>
        </p:blipFill>
        <p:spPr>
          <a:xfrm>
            <a:off x="5688482" y="5368442"/>
            <a:ext cx="281635" cy="281635"/>
          </a:xfrm>
          <a:prstGeom prst="rect">
            <a:avLst/>
          </a:prstGeom>
        </p:spPr>
      </p:pic>
      <p:sp>
        <p:nvSpPr>
          <p:cNvPr id="19" name="text-19"/>
          <p:cNvSpPr txBox="1"/>
          <p:nvPr/>
        </p:nvSpPr>
        <p:spPr>
          <a:xfrm>
            <a:off x="6309360" y="5239512"/>
            <a:ext cx="53336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Giving feels opaque</a:t>
            </a:r>
            <a:endParaRPr lang="en-US" sz="1800" dirty="0"/>
          </a:p>
        </p:txBody>
      </p:sp>
      <p:sp>
        <p:nvSpPr>
          <p:cNvPr id="20" name="text-20"/>
          <p:cNvSpPr txBox="1"/>
          <p:nvPr/>
        </p:nvSpPr>
        <p:spPr>
          <a:xfrm>
            <a:off x="6309360" y="5623560"/>
            <a:ext cx="5333695" cy="5029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People can’t see what their money actually achieved.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The idea: backers fund the reach, not the cause</a:t>
            </a:r>
            <a:endParaRPr lang="en-US" sz="3400" dirty="0"/>
          </a:p>
        </p:txBody>
      </p:sp>
      <p:sp>
        <p:nvSpPr>
          <p:cNvPr id="3" name="card-21"/>
          <p:cNvSpPr/>
          <p:nvPr/>
        </p:nvSpPr>
        <p:spPr>
          <a:xfrm>
            <a:off x="548640" y="1600200"/>
            <a:ext cx="1962851" cy="3108960"/>
          </a:xfrm>
          <a:prstGeom prst="roundRect">
            <a:avLst>
              <a:gd name="adj" fmla="val 6988"/>
            </a:avLst>
          </a:prstGeom>
          <a:solidFill>
            <a:schemeClr val="bg2"/>
          </a:solidFill>
          <a:ln/>
        </p:spPr>
      </p:sp>
      <p:sp>
        <p:nvSpPr>
          <p:cNvPr id="4" name="icon-bg-22"/>
          <p:cNvSpPr/>
          <p:nvPr/>
        </p:nvSpPr>
        <p:spPr>
          <a:xfrm>
            <a:off x="1164306" y="1874520"/>
            <a:ext cx="731520" cy="731520"/>
          </a:xfrm>
          <a:prstGeom prst="ellipse">
            <a:avLst/>
          </a:prstGeom>
          <a:solidFill>
            <a:schemeClr val="accent1"/>
          </a:solidFill>
          <a:ln/>
        </p:spPr>
      </p:sp>
      <p:pic>
        <p:nvPicPr>
          <p:cNvPr id="5" name="icon-23" descr="preencoded.png">    </p:cNvPr>
          <p:cNvPicPr>
            <a:picLocks noChangeAspect="1"/>
          </p:cNvPicPr>
          <p:nvPr/>
        </p:nvPicPr>
        <p:blipFill>
          <a:blip r:embed="rId1"/>
          <a:stretch>
            <a:fillRect/>
          </a:stretch>
        </p:blipFill>
        <p:spPr>
          <a:xfrm>
            <a:off x="1325240" y="2035454"/>
            <a:ext cx="409651" cy="409651"/>
          </a:xfrm>
          <a:prstGeom prst="rect">
            <a:avLst/>
          </a:prstGeom>
        </p:spPr>
      </p:pic>
      <p:sp>
        <p:nvSpPr>
          <p:cNvPr id="6" name="text-24"/>
          <p:cNvSpPr txBox="1"/>
          <p:nvPr/>
        </p:nvSpPr>
        <p:spPr>
          <a:xfrm>
            <a:off x="731520" y="2743200"/>
            <a:ext cx="1597091"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Create</a:t>
            </a:r>
            <a:endParaRPr lang="en-US" sz="2000" dirty="0"/>
          </a:p>
        </p:txBody>
      </p:sp>
      <p:sp>
        <p:nvSpPr>
          <p:cNvPr id="7" name="text-25"/>
          <p:cNvSpPr txBox="1"/>
          <p:nvPr/>
        </p:nvSpPr>
        <p:spPr>
          <a:xfrm>
            <a:off x="777240" y="3200400"/>
            <a:ext cx="1505651" cy="137160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A creator writes the message, adds sources and designs the ads.</a:t>
            </a:r>
            <a:endParaRPr lang="en-US" sz="1400" dirty="0"/>
          </a:p>
        </p:txBody>
      </p:sp>
      <p:sp>
        <p:nvSpPr>
          <p:cNvPr id="8" name="arrow-26"/>
          <p:cNvSpPr/>
          <p:nvPr/>
        </p:nvSpPr>
        <p:spPr>
          <a:xfrm>
            <a:off x="2548067" y="3154680"/>
            <a:ext cx="246888" cy="914"/>
          </a:xfrm>
          <a:prstGeom prst="line">
            <a:avLst/>
          </a:prstGeom>
          <a:noFill/>
          <a:ln w="25400">
            <a:solidFill>
              <a:schemeClr val="accent1"/>
            </a:solidFill>
            <a:prstDash val="solid"/>
            <a:tailEnd type="triangle"/>
          </a:ln>
        </p:spPr>
      </p:sp>
      <p:sp>
        <p:nvSpPr>
          <p:cNvPr id="9" name="card-27"/>
          <p:cNvSpPr/>
          <p:nvPr/>
        </p:nvSpPr>
        <p:spPr>
          <a:xfrm>
            <a:off x="2831531" y="1600200"/>
            <a:ext cx="1962851" cy="3108960"/>
          </a:xfrm>
          <a:prstGeom prst="roundRect">
            <a:avLst>
              <a:gd name="adj" fmla="val 6988"/>
            </a:avLst>
          </a:prstGeom>
          <a:solidFill>
            <a:schemeClr val="bg2"/>
          </a:solidFill>
          <a:ln/>
        </p:spPr>
      </p:sp>
      <p:sp>
        <p:nvSpPr>
          <p:cNvPr id="10" name="icon-bg-28"/>
          <p:cNvSpPr/>
          <p:nvPr/>
        </p:nvSpPr>
        <p:spPr>
          <a:xfrm>
            <a:off x="3447197" y="1874520"/>
            <a:ext cx="731520" cy="731520"/>
          </a:xfrm>
          <a:prstGeom prst="ellipse">
            <a:avLst/>
          </a:prstGeom>
          <a:solidFill>
            <a:schemeClr val="accent1"/>
          </a:solidFill>
          <a:ln/>
        </p:spPr>
      </p:sp>
      <p:pic>
        <p:nvPicPr>
          <p:cNvPr id="11" name="icon-29" descr="preencoded.png">    </p:cNvPr>
          <p:cNvPicPr>
            <a:picLocks noChangeAspect="1"/>
          </p:cNvPicPr>
          <p:nvPr/>
        </p:nvPicPr>
        <p:blipFill>
          <a:blip r:embed="rId2"/>
          <a:stretch>
            <a:fillRect/>
          </a:stretch>
        </p:blipFill>
        <p:spPr>
          <a:xfrm>
            <a:off x="3608131" y="2035454"/>
            <a:ext cx="409651" cy="409651"/>
          </a:xfrm>
          <a:prstGeom prst="rect">
            <a:avLst/>
          </a:prstGeom>
        </p:spPr>
      </p:pic>
      <p:sp>
        <p:nvSpPr>
          <p:cNvPr id="12" name="text-30"/>
          <p:cNvSpPr txBox="1"/>
          <p:nvPr/>
        </p:nvSpPr>
        <p:spPr>
          <a:xfrm>
            <a:off x="3014411" y="2743200"/>
            <a:ext cx="1597091"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Review</a:t>
            </a:r>
            <a:endParaRPr lang="en-US" sz="2000" dirty="0"/>
          </a:p>
        </p:txBody>
      </p:sp>
      <p:sp>
        <p:nvSpPr>
          <p:cNvPr id="13" name="text-31"/>
          <p:cNvSpPr txBox="1"/>
          <p:nvPr/>
        </p:nvSpPr>
        <p:spPr>
          <a:xfrm>
            <a:off x="3060131" y="3200400"/>
            <a:ext cx="1505651" cy="137160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Our team checks the facts, visuals and targeting before anything goes live.</a:t>
            </a:r>
            <a:endParaRPr lang="en-US" sz="1400" dirty="0"/>
          </a:p>
        </p:txBody>
      </p:sp>
      <p:sp>
        <p:nvSpPr>
          <p:cNvPr id="14" name="arrow-32"/>
          <p:cNvSpPr/>
          <p:nvPr/>
        </p:nvSpPr>
        <p:spPr>
          <a:xfrm>
            <a:off x="4830958" y="3154680"/>
            <a:ext cx="246888" cy="914"/>
          </a:xfrm>
          <a:prstGeom prst="line">
            <a:avLst/>
          </a:prstGeom>
          <a:noFill/>
          <a:ln w="25400">
            <a:solidFill>
              <a:schemeClr val="accent1"/>
            </a:solidFill>
            <a:prstDash val="solid"/>
            <a:tailEnd type="triangle"/>
          </a:ln>
        </p:spPr>
      </p:sp>
      <p:sp>
        <p:nvSpPr>
          <p:cNvPr id="15" name="card-33"/>
          <p:cNvSpPr/>
          <p:nvPr/>
        </p:nvSpPr>
        <p:spPr>
          <a:xfrm>
            <a:off x="5114422" y="1600200"/>
            <a:ext cx="1962851" cy="3108960"/>
          </a:xfrm>
          <a:prstGeom prst="roundRect">
            <a:avLst>
              <a:gd name="adj" fmla="val 6988"/>
            </a:avLst>
          </a:prstGeom>
          <a:solidFill>
            <a:schemeClr val="bg2"/>
          </a:solidFill>
          <a:ln/>
        </p:spPr>
      </p:sp>
      <p:sp>
        <p:nvSpPr>
          <p:cNvPr id="16" name="icon-bg-34"/>
          <p:cNvSpPr/>
          <p:nvPr/>
        </p:nvSpPr>
        <p:spPr>
          <a:xfrm>
            <a:off x="5730088" y="1874520"/>
            <a:ext cx="731520" cy="731520"/>
          </a:xfrm>
          <a:prstGeom prst="ellipse">
            <a:avLst/>
          </a:prstGeom>
          <a:solidFill>
            <a:schemeClr val="accent1"/>
          </a:solidFill>
          <a:ln/>
        </p:spPr>
      </p:sp>
      <p:pic>
        <p:nvPicPr>
          <p:cNvPr id="17" name="icon-35" descr="preencoded.png">    </p:cNvPr>
          <p:cNvPicPr>
            <a:picLocks noChangeAspect="1"/>
          </p:cNvPicPr>
          <p:nvPr/>
        </p:nvPicPr>
        <p:blipFill>
          <a:blip r:embed="rId3"/>
          <a:stretch>
            <a:fillRect/>
          </a:stretch>
        </p:blipFill>
        <p:spPr>
          <a:xfrm>
            <a:off x="5891022" y="2035454"/>
            <a:ext cx="409651" cy="409651"/>
          </a:xfrm>
          <a:prstGeom prst="rect">
            <a:avLst/>
          </a:prstGeom>
        </p:spPr>
      </p:pic>
      <p:sp>
        <p:nvSpPr>
          <p:cNvPr id="18" name="text-36"/>
          <p:cNvSpPr txBox="1"/>
          <p:nvPr/>
        </p:nvSpPr>
        <p:spPr>
          <a:xfrm>
            <a:off x="5297302" y="2743200"/>
            <a:ext cx="1597091"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Back</a:t>
            </a:r>
            <a:endParaRPr lang="en-US" sz="2000" dirty="0"/>
          </a:p>
        </p:txBody>
      </p:sp>
      <p:sp>
        <p:nvSpPr>
          <p:cNvPr id="19" name="text-37"/>
          <p:cNvSpPr txBox="1"/>
          <p:nvPr/>
        </p:nvSpPr>
        <p:spPr>
          <a:xfrm>
            <a:off x="5343022" y="3200400"/>
            <a:ext cx="1505651" cy="137160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Backers pool money toward a goal. It pays for ads, not the cause.</a:t>
            </a:r>
            <a:endParaRPr lang="en-US" sz="1400" dirty="0"/>
          </a:p>
        </p:txBody>
      </p:sp>
      <p:sp>
        <p:nvSpPr>
          <p:cNvPr id="20" name="arrow-38"/>
          <p:cNvSpPr/>
          <p:nvPr/>
        </p:nvSpPr>
        <p:spPr>
          <a:xfrm>
            <a:off x="7113849" y="3154680"/>
            <a:ext cx="246888" cy="914"/>
          </a:xfrm>
          <a:prstGeom prst="line">
            <a:avLst/>
          </a:prstGeom>
          <a:noFill/>
          <a:ln w="25400">
            <a:solidFill>
              <a:schemeClr val="accent1"/>
            </a:solidFill>
            <a:prstDash val="solid"/>
            <a:tailEnd type="triangle"/>
          </a:ln>
        </p:spPr>
      </p:sp>
      <p:sp>
        <p:nvSpPr>
          <p:cNvPr id="21" name="card-39"/>
          <p:cNvSpPr/>
          <p:nvPr/>
        </p:nvSpPr>
        <p:spPr>
          <a:xfrm>
            <a:off x="7397313" y="1600200"/>
            <a:ext cx="1962851" cy="3108960"/>
          </a:xfrm>
          <a:prstGeom prst="roundRect">
            <a:avLst>
              <a:gd name="adj" fmla="val 6988"/>
            </a:avLst>
          </a:prstGeom>
          <a:solidFill>
            <a:schemeClr val="bg2"/>
          </a:solidFill>
          <a:ln/>
        </p:spPr>
      </p:sp>
      <p:sp>
        <p:nvSpPr>
          <p:cNvPr id="22" name="icon-bg-40"/>
          <p:cNvSpPr/>
          <p:nvPr/>
        </p:nvSpPr>
        <p:spPr>
          <a:xfrm>
            <a:off x="8012979" y="1874520"/>
            <a:ext cx="731520" cy="731520"/>
          </a:xfrm>
          <a:prstGeom prst="ellipse">
            <a:avLst/>
          </a:prstGeom>
          <a:solidFill>
            <a:schemeClr val="accent1"/>
          </a:solidFill>
          <a:ln/>
        </p:spPr>
      </p:sp>
      <p:pic>
        <p:nvPicPr>
          <p:cNvPr id="23" name="icon-41" descr="preencoded.png">    </p:cNvPr>
          <p:cNvPicPr>
            <a:picLocks noChangeAspect="1"/>
          </p:cNvPicPr>
          <p:nvPr/>
        </p:nvPicPr>
        <p:blipFill>
          <a:blip r:embed="rId4"/>
          <a:stretch>
            <a:fillRect/>
          </a:stretch>
        </p:blipFill>
        <p:spPr>
          <a:xfrm>
            <a:off x="8173913" y="2035454"/>
            <a:ext cx="409651" cy="409651"/>
          </a:xfrm>
          <a:prstGeom prst="rect">
            <a:avLst/>
          </a:prstGeom>
        </p:spPr>
      </p:pic>
      <p:sp>
        <p:nvSpPr>
          <p:cNvPr id="24" name="text-42"/>
          <p:cNvSpPr txBox="1"/>
          <p:nvPr/>
        </p:nvSpPr>
        <p:spPr>
          <a:xfrm>
            <a:off x="7580193" y="2743200"/>
            <a:ext cx="1597091"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Promote</a:t>
            </a:r>
            <a:endParaRPr lang="en-US" sz="2000" dirty="0"/>
          </a:p>
        </p:txBody>
      </p:sp>
      <p:sp>
        <p:nvSpPr>
          <p:cNvPr id="25" name="text-43"/>
          <p:cNvSpPr txBox="1"/>
          <p:nvPr/>
        </p:nvSpPr>
        <p:spPr>
          <a:xfrm>
            <a:off x="7625913" y="3200400"/>
            <a:ext cx="1505651" cy="137160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Ads carry the message to new people who match the target audience.</a:t>
            </a:r>
            <a:endParaRPr lang="en-US" sz="1400" dirty="0"/>
          </a:p>
        </p:txBody>
      </p:sp>
      <p:sp>
        <p:nvSpPr>
          <p:cNvPr id="26" name="arrow-44"/>
          <p:cNvSpPr/>
          <p:nvPr/>
        </p:nvSpPr>
        <p:spPr>
          <a:xfrm>
            <a:off x="9396740" y="3154680"/>
            <a:ext cx="246888" cy="914"/>
          </a:xfrm>
          <a:prstGeom prst="line">
            <a:avLst/>
          </a:prstGeom>
          <a:noFill/>
          <a:ln w="25400">
            <a:solidFill>
              <a:schemeClr val="accent1"/>
            </a:solidFill>
            <a:prstDash val="solid"/>
            <a:tailEnd type="triangle"/>
          </a:ln>
        </p:spPr>
      </p:sp>
      <p:sp>
        <p:nvSpPr>
          <p:cNvPr id="27" name="card-45"/>
          <p:cNvSpPr/>
          <p:nvPr/>
        </p:nvSpPr>
        <p:spPr>
          <a:xfrm>
            <a:off x="9680204" y="1600200"/>
            <a:ext cx="1962851" cy="3108960"/>
          </a:xfrm>
          <a:prstGeom prst="roundRect">
            <a:avLst>
              <a:gd name="adj" fmla="val 6988"/>
            </a:avLst>
          </a:prstGeom>
          <a:solidFill>
            <a:schemeClr val="bg2"/>
          </a:solidFill>
          <a:ln/>
        </p:spPr>
      </p:sp>
      <p:sp>
        <p:nvSpPr>
          <p:cNvPr id="28" name="icon-bg-46"/>
          <p:cNvSpPr/>
          <p:nvPr/>
        </p:nvSpPr>
        <p:spPr>
          <a:xfrm>
            <a:off x="10295870" y="1874520"/>
            <a:ext cx="731520" cy="731520"/>
          </a:xfrm>
          <a:prstGeom prst="ellipse">
            <a:avLst/>
          </a:prstGeom>
          <a:solidFill>
            <a:schemeClr val="accent1"/>
          </a:solidFill>
          <a:ln/>
        </p:spPr>
      </p:sp>
      <p:pic>
        <p:nvPicPr>
          <p:cNvPr id="29" name="icon-47" descr="preencoded.png">    </p:cNvPr>
          <p:cNvPicPr>
            <a:picLocks noChangeAspect="1"/>
          </p:cNvPicPr>
          <p:nvPr/>
        </p:nvPicPr>
        <p:blipFill>
          <a:blip r:embed="rId5"/>
          <a:stretch>
            <a:fillRect/>
          </a:stretch>
        </p:blipFill>
        <p:spPr>
          <a:xfrm>
            <a:off x="10456804" y="2035454"/>
            <a:ext cx="409651" cy="409651"/>
          </a:xfrm>
          <a:prstGeom prst="rect">
            <a:avLst/>
          </a:prstGeom>
        </p:spPr>
      </p:pic>
      <p:sp>
        <p:nvSpPr>
          <p:cNvPr id="30" name="text-48"/>
          <p:cNvSpPr txBox="1"/>
          <p:nvPr/>
        </p:nvSpPr>
        <p:spPr>
          <a:xfrm>
            <a:off x="9863084" y="2743200"/>
            <a:ext cx="1597091"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Report</a:t>
            </a:r>
            <a:endParaRPr lang="en-US" sz="2000" dirty="0"/>
          </a:p>
        </p:txBody>
      </p:sp>
      <p:sp>
        <p:nvSpPr>
          <p:cNvPr id="31" name="text-49"/>
          <p:cNvSpPr txBox="1"/>
          <p:nvPr/>
        </p:nvSpPr>
        <p:spPr>
          <a:xfrm>
            <a:off x="9908804" y="3200400"/>
            <a:ext cx="1505651" cy="137160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Everyone sees a public report: money spent and people reached.</a:t>
            </a:r>
            <a:endParaRPr lang="en-US" sz="1400" dirty="0"/>
          </a:p>
        </p:txBody>
      </p:sp>
      <p:sp>
        <p:nvSpPr>
          <p:cNvPr id="32" name="card-50"/>
          <p:cNvSpPr/>
          <p:nvPr/>
        </p:nvSpPr>
        <p:spPr>
          <a:xfrm>
            <a:off x="548640" y="5074920"/>
            <a:ext cx="11094415" cy="960120"/>
          </a:xfrm>
          <a:prstGeom prst="roundRect">
            <a:avLst>
              <a:gd name="adj" fmla="val 14286"/>
            </a:avLst>
          </a:prstGeom>
          <a:solidFill>
            <a:schemeClr val="tx1"/>
          </a:solidFill>
          <a:ln/>
        </p:spPr>
      </p:sp>
      <p:sp>
        <p:nvSpPr>
          <p:cNvPr id="33" name="text-51"/>
          <p:cNvSpPr txBox="1"/>
          <p:nvPr/>
        </p:nvSpPr>
        <p:spPr>
          <a:xfrm>
            <a:off x="914400" y="5074920"/>
            <a:ext cx="10362895" cy="960120"/>
          </a:xfrm>
          <a:prstGeom prst="rect">
            <a:avLst/>
          </a:prstGeom>
          <a:noFill/>
          <a:ln/>
        </p:spPr>
        <p:txBody>
          <a:bodyPr wrap="square" lIns="0" tIns="0" rIns="0" bIns="0" rtlCol="0" anchor="ctr"/>
          <a:lstStyle/>
          <a:p>
            <a:pPr indent="0" marL="0">
              <a:buNone/>
            </a:pPr>
            <a:r>
              <a:rPr lang="en-US" sz="1800" b="1" dirty="0">
                <a:solidFill>
                  <a:schemeClr val="accent2"/>
                </a:solidFill>
                <a:latin typeface="Arial" pitchFamily="34" charset="0"/>
                <a:ea typeface="Arial" pitchFamily="34" charset="-122"/>
                <a:cs typeface="Arial" pitchFamily="34" charset="-120"/>
              </a:rPr>
              <a:t>Not a donation platform. </a:t>
            </a:r>
            <a:pPr indent="0" marL="0">
              <a:buNone/>
            </a:pPr>
            <a:r>
              <a:rPr lang="en-US" sz="1800" dirty="0">
                <a:solidFill>
                  <a:schemeClr val="bg1"/>
                </a:solidFill>
                <a:latin typeface="Arial" pitchFamily="34" charset="0"/>
                <a:ea typeface="Arial" pitchFamily="34" charset="-122"/>
                <a:cs typeface="Arial" pitchFamily="34" charset="-120"/>
              </a:rPr>
              <a:t>Contributions buy ad placements for a message. They never go to the creator or the cause directly.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Two sides, one goal: more of the right people see it</a:t>
            </a:r>
            <a:endParaRPr lang="en-US" sz="3400" dirty="0"/>
          </a:p>
        </p:txBody>
      </p:sp>
      <p:sp>
        <p:nvSpPr>
          <p:cNvPr id="3" name="card-52"/>
          <p:cNvSpPr/>
          <p:nvPr/>
        </p:nvSpPr>
        <p:spPr>
          <a:xfrm>
            <a:off x="548640" y="1508760"/>
            <a:ext cx="5364328" cy="3429000"/>
          </a:xfrm>
          <a:prstGeom prst="roundRect">
            <a:avLst>
              <a:gd name="adj" fmla="val 4000"/>
            </a:avLst>
          </a:prstGeom>
          <a:solidFill>
            <a:schemeClr val="bg2"/>
          </a:solidFill>
          <a:ln/>
        </p:spPr>
      </p:sp>
      <p:sp>
        <p:nvSpPr>
          <p:cNvPr id="4" name="icon-bg-53"/>
          <p:cNvSpPr/>
          <p:nvPr/>
        </p:nvSpPr>
        <p:spPr>
          <a:xfrm>
            <a:off x="914400" y="1783080"/>
            <a:ext cx="640080" cy="640080"/>
          </a:xfrm>
          <a:prstGeom prst="ellipse">
            <a:avLst/>
          </a:prstGeom>
          <a:solidFill>
            <a:schemeClr val="accent1"/>
          </a:solidFill>
          <a:ln/>
        </p:spPr>
      </p:sp>
      <p:pic>
        <p:nvPicPr>
          <p:cNvPr id="5" name="icon-54" descr="preencoded.png">    </p:cNvPr>
          <p:cNvPicPr>
            <a:picLocks noChangeAspect="1"/>
          </p:cNvPicPr>
          <p:nvPr/>
        </p:nvPicPr>
        <p:blipFill>
          <a:blip r:embed="rId1"/>
          <a:stretch>
            <a:fillRect/>
          </a:stretch>
        </p:blipFill>
        <p:spPr>
          <a:xfrm>
            <a:off x="1055218" y="1923898"/>
            <a:ext cx="358445" cy="358445"/>
          </a:xfrm>
          <a:prstGeom prst="rect">
            <a:avLst/>
          </a:prstGeom>
        </p:spPr>
      </p:pic>
      <p:sp>
        <p:nvSpPr>
          <p:cNvPr id="6" name="text-55"/>
          <p:cNvSpPr txBox="1"/>
          <p:nvPr/>
        </p:nvSpPr>
        <p:spPr>
          <a:xfrm>
            <a:off x="1737360" y="1810512"/>
            <a:ext cx="3901288" cy="548640"/>
          </a:xfrm>
          <a:prstGeom prst="rect">
            <a:avLst/>
          </a:prstGeom>
          <a:noFill/>
          <a:ln/>
        </p:spPr>
        <p:txBody>
          <a:bodyPr wrap="square" lIns="0" tIns="0" rIns="0" bIns="0" rtlCol="0" anchor="ctr"/>
          <a:lstStyle/>
          <a:p>
            <a:pPr indent="0" marL="0">
              <a:buNone/>
            </a:pPr>
            <a:r>
              <a:rPr lang="en-US" sz="2600" b="1" dirty="0">
                <a:solidFill>
                  <a:schemeClr val="tx1"/>
                </a:solidFill>
                <a:latin typeface="Georgia" pitchFamily="34" charset="0"/>
                <a:ea typeface="Georgia" pitchFamily="34" charset="-122"/>
                <a:cs typeface="Georgia" pitchFamily="34" charset="-120"/>
              </a:rPr>
              <a:t>Creators</a:t>
            </a:r>
            <a:endParaRPr lang="en-US" sz="2600" dirty="0"/>
          </a:p>
        </p:txBody>
      </p:sp>
      <p:sp>
        <p:nvSpPr>
          <p:cNvPr id="7" name="text-56"/>
          <p:cNvSpPr txBox="1"/>
          <p:nvPr/>
        </p:nvSpPr>
        <p:spPr>
          <a:xfrm>
            <a:off x="914400" y="2606040"/>
            <a:ext cx="4632808" cy="68580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Nonprofits, community groups, local businesses and individuals with something worth saying.</a:t>
            </a:r>
            <a:endParaRPr lang="en-US" sz="1500" dirty="0"/>
          </a:p>
        </p:txBody>
      </p:sp>
      <p:sp>
        <p:nvSpPr>
          <p:cNvPr id="8" name="text-57"/>
          <p:cNvSpPr txBox="1"/>
          <p:nvPr/>
        </p:nvSpPr>
        <p:spPr>
          <a:xfrm>
            <a:off x="914400" y="3383280"/>
            <a:ext cx="4632808"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Reach people outside their own followers</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No ad expertise or upfront budget needed</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A guided builder, review and a final report</a:t>
            </a:r>
            <a:endParaRPr lang="en-US" sz="1600" dirty="0"/>
          </a:p>
        </p:txBody>
      </p:sp>
      <p:sp>
        <p:nvSpPr>
          <p:cNvPr id="9" name="card-58"/>
          <p:cNvSpPr/>
          <p:nvPr/>
        </p:nvSpPr>
        <p:spPr>
          <a:xfrm>
            <a:off x="6278728" y="1508760"/>
            <a:ext cx="5364328" cy="3429000"/>
          </a:xfrm>
          <a:prstGeom prst="roundRect">
            <a:avLst>
              <a:gd name="adj" fmla="val 4000"/>
            </a:avLst>
          </a:prstGeom>
          <a:solidFill>
            <a:schemeClr val="bg2"/>
          </a:solidFill>
          <a:ln/>
        </p:spPr>
      </p:sp>
      <p:sp>
        <p:nvSpPr>
          <p:cNvPr id="10" name="icon-bg-59"/>
          <p:cNvSpPr/>
          <p:nvPr/>
        </p:nvSpPr>
        <p:spPr>
          <a:xfrm>
            <a:off x="6644488" y="1783080"/>
            <a:ext cx="640080" cy="640080"/>
          </a:xfrm>
          <a:prstGeom prst="ellipse">
            <a:avLst/>
          </a:prstGeom>
          <a:solidFill>
            <a:schemeClr val="accent1"/>
          </a:solidFill>
          <a:ln/>
        </p:spPr>
      </p:sp>
      <p:pic>
        <p:nvPicPr>
          <p:cNvPr id="11" name="icon-60" descr="preencoded.png">    </p:cNvPr>
          <p:cNvPicPr>
            <a:picLocks noChangeAspect="1"/>
          </p:cNvPicPr>
          <p:nvPr/>
        </p:nvPicPr>
        <p:blipFill>
          <a:blip r:embed="rId2"/>
          <a:stretch>
            <a:fillRect/>
          </a:stretch>
        </p:blipFill>
        <p:spPr>
          <a:xfrm>
            <a:off x="6785305" y="1923898"/>
            <a:ext cx="358445" cy="358445"/>
          </a:xfrm>
          <a:prstGeom prst="rect">
            <a:avLst/>
          </a:prstGeom>
        </p:spPr>
      </p:pic>
      <p:sp>
        <p:nvSpPr>
          <p:cNvPr id="12" name="text-61"/>
          <p:cNvSpPr txBox="1"/>
          <p:nvPr/>
        </p:nvSpPr>
        <p:spPr>
          <a:xfrm>
            <a:off x="7467448" y="1810512"/>
            <a:ext cx="3901288" cy="548640"/>
          </a:xfrm>
          <a:prstGeom prst="rect">
            <a:avLst/>
          </a:prstGeom>
          <a:noFill/>
          <a:ln/>
        </p:spPr>
        <p:txBody>
          <a:bodyPr wrap="square" lIns="0" tIns="0" rIns="0" bIns="0" rtlCol="0" anchor="ctr"/>
          <a:lstStyle/>
          <a:p>
            <a:pPr indent="0" marL="0">
              <a:buNone/>
            </a:pPr>
            <a:r>
              <a:rPr lang="en-US" sz="2600" b="1" dirty="0">
                <a:solidFill>
                  <a:schemeClr val="tx1"/>
                </a:solidFill>
                <a:latin typeface="Georgia" pitchFamily="34" charset="0"/>
                <a:ea typeface="Georgia" pitchFamily="34" charset="-122"/>
                <a:cs typeface="Georgia" pitchFamily="34" charset="-120"/>
              </a:rPr>
              <a:t>Backers</a:t>
            </a:r>
            <a:endParaRPr lang="en-US" sz="2600" dirty="0"/>
          </a:p>
        </p:txBody>
      </p:sp>
      <p:sp>
        <p:nvSpPr>
          <p:cNvPr id="13" name="text-62"/>
          <p:cNvSpPr txBox="1"/>
          <p:nvPr/>
        </p:nvSpPr>
        <p:spPr>
          <a:xfrm>
            <a:off x="6644488" y="2606040"/>
            <a:ext cx="4632808" cy="68580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People who care about a message and want more people to see it.</a:t>
            </a:r>
            <a:endParaRPr lang="en-US" sz="1500" dirty="0"/>
          </a:p>
        </p:txBody>
      </p:sp>
      <p:sp>
        <p:nvSpPr>
          <p:cNvPr id="14" name="text-63"/>
          <p:cNvSpPr txBox="1"/>
          <p:nvPr/>
        </p:nvSpPr>
        <p:spPr>
          <a:xfrm>
            <a:off x="6644488" y="3383280"/>
            <a:ext cx="4632808"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Back from $1, with reach shown before paying</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Clear fees and refund rules, up front</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Follow progress and see the results</a:t>
            </a:r>
            <a:endParaRPr lang="en-US" sz="1600" dirty="0"/>
          </a:p>
        </p:txBody>
      </p:sp>
      <p:sp>
        <p:nvSpPr>
          <p:cNvPr id="15" name="text-64"/>
          <p:cNvSpPr txBox="1"/>
          <p:nvPr/>
        </p:nvSpPr>
        <p:spPr>
          <a:xfrm>
            <a:off x="548640" y="5212080"/>
            <a:ext cx="274320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Ten categories</a:t>
            </a:r>
            <a:endParaRPr lang="en-US" sz="1400" dirty="0"/>
          </a:p>
        </p:txBody>
      </p:sp>
      <p:sp>
        <p:nvSpPr>
          <p:cNvPr id="16" name="chip-65"/>
          <p:cNvSpPr/>
          <p:nvPr/>
        </p:nvSpPr>
        <p:spPr>
          <a:xfrm>
            <a:off x="548640" y="5623560"/>
            <a:ext cx="1110914" cy="384048"/>
          </a:xfrm>
          <a:prstGeom prst="roundRect">
            <a:avLst>
              <a:gd name="adj" fmla="val 50000"/>
            </a:avLst>
          </a:prstGeom>
          <a:solidFill>
            <a:schemeClr val="bg2"/>
          </a:solidFill>
          <a:ln/>
        </p:spPr>
      </p:sp>
      <p:sp>
        <p:nvSpPr>
          <p:cNvPr id="17" name="text-66"/>
          <p:cNvSpPr txBox="1"/>
          <p:nvPr/>
        </p:nvSpPr>
        <p:spPr>
          <a:xfrm>
            <a:off x="548640" y="5623560"/>
            <a:ext cx="1110914"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Environment</a:t>
            </a:r>
            <a:endParaRPr lang="en-US" sz="1200" dirty="0"/>
          </a:p>
        </p:txBody>
      </p:sp>
      <p:sp>
        <p:nvSpPr>
          <p:cNvPr id="18" name="chip-67"/>
          <p:cNvSpPr/>
          <p:nvPr/>
        </p:nvSpPr>
        <p:spPr>
          <a:xfrm>
            <a:off x="1769282" y="5623560"/>
            <a:ext cx="725423" cy="384048"/>
          </a:xfrm>
          <a:prstGeom prst="roundRect">
            <a:avLst>
              <a:gd name="adj" fmla="val 50000"/>
            </a:avLst>
          </a:prstGeom>
          <a:solidFill>
            <a:schemeClr val="bg2"/>
          </a:solidFill>
          <a:ln/>
        </p:spPr>
      </p:sp>
      <p:sp>
        <p:nvSpPr>
          <p:cNvPr id="19" name="text-68"/>
          <p:cNvSpPr txBox="1"/>
          <p:nvPr/>
        </p:nvSpPr>
        <p:spPr>
          <a:xfrm>
            <a:off x="1769282" y="5623560"/>
            <a:ext cx="725423"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Health</a:t>
            </a:r>
            <a:endParaRPr lang="en-US" sz="1200" dirty="0"/>
          </a:p>
        </p:txBody>
      </p:sp>
      <p:sp>
        <p:nvSpPr>
          <p:cNvPr id="20" name="chip-69"/>
          <p:cNvSpPr/>
          <p:nvPr/>
        </p:nvSpPr>
        <p:spPr>
          <a:xfrm>
            <a:off x="2604433" y="5623560"/>
            <a:ext cx="802521" cy="384048"/>
          </a:xfrm>
          <a:prstGeom prst="roundRect">
            <a:avLst>
              <a:gd name="adj" fmla="val 50000"/>
            </a:avLst>
          </a:prstGeom>
          <a:solidFill>
            <a:schemeClr val="bg2"/>
          </a:solidFill>
          <a:ln/>
        </p:spPr>
      </p:sp>
      <p:sp>
        <p:nvSpPr>
          <p:cNvPr id="21" name="text-70"/>
          <p:cNvSpPr txBox="1"/>
          <p:nvPr/>
        </p:nvSpPr>
        <p:spPr>
          <a:xfrm>
            <a:off x="2604433" y="5623560"/>
            <a:ext cx="802521"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Science</a:t>
            </a:r>
            <a:endParaRPr lang="en-US" sz="1200" dirty="0"/>
          </a:p>
        </p:txBody>
      </p:sp>
      <p:sp>
        <p:nvSpPr>
          <p:cNvPr id="22" name="chip-71"/>
          <p:cNvSpPr/>
          <p:nvPr/>
        </p:nvSpPr>
        <p:spPr>
          <a:xfrm>
            <a:off x="3516683" y="5623560"/>
            <a:ext cx="956718" cy="384048"/>
          </a:xfrm>
          <a:prstGeom prst="roundRect">
            <a:avLst>
              <a:gd name="adj" fmla="val 50000"/>
            </a:avLst>
          </a:prstGeom>
          <a:solidFill>
            <a:schemeClr val="bg2"/>
          </a:solidFill>
          <a:ln/>
        </p:spPr>
      </p:sp>
      <p:sp>
        <p:nvSpPr>
          <p:cNvPr id="23" name="text-72"/>
          <p:cNvSpPr txBox="1"/>
          <p:nvPr/>
        </p:nvSpPr>
        <p:spPr>
          <a:xfrm>
            <a:off x="3516683" y="5623560"/>
            <a:ext cx="95671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Education</a:t>
            </a:r>
            <a:endParaRPr lang="en-US" sz="1200" dirty="0"/>
          </a:p>
        </p:txBody>
      </p:sp>
      <p:sp>
        <p:nvSpPr>
          <p:cNvPr id="24" name="chip-73"/>
          <p:cNvSpPr/>
          <p:nvPr/>
        </p:nvSpPr>
        <p:spPr>
          <a:xfrm>
            <a:off x="4583128" y="5623560"/>
            <a:ext cx="1265110" cy="384048"/>
          </a:xfrm>
          <a:prstGeom prst="roundRect">
            <a:avLst>
              <a:gd name="adj" fmla="val 50000"/>
            </a:avLst>
          </a:prstGeom>
          <a:solidFill>
            <a:schemeClr val="bg2"/>
          </a:solidFill>
          <a:ln/>
        </p:spPr>
      </p:sp>
      <p:sp>
        <p:nvSpPr>
          <p:cNvPr id="25" name="text-74"/>
          <p:cNvSpPr txBox="1"/>
          <p:nvPr/>
        </p:nvSpPr>
        <p:spPr>
          <a:xfrm>
            <a:off x="4583128" y="5623560"/>
            <a:ext cx="1265110"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Public Policy</a:t>
            </a:r>
            <a:endParaRPr lang="en-US" sz="1200" dirty="0"/>
          </a:p>
        </p:txBody>
      </p:sp>
      <p:sp>
        <p:nvSpPr>
          <p:cNvPr id="26" name="chip-75"/>
          <p:cNvSpPr/>
          <p:nvPr/>
        </p:nvSpPr>
        <p:spPr>
          <a:xfrm>
            <a:off x="5957966" y="5623560"/>
            <a:ext cx="1419306" cy="384048"/>
          </a:xfrm>
          <a:prstGeom prst="roundRect">
            <a:avLst>
              <a:gd name="adj" fmla="val 50000"/>
            </a:avLst>
          </a:prstGeom>
          <a:solidFill>
            <a:schemeClr val="bg2"/>
          </a:solidFill>
          <a:ln/>
        </p:spPr>
      </p:sp>
      <p:sp>
        <p:nvSpPr>
          <p:cNvPr id="27" name="text-76"/>
          <p:cNvSpPr txBox="1"/>
          <p:nvPr/>
        </p:nvSpPr>
        <p:spPr>
          <a:xfrm>
            <a:off x="5957966" y="5623560"/>
            <a:ext cx="1419306"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Economic Policy</a:t>
            </a:r>
            <a:endParaRPr lang="en-US" sz="1200" dirty="0"/>
          </a:p>
        </p:txBody>
      </p:sp>
      <p:sp>
        <p:nvSpPr>
          <p:cNvPr id="28" name="chip-77"/>
          <p:cNvSpPr/>
          <p:nvPr/>
        </p:nvSpPr>
        <p:spPr>
          <a:xfrm>
            <a:off x="7487001" y="5623560"/>
            <a:ext cx="956718" cy="384048"/>
          </a:xfrm>
          <a:prstGeom prst="roundRect">
            <a:avLst>
              <a:gd name="adj" fmla="val 50000"/>
            </a:avLst>
          </a:prstGeom>
          <a:solidFill>
            <a:schemeClr val="bg2"/>
          </a:solidFill>
          <a:ln/>
        </p:spPr>
      </p:sp>
      <p:sp>
        <p:nvSpPr>
          <p:cNvPr id="29" name="text-78"/>
          <p:cNvSpPr txBox="1"/>
          <p:nvPr/>
        </p:nvSpPr>
        <p:spPr>
          <a:xfrm>
            <a:off x="7487001" y="5623560"/>
            <a:ext cx="95671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Community</a:t>
            </a:r>
            <a:endParaRPr lang="en-US" sz="1200" dirty="0"/>
          </a:p>
        </p:txBody>
      </p:sp>
      <p:sp>
        <p:nvSpPr>
          <p:cNvPr id="30" name="chip-79"/>
          <p:cNvSpPr/>
          <p:nvPr/>
        </p:nvSpPr>
        <p:spPr>
          <a:xfrm>
            <a:off x="8553446" y="5623560"/>
            <a:ext cx="1342208" cy="384048"/>
          </a:xfrm>
          <a:prstGeom prst="roundRect">
            <a:avLst>
              <a:gd name="adj" fmla="val 50000"/>
            </a:avLst>
          </a:prstGeom>
          <a:solidFill>
            <a:schemeClr val="bg2"/>
          </a:solidFill>
          <a:ln/>
        </p:spPr>
      </p:sp>
      <p:sp>
        <p:nvSpPr>
          <p:cNvPr id="31" name="text-80"/>
          <p:cNvSpPr txBox="1"/>
          <p:nvPr/>
        </p:nvSpPr>
        <p:spPr>
          <a:xfrm>
            <a:off x="8553446" y="5623560"/>
            <a:ext cx="134220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Arts &amp; Culture</a:t>
            </a:r>
            <a:endParaRPr lang="en-US" sz="1200" dirty="0"/>
          </a:p>
        </p:txBody>
      </p:sp>
      <p:sp>
        <p:nvSpPr>
          <p:cNvPr id="32" name="chip-81"/>
          <p:cNvSpPr/>
          <p:nvPr/>
        </p:nvSpPr>
        <p:spPr>
          <a:xfrm>
            <a:off x="10005383" y="5623560"/>
            <a:ext cx="879620" cy="384048"/>
          </a:xfrm>
          <a:prstGeom prst="roundRect">
            <a:avLst>
              <a:gd name="adj" fmla="val 50000"/>
            </a:avLst>
          </a:prstGeom>
          <a:solidFill>
            <a:schemeClr val="bg2"/>
          </a:solidFill>
          <a:ln/>
        </p:spPr>
      </p:sp>
      <p:sp>
        <p:nvSpPr>
          <p:cNvPr id="33" name="text-82"/>
          <p:cNvSpPr txBox="1"/>
          <p:nvPr/>
        </p:nvSpPr>
        <p:spPr>
          <a:xfrm>
            <a:off x="10005383" y="5623560"/>
            <a:ext cx="879620"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Business</a:t>
            </a:r>
            <a:endParaRPr lang="en-US" sz="1200" dirty="0"/>
          </a:p>
        </p:txBody>
      </p:sp>
      <p:sp>
        <p:nvSpPr>
          <p:cNvPr id="34" name="chip-83"/>
          <p:cNvSpPr/>
          <p:nvPr/>
        </p:nvSpPr>
        <p:spPr>
          <a:xfrm>
            <a:off x="10994730" y="5623560"/>
            <a:ext cx="648325" cy="384048"/>
          </a:xfrm>
          <a:prstGeom prst="roundRect">
            <a:avLst>
              <a:gd name="adj" fmla="val 50000"/>
            </a:avLst>
          </a:prstGeom>
          <a:solidFill>
            <a:schemeClr val="bg2"/>
          </a:solidFill>
          <a:ln/>
        </p:spPr>
      </p:sp>
      <p:sp>
        <p:nvSpPr>
          <p:cNvPr id="35" name="text-84"/>
          <p:cNvSpPr txBox="1"/>
          <p:nvPr/>
        </p:nvSpPr>
        <p:spPr>
          <a:xfrm>
            <a:off x="10994730" y="5623560"/>
            <a:ext cx="648325"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Other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Discover messages worth spreading</a:t>
            </a:r>
            <a:endParaRPr lang="en-US" sz="3400" dirty="0"/>
          </a:p>
        </p:txBody>
      </p:sp>
      <p:sp>
        <p:nvSpPr>
          <p:cNvPr id="3" name="icon-bg-85"/>
          <p:cNvSpPr/>
          <p:nvPr/>
        </p:nvSpPr>
        <p:spPr>
          <a:xfrm>
            <a:off x="548640" y="1691640"/>
            <a:ext cx="502920" cy="502920"/>
          </a:xfrm>
          <a:prstGeom prst="ellipse">
            <a:avLst/>
          </a:prstGeom>
          <a:solidFill>
            <a:schemeClr val="accent1"/>
          </a:solidFill>
          <a:ln/>
        </p:spPr>
      </p:sp>
      <p:pic>
        <p:nvPicPr>
          <p:cNvPr id="4" name="icon-86" descr="preencoded.png">    </p:cNvPr>
          <p:cNvPicPr>
            <a:picLocks noChangeAspect="1"/>
          </p:cNvPicPr>
          <p:nvPr/>
        </p:nvPicPr>
        <p:blipFill>
          <a:blip r:embed="rId1"/>
          <a:stretch>
            <a:fillRect/>
          </a:stretch>
        </p:blipFill>
        <p:spPr>
          <a:xfrm>
            <a:off x="659282" y="1802282"/>
            <a:ext cx="281635" cy="281635"/>
          </a:xfrm>
          <a:prstGeom prst="rect">
            <a:avLst/>
          </a:prstGeom>
        </p:spPr>
      </p:pic>
      <p:sp>
        <p:nvSpPr>
          <p:cNvPr id="5" name="text-87"/>
          <p:cNvSpPr txBox="1"/>
          <p:nvPr/>
        </p:nvSpPr>
        <p:spPr>
          <a:xfrm>
            <a:off x="1280160" y="1673352"/>
            <a:ext cx="43891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curated home</a:t>
            </a:r>
            <a:endParaRPr lang="en-US" sz="1800" dirty="0"/>
          </a:p>
        </p:txBody>
      </p:sp>
      <p:sp>
        <p:nvSpPr>
          <p:cNvPr id="6" name="text-88"/>
          <p:cNvSpPr txBox="1"/>
          <p:nvPr/>
        </p:nvSpPr>
        <p:spPr>
          <a:xfrm>
            <a:off x="1280160" y="2057400"/>
            <a:ext cx="4389120" cy="91440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A featured story, campaigns ending soon, and the ones already reaching new people.</a:t>
            </a:r>
            <a:endParaRPr lang="en-US" sz="1500" dirty="0"/>
          </a:p>
        </p:txBody>
      </p:sp>
      <p:sp>
        <p:nvSpPr>
          <p:cNvPr id="7" name="icon-bg-89"/>
          <p:cNvSpPr/>
          <p:nvPr/>
        </p:nvSpPr>
        <p:spPr>
          <a:xfrm>
            <a:off x="548640" y="3017520"/>
            <a:ext cx="502920" cy="502920"/>
          </a:xfrm>
          <a:prstGeom prst="ellipse">
            <a:avLst/>
          </a:prstGeom>
          <a:solidFill>
            <a:schemeClr val="accent1"/>
          </a:solidFill>
          <a:ln/>
        </p:spPr>
      </p:sp>
      <p:pic>
        <p:nvPicPr>
          <p:cNvPr id="8" name="icon-90" descr="preencoded.png">    </p:cNvPr>
          <p:cNvPicPr>
            <a:picLocks noChangeAspect="1"/>
          </p:cNvPicPr>
          <p:nvPr/>
        </p:nvPicPr>
        <p:blipFill>
          <a:blip r:embed="rId2"/>
          <a:stretch>
            <a:fillRect/>
          </a:stretch>
        </p:blipFill>
        <p:spPr>
          <a:xfrm>
            <a:off x="659282" y="3128162"/>
            <a:ext cx="281635" cy="281635"/>
          </a:xfrm>
          <a:prstGeom prst="rect">
            <a:avLst/>
          </a:prstGeom>
        </p:spPr>
      </p:pic>
      <p:sp>
        <p:nvSpPr>
          <p:cNvPr id="9" name="text-91"/>
          <p:cNvSpPr txBox="1"/>
          <p:nvPr/>
        </p:nvSpPr>
        <p:spPr>
          <a:xfrm>
            <a:off x="1280160" y="2999232"/>
            <a:ext cx="43891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Search and filter</a:t>
            </a:r>
            <a:endParaRPr lang="en-US" sz="1800" dirty="0"/>
          </a:p>
        </p:txBody>
      </p:sp>
      <p:sp>
        <p:nvSpPr>
          <p:cNvPr id="10" name="text-92"/>
          <p:cNvSpPr txBox="1"/>
          <p:nvPr/>
        </p:nvSpPr>
        <p:spPr>
          <a:xfrm>
            <a:off x="1280160" y="3383280"/>
            <a:ext cx="4389120" cy="91440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By keyword, creator, place or category; sort by trending, newest or closest to goal.</a:t>
            </a:r>
            <a:endParaRPr lang="en-US" sz="1500" dirty="0"/>
          </a:p>
        </p:txBody>
      </p:sp>
      <p:sp>
        <p:nvSpPr>
          <p:cNvPr id="11" name="icon-bg-93"/>
          <p:cNvSpPr/>
          <p:nvPr/>
        </p:nvSpPr>
        <p:spPr>
          <a:xfrm>
            <a:off x="548640" y="4343400"/>
            <a:ext cx="502920" cy="502920"/>
          </a:xfrm>
          <a:prstGeom prst="ellipse">
            <a:avLst/>
          </a:prstGeom>
          <a:solidFill>
            <a:schemeClr val="accent1"/>
          </a:solidFill>
          <a:ln/>
        </p:spPr>
      </p:sp>
      <p:pic>
        <p:nvPicPr>
          <p:cNvPr id="12" name="icon-94" descr="preencoded.png">    </p:cNvPr>
          <p:cNvPicPr>
            <a:picLocks noChangeAspect="1"/>
          </p:cNvPicPr>
          <p:nvPr/>
        </p:nvPicPr>
        <p:blipFill>
          <a:blip r:embed="rId3"/>
          <a:stretch>
            <a:fillRect/>
          </a:stretch>
        </p:blipFill>
        <p:spPr>
          <a:xfrm>
            <a:off x="659282" y="4454042"/>
            <a:ext cx="281635" cy="281635"/>
          </a:xfrm>
          <a:prstGeom prst="rect">
            <a:avLst/>
          </a:prstGeom>
        </p:spPr>
      </p:pic>
      <p:sp>
        <p:nvSpPr>
          <p:cNvPr id="13" name="text-95"/>
          <p:cNvSpPr txBox="1"/>
          <p:nvPr/>
        </p:nvSpPr>
        <p:spPr>
          <a:xfrm>
            <a:off x="1280160" y="4325112"/>
            <a:ext cx="438912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Progress at a glance</a:t>
            </a:r>
            <a:endParaRPr lang="en-US" sz="1800" dirty="0"/>
          </a:p>
        </p:txBody>
      </p:sp>
      <p:sp>
        <p:nvSpPr>
          <p:cNvPr id="14" name="text-96"/>
          <p:cNvSpPr txBox="1"/>
          <p:nvPr/>
        </p:nvSpPr>
        <p:spPr>
          <a:xfrm>
            <a:off x="1280160" y="4709160"/>
            <a:ext cx="4389120" cy="91440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Every card shows money raised, time left and the estimated reach.</a:t>
            </a:r>
            <a:endParaRPr lang="en-US" sz="1500" dirty="0"/>
          </a:p>
        </p:txBody>
      </p:sp>
      <p:pic>
        <p:nvPicPr>
          <p:cNvPr id="15" name="phone-home-97" descr="preencoded.png">    </p:cNvPr>
          <p:cNvPicPr>
            <a:picLocks noChangeAspect="1"/>
          </p:cNvPicPr>
          <p:nvPr/>
        </p:nvPicPr>
        <p:blipFill>
          <a:blip r:embed="rId4"/>
          <a:stretch>
            <a:fillRect/>
          </a:stretch>
        </p:blipFill>
        <p:spPr>
          <a:xfrm>
            <a:off x="6172200" y="1371600"/>
            <a:ext cx="2274155" cy="4800600"/>
          </a:xfrm>
          <a:prstGeom prst="rect">
            <a:avLst/>
          </a:prstGeom>
        </p:spPr>
      </p:pic>
      <p:pic>
        <p:nvPicPr>
          <p:cNvPr id="16" name="phone-explore-98" descr="preencoded.png">    </p:cNvPr>
          <p:cNvPicPr>
            <a:picLocks noChangeAspect="1"/>
          </p:cNvPicPr>
          <p:nvPr/>
        </p:nvPicPr>
        <p:blipFill>
          <a:blip r:embed="rId5"/>
          <a:stretch>
            <a:fillRect/>
          </a:stretch>
        </p:blipFill>
        <p:spPr>
          <a:xfrm>
            <a:off x="8915400" y="1371600"/>
            <a:ext cx="2274155" cy="480060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Every campaign makes its case, with evidence</a:t>
            </a:r>
            <a:endParaRPr lang="en-US" sz="3400" dirty="0"/>
          </a:p>
        </p:txBody>
      </p:sp>
      <p:pic>
        <p:nvPicPr>
          <p:cNvPr id="3" name="phone-detail-99" descr="preencoded.png">    </p:cNvPr>
          <p:cNvPicPr>
            <a:picLocks noChangeAspect="1"/>
          </p:cNvPicPr>
          <p:nvPr/>
        </p:nvPicPr>
        <p:blipFill>
          <a:blip r:embed="rId1"/>
          <a:stretch>
            <a:fillRect/>
          </a:stretch>
        </p:blipFill>
        <p:spPr>
          <a:xfrm>
            <a:off x="731520" y="1371600"/>
            <a:ext cx="2274155" cy="4800600"/>
          </a:xfrm>
          <a:prstGeom prst="rect">
            <a:avLst/>
          </a:prstGeom>
        </p:spPr>
      </p:pic>
      <p:sp>
        <p:nvSpPr>
          <p:cNvPr id="4" name="card-100"/>
          <p:cNvSpPr/>
          <p:nvPr/>
        </p:nvSpPr>
        <p:spPr>
          <a:xfrm>
            <a:off x="3657600" y="1463040"/>
            <a:ext cx="3832708" cy="2148840"/>
          </a:xfrm>
          <a:prstGeom prst="roundRect">
            <a:avLst>
              <a:gd name="adj" fmla="val 6383"/>
            </a:avLst>
          </a:prstGeom>
          <a:solidFill>
            <a:schemeClr val="bg2"/>
          </a:solidFill>
          <a:ln/>
        </p:spPr>
      </p:sp>
      <p:sp>
        <p:nvSpPr>
          <p:cNvPr id="5" name="icon-bg-101"/>
          <p:cNvSpPr/>
          <p:nvPr/>
        </p:nvSpPr>
        <p:spPr>
          <a:xfrm>
            <a:off x="3977640" y="1783080"/>
            <a:ext cx="548640" cy="548640"/>
          </a:xfrm>
          <a:prstGeom prst="ellipse">
            <a:avLst/>
          </a:prstGeom>
          <a:solidFill>
            <a:schemeClr val="accent1"/>
          </a:solidFill>
          <a:ln/>
        </p:spPr>
      </p:sp>
      <p:pic>
        <p:nvPicPr>
          <p:cNvPr id="6" name="icon-102" descr="preencoded.png">    </p:cNvPr>
          <p:cNvPicPr>
            <a:picLocks noChangeAspect="1"/>
          </p:cNvPicPr>
          <p:nvPr/>
        </p:nvPicPr>
        <p:blipFill>
          <a:blip r:embed="rId2"/>
          <a:stretch>
            <a:fillRect/>
          </a:stretch>
        </p:blipFill>
        <p:spPr>
          <a:xfrm>
            <a:off x="4098341" y="1903781"/>
            <a:ext cx="307238" cy="307238"/>
          </a:xfrm>
          <a:prstGeom prst="rect">
            <a:avLst/>
          </a:prstGeom>
        </p:spPr>
      </p:pic>
      <p:sp>
        <p:nvSpPr>
          <p:cNvPr id="7" name="text-103"/>
          <p:cNvSpPr txBox="1"/>
          <p:nvPr/>
        </p:nvSpPr>
        <p:spPr>
          <a:xfrm>
            <a:off x="3977640" y="2468880"/>
            <a:ext cx="319262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Funding, in plain numbers</a:t>
            </a:r>
            <a:endParaRPr lang="en-US" sz="1800" dirty="0"/>
          </a:p>
        </p:txBody>
      </p:sp>
      <p:sp>
        <p:nvSpPr>
          <p:cNvPr id="8" name="text-104"/>
          <p:cNvSpPr txBox="1"/>
          <p:nvPr/>
        </p:nvSpPr>
        <p:spPr>
          <a:xfrm>
            <a:off x="3977640" y="2852928"/>
            <a:ext cx="328406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Raised, goal, backers and days left, right below the story’s title.</a:t>
            </a:r>
            <a:endParaRPr lang="en-US" sz="1400" dirty="0"/>
          </a:p>
        </p:txBody>
      </p:sp>
      <p:sp>
        <p:nvSpPr>
          <p:cNvPr id="9" name="card-105"/>
          <p:cNvSpPr/>
          <p:nvPr/>
        </p:nvSpPr>
        <p:spPr>
          <a:xfrm>
            <a:off x="7810348" y="1463040"/>
            <a:ext cx="3832708" cy="2148840"/>
          </a:xfrm>
          <a:prstGeom prst="roundRect">
            <a:avLst>
              <a:gd name="adj" fmla="val 6383"/>
            </a:avLst>
          </a:prstGeom>
          <a:solidFill>
            <a:schemeClr val="bg2"/>
          </a:solidFill>
          <a:ln/>
        </p:spPr>
      </p:sp>
      <p:sp>
        <p:nvSpPr>
          <p:cNvPr id="10" name="icon-bg-106"/>
          <p:cNvSpPr/>
          <p:nvPr/>
        </p:nvSpPr>
        <p:spPr>
          <a:xfrm>
            <a:off x="8130388" y="1783080"/>
            <a:ext cx="548640" cy="548640"/>
          </a:xfrm>
          <a:prstGeom prst="ellipse">
            <a:avLst/>
          </a:prstGeom>
          <a:solidFill>
            <a:schemeClr val="accent1"/>
          </a:solidFill>
          <a:ln/>
        </p:spPr>
      </p:sp>
      <p:pic>
        <p:nvPicPr>
          <p:cNvPr id="11" name="icon-107" descr="preencoded.png">    </p:cNvPr>
          <p:cNvPicPr>
            <a:picLocks noChangeAspect="1"/>
          </p:cNvPicPr>
          <p:nvPr/>
        </p:nvPicPr>
        <p:blipFill>
          <a:blip r:embed="rId3"/>
          <a:stretch>
            <a:fillRect/>
          </a:stretch>
        </p:blipFill>
        <p:spPr>
          <a:xfrm>
            <a:off x="8251088" y="1903781"/>
            <a:ext cx="307238" cy="307238"/>
          </a:xfrm>
          <a:prstGeom prst="rect">
            <a:avLst/>
          </a:prstGeom>
        </p:spPr>
      </p:pic>
      <p:sp>
        <p:nvSpPr>
          <p:cNvPr id="12" name="text-108"/>
          <p:cNvSpPr txBox="1"/>
          <p:nvPr/>
        </p:nvSpPr>
        <p:spPr>
          <a:xfrm>
            <a:off x="8130388" y="2468880"/>
            <a:ext cx="319262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Reach you can picture</a:t>
            </a:r>
            <a:endParaRPr lang="en-US" sz="1800" dirty="0"/>
          </a:p>
        </p:txBody>
      </p:sp>
      <p:sp>
        <p:nvSpPr>
          <p:cNvPr id="13" name="text-109"/>
          <p:cNvSpPr txBox="1"/>
          <p:nvPr/>
        </p:nvSpPr>
        <p:spPr>
          <a:xfrm>
            <a:off x="8130388" y="2852928"/>
            <a:ext cx="328406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“If fully funded, the ads reach ≈ 300K–560K people.” Always labeled as an estimate.</a:t>
            </a:r>
            <a:endParaRPr lang="en-US" sz="1400" dirty="0"/>
          </a:p>
        </p:txBody>
      </p:sp>
      <p:sp>
        <p:nvSpPr>
          <p:cNvPr id="14" name="card-110"/>
          <p:cNvSpPr/>
          <p:nvPr/>
        </p:nvSpPr>
        <p:spPr>
          <a:xfrm>
            <a:off x="3657600" y="3840480"/>
            <a:ext cx="3832708" cy="2148840"/>
          </a:xfrm>
          <a:prstGeom prst="roundRect">
            <a:avLst>
              <a:gd name="adj" fmla="val 6383"/>
            </a:avLst>
          </a:prstGeom>
          <a:solidFill>
            <a:schemeClr val="bg2"/>
          </a:solidFill>
          <a:ln/>
        </p:spPr>
      </p:sp>
      <p:sp>
        <p:nvSpPr>
          <p:cNvPr id="15" name="icon-bg-111"/>
          <p:cNvSpPr/>
          <p:nvPr/>
        </p:nvSpPr>
        <p:spPr>
          <a:xfrm>
            <a:off x="3977640" y="4160520"/>
            <a:ext cx="548640" cy="548640"/>
          </a:xfrm>
          <a:prstGeom prst="ellipse">
            <a:avLst/>
          </a:prstGeom>
          <a:solidFill>
            <a:schemeClr val="accent1"/>
          </a:solidFill>
          <a:ln/>
        </p:spPr>
      </p:sp>
      <p:pic>
        <p:nvPicPr>
          <p:cNvPr id="16" name="icon-112" descr="preencoded.png">    </p:cNvPr>
          <p:cNvPicPr>
            <a:picLocks noChangeAspect="1"/>
          </p:cNvPicPr>
          <p:nvPr/>
        </p:nvPicPr>
        <p:blipFill>
          <a:blip r:embed="rId4"/>
          <a:stretch>
            <a:fillRect/>
          </a:stretch>
        </p:blipFill>
        <p:spPr>
          <a:xfrm>
            <a:off x="4098341" y="4281221"/>
            <a:ext cx="307238" cy="307238"/>
          </a:xfrm>
          <a:prstGeom prst="rect">
            <a:avLst/>
          </a:prstGeom>
        </p:spPr>
      </p:pic>
      <p:sp>
        <p:nvSpPr>
          <p:cNvPr id="17" name="text-113"/>
          <p:cNvSpPr txBox="1"/>
          <p:nvPr/>
        </p:nvSpPr>
        <p:spPr>
          <a:xfrm>
            <a:off x="3977640" y="4846320"/>
            <a:ext cx="319262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story with sources</a:t>
            </a:r>
            <a:endParaRPr lang="en-US" sz="1800" dirty="0"/>
          </a:p>
        </p:txBody>
      </p:sp>
      <p:sp>
        <p:nvSpPr>
          <p:cNvPr id="18" name="text-114"/>
          <p:cNvSpPr txBox="1"/>
          <p:nvPr/>
        </p:nvSpPr>
        <p:spPr>
          <a:xfrm>
            <a:off x="3977640" y="5230368"/>
            <a:ext cx="328406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Statistics link to the source behind them, so readers can check the claims.</a:t>
            </a:r>
            <a:endParaRPr lang="en-US" sz="1400" dirty="0"/>
          </a:p>
        </p:txBody>
      </p:sp>
      <p:sp>
        <p:nvSpPr>
          <p:cNvPr id="19" name="card-115"/>
          <p:cNvSpPr/>
          <p:nvPr/>
        </p:nvSpPr>
        <p:spPr>
          <a:xfrm>
            <a:off x="7810348" y="3840480"/>
            <a:ext cx="3832708" cy="2148840"/>
          </a:xfrm>
          <a:prstGeom prst="roundRect">
            <a:avLst>
              <a:gd name="adj" fmla="val 6383"/>
            </a:avLst>
          </a:prstGeom>
          <a:solidFill>
            <a:schemeClr val="bg2"/>
          </a:solidFill>
          <a:ln/>
        </p:spPr>
      </p:sp>
      <p:sp>
        <p:nvSpPr>
          <p:cNvPr id="20" name="icon-bg-116"/>
          <p:cNvSpPr/>
          <p:nvPr/>
        </p:nvSpPr>
        <p:spPr>
          <a:xfrm>
            <a:off x="8130388" y="4160520"/>
            <a:ext cx="548640" cy="548640"/>
          </a:xfrm>
          <a:prstGeom prst="ellipse">
            <a:avLst/>
          </a:prstGeom>
          <a:solidFill>
            <a:schemeClr val="accent1"/>
          </a:solidFill>
          <a:ln/>
        </p:spPr>
      </p:sp>
      <p:pic>
        <p:nvPicPr>
          <p:cNvPr id="21" name="icon-117" descr="preencoded.png">    </p:cNvPr>
          <p:cNvPicPr>
            <a:picLocks noChangeAspect="1"/>
          </p:cNvPicPr>
          <p:nvPr/>
        </p:nvPicPr>
        <p:blipFill>
          <a:blip r:embed="rId5"/>
          <a:stretch>
            <a:fillRect/>
          </a:stretch>
        </p:blipFill>
        <p:spPr>
          <a:xfrm>
            <a:off x="8251088" y="4281221"/>
            <a:ext cx="307238" cy="307238"/>
          </a:xfrm>
          <a:prstGeom prst="rect">
            <a:avLst/>
          </a:prstGeom>
        </p:spPr>
      </p:pic>
      <p:sp>
        <p:nvSpPr>
          <p:cNvPr id="22" name="text-118"/>
          <p:cNvSpPr txBox="1"/>
          <p:nvPr/>
        </p:nvSpPr>
        <p:spPr>
          <a:xfrm>
            <a:off x="8130388" y="4846320"/>
            <a:ext cx="319262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Where every dollar goes</a:t>
            </a:r>
            <a:endParaRPr lang="en-US" sz="1800" dirty="0"/>
          </a:p>
        </p:txBody>
      </p:sp>
      <p:sp>
        <p:nvSpPr>
          <p:cNvPr id="23" name="text-119"/>
          <p:cNvSpPr txBox="1"/>
          <p:nvPr/>
        </p:nvSpPr>
        <p:spPr>
          <a:xfrm>
            <a:off x="8130388" y="5230368"/>
            <a:ext cx="328406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90% buys ads, 10% covers review, ad setup and reporting, shown before anyone pays.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Backing takes three steps and under a minute</a:t>
            </a:r>
            <a:endParaRPr lang="en-US" sz="3400" dirty="0"/>
          </a:p>
        </p:txBody>
      </p:sp>
      <p:sp>
        <p:nvSpPr>
          <p:cNvPr id="3" name="num-120"/>
          <p:cNvSpPr/>
          <p:nvPr/>
        </p:nvSpPr>
        <p:spPr>
          <a:xfrm>
            <a:off x="548640" y="1600200"/>
            <a:ext cx="640080" cy="640080"/>
          </a:xfrm>
          <a:prstGeom prst="ellipse">
            <a:avLst/>
          </a:prstGeom>
          <a:solidFill>
            <a:schemeClr val="accent1"/>
          </a:solidFill>
          <a:ln/>
        </p:spPr>
      </p:sp>
      <p:sp>
        <p:nvSpPr>
          <p:cNvPr id="4" name="text-121"/>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1</a:t>
            </a:r>
            <a:endParaRPr lang="en-US" sz="2400" dirty="0"/>
          </a:p>
        </p:txBody>
      </p:sp>
      <p:sp>
        <p:nvSpPr>
          <p:cNvPr id="5" name="text-122"/>
          <p:cNvSpPr txBox="1"/>
          <p:nvPr/>
        </p:nvSpPr>
        <p:spPr>
          <a:xfrm>
            <a:off x="1463040" y="1581912"/>
            <a:ext cx="47548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Choose an amount</a:t>
            </a:r>
            <a:endParaRPr lang="en-US" sz="2000" dirty="0"/>
          </a:p>
        </p:txBody>
      </p:sp>
      <p:sp>
        <p:nvSpPr>
          <p:cNvPr id="6" name="text-123"/>
          <p:cNvSpPr txBox="1"/>
          <p:nvPr/>
        </p:nvSpPr>
        <p:spPr>
          <a:xfrm>
            <a:off x="1463040" y="2011680"/>
            <a:ext cx="4754880" cy="82296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Pick $10, $25, $50, $100 or your own. The reach estimate updates as you choose.</a:t>
            </a:r>
            <a:endParaRPr lang="en-US" sz="1500" dirty="0"/>
          </a:p>
        </p:txBody>
      </p:sp>
      <p:sp>
        <p:nvSpPr>
          <p:cNvPr id="7" name="num-124"/>
          <p:cNvSpPr/>
          <p:nvPr/>
        </p:nvSpPr>
        <p:spPr>
          <a:xfrm>
            <a:off x="548640" y="3063240"/>
            <a:ext cx="640080" cy="640080"/>
          </a:xfrm>
          <a:prstGeom prst="ellipse">
            <a:avLst/>
          </a:prstGeom>
          <a:solidFill>
            <a:schemeClr val="accent1"/>
          </a:solidFill>
          <a:ln/>
        </p:spPr>
      </p:sp>
      <p:sp>
        <p:nvSpPr>
          <p:cNvPr id="8" name="text-125"/>
          <p:cNvSpPr txBox="1"/>
          <p:nvPr/>
        </p:nvSpPr>
        <p:spPr>
          <a:xfrm>
            <a:off x="548640" y="30632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2</a:t>
            </a:r>
            <a:endParaRPr lang="en-US" sz="2400" dirty="0"/>
          </a:p>
        </p:txBody>
      </p:sp>
      <p:sp>
        <p:nvSpPr>
          <p:cNvPr id="9" name="text-126"/>
          <p:cNvSpPr txBox="1"/>
          <p:nvPr/>
        </p:nvSpPr>
        <p:spPr>
          <a:xfrm>
            <a:off x="1463040" y="3044952"/>
            <a:ext cx="47548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Review</a:t>
            </a:r>
            <a:endParaRPr lang="en-US" sz="2000" dirty="0"/>
          </a:p>
        </p:txBody>
      </p:sp>
      <p:sp>
        <p:nvSpPr>
          <p:cNvPr id="10" name="text-127"/>
          <p:cNvSpPr txBox="1"/>
          <p:nvPr/>
        </p:nvSpPr>
        <p:spPr>
          <a:xfrm>
            <a:off x="1463040" y="3474720"/>
            <a:ext cx="4754880" cy="82296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See the fees, the refund rules, and choose to show your name or stay anonymous.</a:t>
            </a:r>
            <a:endParaRPr lang="en-US" sz="1500" dirty="0"/>
          </a:p>
        </p:txBody>
      </p:sp>
      <p:sp>
        <p:nvSpPr>
          <p:cNvPr id="11" name="num-128"/>
          <p:cNvSpPr/>
          <p:nvPr/>
        </p:nvSpPr>
        <p:spPr>
          <a:xfrm>
            <a:off x="548640" y="4526280"/>
            <a:ext cx="640080" cy="640080"/>
          </a:xfrm>
          <a:prstGeom prst="ellipse">
            <a:avLst/>
          </a:prstGeom>
          <a:solidFill>
            <a:schemeClr val="accent1"/>
          </a:solidFill>
          <a:ln/>
        </p:spPr>
      </p:sp>
      <p:sp>
        <p:nvSpPr>
          <p:cNvPr id="12" name="text-129"/>
          <p:cNvSpPr txBox="1"/>
          <p:nvPr/>
        </p:nvSpPr>
        <p:spPr>
          <a:xfrm>
            <a:off x="548640" y="45262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3</a:t>
            </a:r>
            <a:endParaRPr lang="en-US" sz="2400" dirty="0"/>
          </a:p>
        </p:txBody>
      </p:sp>
      <p:sp>
        <p:nvSpPr>
          <p:cNvPr id="13" name="text-130"/>
          <p:cNvSpPr txBox="1"/>
          <p:nvPr/>
        </p:nvSpPr>
        <p:spPr>
          <a:xfrm>
            <a:off x="1463040" y="4507992"/>
            <a:ext cx="47548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Pay</a:t>
            </a:r>
            <a:endParaRPr lang="en-US" sz="2000" dirty="0"/>
          </a:p>
        </p:txBody>
      </p:sp>
      <p:sp>
        <p:nvSpPr>
          <p:cNvPr id="14" name="text-131"/>
          <p:cNvSpPr txBox="1"/>
          <p:nvPr/>
        </p:nvSpPr>
        <p:spPr>
          <a:xfrm>
            <a:off x="1463040" y="4937760"/>
            <a:ext cx="4754880" cy="82296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No account needed: an email for the receipt is enough. Then see the campaign move.</a:t>
            </a:r>
            <a:endParaRPr lang="en-US" sz="1500" dirty="0"/>
          </a:p>
        </p:txBody>
      </p:sp>
      <p:pic>
        <p:nvPicPr>
          <p:cNvPr id="15" name="phone-back-amount-132" descr="preencoded.png">    </p:cNvPr>
          <p:cNvPicPr>
            <a:picLocks noChangeAspect="1"/>
          </p:cNvPicPr>
          <p:nvPr/>
        </p:nvPicPr>
        <p:blipFill>
          <a:blip r:embed="rId1"/>
          <a:stretch>
            <a:fillRect/>
          </a:stretch>
        </p:blipFill>
        <p:spPr>
          <a:xfrm>
            <a:off x="6400800" y="1371600"/>
            <a:ext cx="2274155" cy="4800600"/>
          </a:xfrm>
          <a:prstGeom prst="rect">
            <a:avLst/>
          </a:prstGeom>
        </p:spPr>
      </p:pic>
      <p:sp>
        <p:nvSpPr>
          <p:cNvPr id="16" name="card-133"/>
          <p:cNvSpPr/>
          <p:nvPr/>
        </p:nvSpPr>
        <p:spPr>
          <a:xfrm>
            <a:off x="9006840" y="2011680"/>
            <a:ext cx="2606040" cy="2743200"/>
          </a:xfrm>
          <a:prstGeom prst="roundRect">
            <a:avLst>
              <a:gd name="adj" fmla="val 5263"/>
            </a:avLst>
          </a:prstGeom>
          <a:solidFill>
            <a:schemeClr val="tx1"/>
          </a:solidFill>
          <a:ln/>
        </p:spPr>
      </p:sp>
      <p:sp>
        <p:nvSpPr>
          <p:cNvPr id="17" name="text-134"/>
          <p:cNvSpPr txBox="1"/>
          <p:nvPr/>
        </p:nvSpPr>
        <p:spPr>
          <a:xfrm>
            <a:off x="9235440" y="2240280"/>
            <a:ext cx="2194560" cy="731520"/>
          </a:xfrm>
          <a:prstGeom prst="rect">
            <a:avLst/>
          </a:prstGeom>
          <a:noFill/>
          <a:ln/>
        </p:spPr>
        <p:txBody>
          <a:bodyPr wrap="square" lIns="0" tIns="0" rIns="0" bIns="0" rtlCol="0" anchor="t"/>
          <a:lstStyle/>
          <a:p>
            <a:pPr indent="0" marL="0">
              <a:buNone/>
            </a:pPr>
            <a:r>
              <a:rPr lang="en-US" sz="4000" b="1" dirty="0">
                <a:solidFill>
                  <a:schemeClr val="bg1"/>
                </a:solidFill>
                <a:latin typeface="Georgia" pitchFamily="34" charset="0"/>
                <a:ea typeface="Georgia" pitchFamily="34" charset="-122"/>
                <a:cs typeface="Georgia" pitchFamily="34" charset="-120"/>
              </a:rPr>
              <a:t>$25</a:t>
            </a:r>
            <a:endParaRPr lang="en-US" sz="4000" dirty="0"/>
          </a:p>
        </p:txBody>
      </p:sp>
      <p:sp>
        <p:nvSpPr>
          <p:cNvPr id="18" name="text-135"/>
          <p:cNvSpPr txBox="1"/>
          <p:nvPr/>
        </p:nvSpPr>
        <p:spPr>
          <a:xfrm>
            <a:off x="9235440" y="3017520"/>
            <a:ext cx="2194560" cy="777240"/>
          </a:xfrm>
          <a:prstGeom prst="rect">
            <a:avLst/>
          </a:prstGeom>
          <a:noFill/>
          <a:ln/>
        </p:spPr>
        <p:txBody>
          <a:bodyPr wrap="square" lIns="0" tIns="0" rIns="0" bIns="0" rtlCol="0" anchor="t"/>
          <a:lstStyle/>
          <a:p>
            <a:pPr indent="0" marL="0">
              <a:buNone/>
            </a:pPr>
            <a:r>
              <a:rPr lang="en-US" sz="1600" dirty="0">
                <a:solidFill>
                  <a:schemeClr val="accent2"/>
                </a:solidFill>
                <a:latin typeface="Arial" pitchFamily="34" charset="0"/>
                <a:ea typeface="Arial" pitchFamily="34" charset="-122"/>
                <a:cs typeface="Arial" pitchFamily="34" charset="-120"/>
              </a:rPr>
              <a:t>reaches about 630 to 1,200 people</a:t>
            </a:r>
            <a:endParaRPr lang="en-US" sz="1600" dirty="0"/>
          </a:p>
        </p:txBody>
      </p:sp>
      <p:sp>
        <p:nvSpPr>
          <p:cNvPr id="19" name="text-136"/>
          <p:cNvSpPr txBox="1"/>
          <p:nvPr/>
        </p:nvSpPr>
        <p:spPr>
          <a:xfrm>
            <a:off x="9235440" y="3886200"/>
            <a:ext cx="2194560" cy="731520"/>
          </a:xfrm>
          <a:prstGeom prst="rect">
            <a:avLst/>
          </a:prstGeom>
          <a:noFill/>
          <a:ln/>
        </p:spPr>
        <p:txBody>
          <a:bodyPr wrap="square" lIns="0" tIns="0" rIns="0" bIns="0" rtlCol="0" anchor="t"/>
          <a:lstStyle/>
          <a:p>
            <a:pPr indent="0" marL="0">
              <a:buNone/>
            </a:pPr>
            <a:r>
              <a:rPr lang="en-US" sz="1300" dirty="0">
                <a:solidFill>
                  <a:schemeClr val="accent6"/>
                </a:solidFill>
                <a:latin typeface="Arial" pitchFamily="34" charset="0"/>
                <a:ea typeface="Arial" pitchFamily="34" charset="-122"/>
                <a:cs typeface="Arial" pitchFamily="34" charset="-120"/>
              </a:rPr>
              <a:t>$22.50 buys ads after the 10% fee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Trust is built into every step</a:t>
            </a:r>
            <a:endParaRPr lang="en-US" sz="3400" dirty="0"/>
          </a:p>
        </p:txBody>
      </p:sp>
      <p:sp>
        <p:nvSpPr>
          <p:cNvPr id="3" name="card-137"/>
          <p:cNvSpPr/>
          <p:nvPr/>
        </p:nvSpPr>
        <p:spPr>
          <a:xfrm>
            <a:off x="548640" y="1463040"/>
            <a:ext cx="3484778" cy="2194560"/>
          </a:xfrm>
          <a:prstGeom prst="roundRect">
            <a:avLst>
              <a:gd name="adj" fmla="val 6250"/>
            </a:avLst>
          </a:prstGeom>
          <a:solidFill>
            <a:schemeClr val="bg2"/>
          </a:solidFill>
          <a:ln/>
        </p:spPr>
      </p:sp>
      <p:sp>
        <p:nvSpPr>
          <p:cNvPr id="4" name="icon-bg-138"/>
          <p:cNvSpPr/>
          <p:nvPr/>
        </p:nvSpPr>
        <p:spPr>
          <a:xfrm>
            <a:off x="868680" y="1783080"/>
            <a:ext cx="548640" cy="548640"/>
          </a:xfrm>
          <a:prstGeom prst="ellipse">
            <a:avLst/>
          </a:prstGeom>
          <a:solidFill>
            <a:schemeClr val="accent3"/>
          </a:solidFill>
          <a:ln/>
        </p:spPr>
      </p:sp>
      <p:pic>
        <p:nvPicPr>
          <p:cNvPr id="5" name="icon-139" descr="preencoded.png">    </p:cNvPr>
          <p:cNvPicPr>
            <a:picLocks noChangeAspect="1"/>
          </p:cNvPicPr>
          <p:nvPr/>
        </p:nvPicPr>
        <p:blipFill>
          <a:blip r:embed="rId1"/>
          <a:stretch>
            <a:fillRect/>
          </a:stretch>
        </p:blipFill>
        <p:spPr>
          <a:xfrm>
            <a:off x="989381" y="1903781"/>
            <a:ext cx="307238" cy="307238"/>
          </a:xfrm>
          <a:prstGeom prst="rect">
            <a:avLst/>
          </a:prstGeom>
        </p:spPr>
      </p:pic>
      <p:sp>
        <p:nvSpPr>
          <p:cNvPr id="6" name="text-140"/>
          <p:cNvSpPr txBox="1"/>
          <p:nvPr/>
        </p:nvSpPr>
        <p:spPr>
          <a:xfrm>
            <a:off x="868680" y="2468880"/>
            <a:ext cx="2844698"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Reviewed before launch</a:t>
            </a:r>
            <a:endParaRPr lang="en-US" sz="1800" dirty="0"/>
          </a:p>
        </p:txBody>
      </p:sp>
      <p:sp>
        <p:nvSpPr>
          <p:cNvPr id="7" name="text-141"/>
          <p:cNvSpPr txBox="1"/>
          <p:nvPr/>
        </p:nvSpPr>
        <p:spPr>
          <a:xfrm>
            <a:off x="868680" y="2880360"/>
            <a:ext cx="293613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Facts, visuals and targeting are checked before backing opens. Nothing runs without approval.</a:t>
            </a:r>
            <a:endParaRPr lang="en-US" sz="1400" dirty="0"/>
          </a:p>
        </p:txBody>
      </p:sp>
      <p:sp>
        <p:nvSpPr>
          <p:cNvPr id="8" name="card-142"/>
          <p:cNvSpPr/>
          <p:nvPr/>
        </p:nvSpPr>
        <p:spPr>
          <a:xfrm>
            <a:off x="4353458" y="1463040"/>
            <a:ext cx="3484778" cy="2194560"/>
          </a:xfrm>
          <a:prstGeom prst="roundRect">
            <a:avLst>
              <a:gd name="adj" fmla="val 6250"/>
            </a:avLst>
          </a:prstGeom>
          <a:solidFill>
            <a:schemeClr val="bg2"/>
          </a:solidFill>
          <a:ln/>
        </p:spPr>
      </p:sp>
      <p:sp>
        <p:nvSpPr>
          <p:cNvPr id="9" name="icon-bg-143"/>
          <p:cNvSpPr/>
          <p:nvPr/>
        </p:nvSpPr>
        <p:spPr>
          <a:xfrm>
            <a:off x="4673498" y="1783080"/>
            <a:ext cx="548640" cy="548640"/>
          </a:xfrm>
          <a:prstGeom prst="ellipse">
            <a:avLst/>
          </a:prstGeom>
          <a:solidFill>
            <a:schemeClr val="accent3"/>
          </a:solidFill>
          <a:ln/>
        </p:spPr>
      </p:sp>
      <p:pic>
        <p:nvPicPr>
          <p:cNvPr id="10" name="icon-144" descr="preencoded.png">    </p:cNvPr>
          <p:cNvPicPr>
            <a:picLocks noChangeAspect="1"/>
          </p:cNvPicPr>
          <p:nvPr/>
        </p:nvPicPr>
        <p:blipFill>
          <a:blip r:embed="rId2"/>
          <a:stretch>
            <a:fillRect/>
          </a:stretch>
        </p:blipFill>
        <p:spPr>
          <a:xfrm>
            <a:off x="4794199" y="1903781"/>
            <a:ext cx="307238" cy="307238"/>
          </a:xfrm>
          <a:prstGeom prst="rect">
            <a:avLst/>
          </a:prstGeom>
        </p:spPr>
      </p:pic>
      <p:sp>
        <p:nvSpPr>
          <p:cNvPr id="11" name="text-145"/>
          <p:cNvSpPr txBox="1"/>
          <p:nvPr/>
        </p:nvSpPr>
        <p:spPr>
          <a:xfrm>
            <a:off x="4673498" y="2468880"/>
            <a:ext cx="2844698"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Sources on every claim</a:t>
            </a:r>
            <a:endParaRPr lang="en-US" sz="1800" dirty="0"/>
          </a:p>
        </p:txBody>
      </p:sp>
      <p:sp>
        <p:nvSpPr>
          <p:cNvPr id="12" name="text-146"/>
          <p:cNvSpPr txBox="1"/>
          <p:nvPr/>
        </p:nvSpPr>
        <p:spPr>
          <a:xfrm>
            <a:off x="4673498" y="2880360"/>
            <a:ext cx="293613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Readers can open the source behind each statistic.</a:t>
            </a:r>
            <a:endParaRPr lang="en-US" sz="1400" dirty="0"/>
          </a:p>
        </p:txBody>
      </p:sp>
      <p:sp>
        <p:nvSpPr>
          <p:cNvPr id="13" name="card-147"/>
          <p:cNvSpPr/>
          <p:nvPr/>
        </p:nvSpPr>
        <p:spPr>
          <a:xfrm>
            <a:off x="8158277" y="1463040"/>
            <a:ext cx="3484778" cy="2194560"/>
          </a:xfrm>
          <a:prstGeom prst="roundRect">
            <a:avLst>
              <a:gd name="adj" fmla="val 6250"/>
            </a:avLst>
          </a:prstGeom>
          <a:solidFill>
            <a:schemeClr val="bg2"/>
          </a:solidFill>
          <a:ln/>
        </p:spPr>
      </p:sp>
      <p:sp>
        <p:nvSpPr>
          <p:cNvPr id="14" name="icon-bg-148"/>
          <p:cNvSpPr/>
          <p:nvPr/>
        </p:nvSpPr>
        <p:spPr>
          <a:xfrm>
            <a:off x="8478317" y="1783080"/>
            <a:ext cx="548640" cy="548640"/>
          </a:xfrm>
          <a:prstGeom prst="ellipse">
            <a:avLst/>
          </a:prstGeom>
          <a:solidFill>
            <a:schemeClr val="accent3"/>
          </a:solidFill>
          <a:ln/>
        </p:spPr>
      </p:sp>
      <p:pic>
        <p:nvPicPr>
          <p:cNvPr id="15" name="icon-149" descr="preencoded.png">    </p:cNvPr>
          <p:cNvPicPr>
            <a:picLocks noChangeAspect="1"/>
          </p:cNvPicPr>
          <p:nvPr/>
        </p:nvPicPr>
        <p:blipFill>
          <a:blip r:embed="rId3"/>
          <a:stretch>
            <a:fillRect/>
          </a:stretch>
        </p:blipFill>
        <p:spPr>
          <a:xfrm>
            <a:off x="8599018" y="1903781"/>
            <a:ext cx="307238" cy="307238"/>
          </a:xfrm>
          <a:prstGeom prst="rect">
            <a:avLst/>
          </a:prstGeom>
        </p:spPr>
      </p:pic>
      <p:sp>
        <p:nvSpPr>
          <p:cNvPr id="16" name="text-150"/>
          <p:cNvSpPr txBox="1"/>
          <p:nvPr/>
        </p:nvSpPr>
        <p:spPr>
          <a:xfrm>
            <a:off x="8478317" y="2468880"/>
            <a:ext cx="2844698"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Money only buys ads</a:t>
            </a:r>
            <a:endParaRPr lang="en-US" sz="1800" dirty="0"/>
          </a:p>
        </p:txBody>
      </p:sp>
      <p:sp>
        <p:nvSpPr>
          <p:cNvPr id="17" name="text-151"/>
          <p:cNvSpPr txBox="1"/>
          <p:nvPr/>
        </p:nvSpPr>
        <p:spPr>
          <a:xfrm>
            <a:off x="8478317" y="2880360"/>
            <a:ext cx="293613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It never goes to the creator. The split is shown up front.</a:t>
            </a:r>
            <a:endParaRPr lang="en-US" sz="1400" dirty="0"/>
          </a:p>
        </p:txBody>
      </p:sp>
      <p:sp>
        <p:nvSpPr>
          <p:cNvPr id="18" name="card-152"/>
          <p:cNvSpPr/>
          <p:nvPr/>
        </p:nvSpPr>
        <p:spPr>
          <a:xfrm>
            <a:off x="548640" y="3886200"/>
            <a:ext cx="3484778" cy="2194560"/>
          </a:xfrm>
          <a:prstGeom prst="roundRect">
            <a:avLst>
              <a:gd name="adj" fmla="val 6250"/>
            </a:avLst>
          </a:prstGeom>
          <a:solidFill>
            <a:schemeClr val="bg2"/>
          </a:solidFill>
          <a:ln/>
        </p:spPr>
      </p:sp>
      <p:sp>
        <p:nvSpPr>
          <p:cNvPr id="19" name="icon-bg-153"/>
          <p:cNvSpPr/>
          <p:nvPr/>
        </p:nvSpPr>
        <p:spPr>
          <a:xfrm>
            <a:off x="868680" y="4206240"/>
            <a:ext cx="548640" cy="548640"/>
          </a:xfrm>
          <a:prstGeom prst="ellipse">
            <a:avLst/>
          </a:prstGeom>
          <a:solidFill>
            <a:schemeClr val="accent3"/>
          </a:solidFill>
          <a:ln/>
        </p:spPr>
      </p:sp>
      <p:pic>
        <p:nvPicPr>
          <p:cNvPr id="20" name="icon-154" descr="preencoded.png">    </p:cNvPr>
          <p:cNvPicPr>
            <a:picLocks noChangeAspect="1"/>
          </p:cNvPicPr>
          <p:nvPr/>
        </p:nvPicPr>
        <p:blipFill>
          <a:blip r:embed="rId4"/>
          <a:stretch>
            <a:fillRect/>
          </a:stretch>
        </p:blipFill>
        <p:spPr>
          <a:xfrm>
            <a:off x="989381" y="4326941"/>
            <a:ext cx="307238" cy="307238"/>
          </a:xfrm>
          <a:prstGeom prst="rect">
            <a:avLst/>
          </a:prstGeom>
        </p:spPr>
      </p:pic>
      <p:sp>
        <p:nvSpPr>
          <p:cNvPr id="21" name="text-155"/>
          <p:cNvSpPr txBox="1"/>
          <p:nvPr/>
        </p:nvSpPr>
        <p:spPr>
          <a:xfrm>
            <a:off x="868680" y="4892040"/>
            <a:ext cx="2844698"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Refunds when it can’t run</a:t>
            </a:r>
            <a:endParaRPr lang="en-US" sz="1800" dirty="0"/>
          </a:p>
        </p:txBody>
      </p:sp>
      <p:sp>
        <p:nvSpPr>
          <p:cNvPr id="22" name="text-156"/>
          <p:cNvSpPr txBox="1"/>
          <p:nvPr/>
        </p:nvSpPr>
        <p:spPr>
          <a:xfrm>
            <a:off x="868680" y="5303520"/>
            <a:ext cx="293613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Under $250 raised, every backer is refunded. Unspent budget is refunded too.</a:t>
            </a:r>
            <a:endParaRPr lang="en-US" sz="1400" dirty="0"/>
          </a:p>
        </p:txBody>
      </p:sp>
      <p:sp>
        <p:nvSpPr>
          <p:cNvPr id="23" name="card-157"/>
          <p:cNvSpPr/>
          <p:nvPr/>
        </p:nvSpPr>
        <p:spPr>
          <a:xfrm>
            <a:off x="4353458" y="3886200"/>
            <a:ext cx="3484778" cy="2194560"/>
          </a:xfrm>
          <a:prstGeom prst="roundRect">
            <a:avLst>
              <a:gd name="adj" fmla="val 6250"/>
            </a:avLst>
          </a:prstGeom>
          <a:solidFill>
            <a:schemeClr val="bg2"/>
          </a:solidFill>
          <a:ln/>
        </p:spPr>
      </p:sp>
      <p:sp>
        <p:nvSpPr>
          <p:cNvPr id="24" name="icon-bg-158"/>
          <p:cNvSpPr/>
          <p:nvPr/>
        </p:nvSpPr>
        <p:spPr>
          <a:xfrm>
            <a:off x="4673498" y="4206240"/>
            <a:ext cx="548640" cy="548640"/>
          </a:xfrm>
          <a:prstGeom prst="ellipse">
            <a:avLst/>
          </a:prstGeom>
          <a:solidFill>
            <a:schemeClr val="accent3"/>
          </a:solidFill>
          <a:ln/>
        </p:spPr>
      </p:sp>
      <p:pic>
        <p:nvPicPr>
          <p:cNvPr id="25" name="icon-159" descr="preencoded.png">    </p:cNvPr>
          <p:cNvPicPr>
            <a:picLocks noChangeAspect="1"/>
          </p:cNvPicPr>
          <p:nvPr/>
        </p:nvPicPr>
        <p:blipFill>
          <a:blip r:embed="rId5"/>
          <a:stretch>
            <a:fillRect/>
          </a:stretch>
        </p:blipFill>
        <p:spPr>
          <a:xfrm>
            <a:off x="4794199" y="4326941"/>
            <a:ext cx="307238" cy="307238"/>
          </a:xfrm>
          <a:prstGeom prst="rect">
            <a:avLst/>
          </a:prstGeom>
        </p:spPr>
      </p:pic>
      <p:sp>
        <p:nvSpPr>
          <p:cNvPr id="26" name="text-160"/>
          <p:cNvSpPr txBox="1"/>
          <p:nvPr/>
        </p:nvSpPr>
        <p:spPr>
          <a:xfrm>
            <a:off x="4673498" y="4892040"/>
            <a:ext cx="2844698"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Honest estimates</a:t>
            </a:r>
            <a:endParaRPr lang="en-US" sz="1800" dirty="0"/>
          </a:p>
        </p:txBody>
      </p:sp>
      <p:sp>
        <p:nvSpPr>
          <p:cNvPr id="27" name="text-161"/>
          <p:cNvSpPr txBox="1"/>
          <p:nvPr/>
        </p:nvSpPr>
        <p:spPr>
          <a:xfrm>
            <a:off x="4673498" y="5303520"/>
            <a:ext cx="293613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Reach is always a range and labeled “Est.”, with the assumptions one tap away.</a:t>
            </a:r>
            <a:endParaRPr lang="en-US" sz="1400" dirty="0"/>
          </a:p>
        </p:txBody>
      </p:sp>
      <p:sp>
        <p:nvSpPr>
          <p:cNvPr id="28" name="card-162"/>
          <p:cNvSpPr/>
          <p:nvPr/>
        </p:nvSpPr>
        <p:spPr>
          <a:xfrm>
            <a:off x="8158277" y="3886200"/>
            <a:ext cx="3484778" cy="2194560"/>
          </a:xfrm>
          <a:prstGeom prst="roundRect">
            <a:avLst>
              <a:gd name="adj" fmla="val 6250"/>
            </a:avLst>
          </a:prstGeom>
          <a:solidFill>
            <a:schemeClr val="bg2"/>
          </a:solidFill>
          <a:ln/>
        </p:spPr>
      </p:sp>
      <p:sp>
        <p:nvSpPr>
          <p:cNvPr id="29" name="icon-bg-163"/>
          <p:cNvSpPr/>
          <p:nvPr/>
        </p:nvSpPr>
        <p:spPr>
          <a:xfrm>
            <a:off x="8478317" y="4206240"/>
            <a:ext cx="548640" cy="548640"/>
          </a:xfrm>
          <a:prstGeom prst="ellipse">
            <a:avLst/>
          </a:prstGeom>
          <a:solidFill>
            <a:schemeClr val="accent3"/>
          </a:solidFill>
          <a:ln/>
        </p:spPr>
      </p:sp>
      <p:pic>
        <p:nvPicPr>
          <p:cNvPr id="30" name="icon-164" descr="preencoded.png">    </p:cNvPr>
          <p:cNvPicPr>
            <a:picLocks noChangeAspect="1"/>
          </p:cNvPicPr>
          <p:nvPr/>
        </p:nvPicPr>
        <p:blipFill>
          <a:blip r:embed="rId6"/>
          <a:stretch>
            <a:fillRect/>
          </a:stretch>
        </p:blipFill>
        <p:spPr>
          <a:xfrm>
            <a:off x="8599018" y="4326941"/>
            <a:ext cx="307238" cy="307238"/>
          </a:xfrm>
          <a:prstGeom prst="rect">
            <a:avLst/>
          </a:prstGeom>
        </p:spPr>
      </p:pic>
      <p:sp>
        <p:nvSpPr>
          <p:cNvPr id="31" name="text-165"/>
          <p:cNvSpPr txBox="1"/>
          <p:nvPr/>
        </p:nvSpPr>
        <p:spPr>
          <a:xfrm>
            <a:off x="8478317" y="4892040"/>
            <a:ext cx="2844698"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Private by default</a:t>
            </a:r>
            <a:endParaRPr lang="en-US" sz="1800" dirty="0"/>
          </a:p>
        </p:txBody>
      </p:sp>
      <p:sp>
        <p:nvSpPr>
          <p:cNvPr id="32" name="text-166"/>
          <p:cNvSpPr txBox="1"/>
          <p:nvPr/>
        </p:nvSpPr>
        <p:spPr>
          <a:xfrm>
            <a:off x="8478317" y="5303520"/>
            <a:ext cx="2936138" cy="7315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Backer names are hidden unless they choose otherwise. Ads are labeled as sponsored.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Creating a campaign is guided from start to finish</a:t>
            </a:r>
            <a:endParaRPr lang="en-US" sz="3400" dirty="0"/>
          </a:p>
        </p:txBody>
      </p:sp>
      <p:pic>
        <p:nvPicPr>
          <p:cNvPr id="3" name="phone-create-167" descr="preencoded.png">    </p:cNvPr>
          <p:cNvPicPr>
            <a:picLocks noChangeAspect="1"/>
          </p:cNvPicPr>
          <p:nvPr/>
        </p:nvPicPr>
        <p:blipFill>
          <a:blip r:embed="rId1"/>
          <a:stretch>
            <a:fillRect/>
          </a:stretch>
        </p:blipFill>
        <p:spPr>
          <a:xfrm>
            <a:off x="731520" y="1371600"/>
            <a:ext cx="2274155" cy="4800600"/>
          </a:xfrm>
          <a:prstGeom prst="rect">
            <a:avLst/>
          </a:prstGeom>
        </p:spPr>
      </p:pic>
      <p:pic>
        <p:nvPicPr>
          <p:cNvPr id="4" name="phone-draft-168" descr="preencoded.png">    </p:cNvPr>
          <p:cNvPicPr>
            <a:picLocks noChangeAspect="1"/>
          </p:cNvPicPr>
          <p:nvPr/>
        </p:nvPicPr>
        <p:blipFill>
          <a:blip r:embed="rId2"/>
          <a:stretch>
            <a:fillRect/>
          </a:stretch>
        </p:blipFill>
        <p:spPr>
          <a:xfrm>
            <a:off x="3063240" y="1371600"/>
            <a:ext cx="2274155" cy="4800600"/>
          </a:xfrm>
          <a:prstGeom prst="rect">
            <a:avLst/>
          </a:prstGeom>
        </p:spPr>
      </p:pic>
      <p:sp>
        <p:nvSpPr>
          <p:cNvPr id="5" name="icon-bg-169"/>
          <p:cNvSpPr/>
          <p:nvPr/>
        </p:nvSpPr>
        <p:spPr>
          <a:xfrm>
            <a:off x="5806440" y="1600200"/>
            <a:ext cx="502920" cy="502920"/>
          </a:xfrm>
          <a:prstGeom prst="ellipse">
            <a:avLst/>
          </a:prstGeom>
          <a:solidFill>
            <a:schemeClr val="accent1"/>
          </a:solidFill>
          <a:ln/>
        </p:spPr>
      </p:sp>
      <p:pic>
        <p:nvPicPr>
          <p:cNvPr id="6" name="icon-170" descr="preencoded.png">    </p:cNvPr>
          <p:cNvPicPr>
            <a:picLocks noChangeAspect="1"/>
          </p:cNvPicPr>
          <p:nvPr/>
        </p:nvPicPr>
        <p:blipFill>
          <a:blip r:embed="rId3"/>
          <a:stretch>
            <a:fillRect/>
          </a:stretch>
        </p:blipFill>
        <p:spPr>
          <a:xfrm>
            <a:off x="5917082" y="1710842"/>
            <a:ext cx="281635" cy="281635"/>
          </a:xfrm>
          <a:prstGeom prst="rect">
            <a:avLst/>
          </a:prstGeom>
        </p:spPr>
      </p:pic>
      <p:sp>
        <p:nvSpPr>
          <p:cNvPr id="7" name="text-171"/>
          <p:cNvSpPr txBox="1"/>
          <p:nvPr/>
        </p:nvSpPr>
        <p:spPr>
          <a:xfrm>
            <a:off x="6537960" y="1581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Five clear steps</a:t>
            </a:r>
            <a:endParaRPr lang="en-US" sz="1800" dirty="0"/>
          </a:p>
        </p:txBody>
      </p:sp>
      <p:sp>
        <p:nvSpPr>
          <p:cNvPr id="8" name="text-172"/>
          <p:cNvSpPr txBox="1"/>
          <p:nvPr/>
        </p:nvSpPr>
        <p:spPr>
          <a:xfrm>
            <a:off x="6537960" y="1965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Basics, Story, Visuals, Reach and Submit, with a full preview before sending it for review.</a:t>
            </a:r>
            <a:endParaRPr lang="en-US" sz="1500" dirty="0"/>
          </a:p>
        </p:txBody>
      </p:sp>
      <p:sp>
        <p:nvSpPr>
          <p:cNvPr id="9" name="icon-bg-173"/>
          <p:cNvSpPr/>
          <p:nvPr/>
        </p:nvSpPr>
        <p:spPr>
          <a:xfrm>
            <a:off x="5806440" y="2743200"/>
            <a:ext cx="502920" cy="502920"/>
          </a:xfrm>
          <a:prstGeom prst="ellipse">
            <a:avLst/>
          </a:prstGeom>
          <a:solidFill>
            <a:schemeClr val="accent1"/>
          </a:solidFill>
          <a:ln/>
        </p:spPr>
      </p:sp>
      <p:pic>
        <p:nvPicPr>
          <p:cNvPr id="10" name="icon-174" descr="preencoded.png">    </p:cNvPr>
          <p:cNvPicPr>
            <a:picLocks noChangeAspect="1"/>
          </p:cNvPicPr>
          <p:nvPr/>
        </p:nvPicPr>
        <p:blipFill>
          <a:blip r:embed="rId4"/>
          <a:stretch>
            <a:fillRect/>
          </a:stretch>
        </p:blipFill>
        <p:spPr>
          <a:xfrm>
            <a:off x="5917082" y="2853842"/>
            <a:ext cx="281635" cy="281635"/>
          </a:xfrm>
          <a:prstGeom prst="rect">
            <a:avLst/>
          </a:prstGeom>
        </p:spPr>
      </p:pic>
      <p:sp>
        <p:nvSpPr>
          <p:cNvPr id="11" name="text-175"/>
          <p:cNvSpPr txBox="1"/>
          <p:nvPr/>
        </p:nvSpPr>
        <p:spPr>
          <a:xfrm>
            <a:off x="6537960" y="2724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AI suggestions you control</a:t>
            </a:r>
            <a:endParaRPr lang="en-US" sz="1800" dirty="0"/>
          </a:p>
        </p:txBody>
      </p:sp>
      <p:sp>
        <p:nvSpPr>
          <p:cNvPr id="12" name="text-176"/>
          <p:cNvSpPr txBox="1"/>
          <p:nvPr/>
        </p:nvSpPr>
        <p:spPr>
          <a:xfrm>
            <a:off x="6537960" y="3108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Ideas for the title, summary and ad copy. Nothing changes until the creator accepts it.</a:t>
            </a:r>
            <a:endParaRPr lang="en-US" sz="1500" dirty="0"/>
          </a:p>
        </p:txBody>
      </p:sp>
      <p:sp>
        <p:nvSpPr>
          <p:cNvPr id="13" name="icon-bg-177"/>
          <p:cNvSpPr/>
          <p:nvPr/>
        </p:nvSpPr>
        <p:spPr>
          <a:xfrm>
            <a:off x="5806440" y="3886200"/>
            <a:ext cx="502920" cy="502920"/>
          </a:xfrm>
          <a:prstGeom prst="ellipse">
            <a:avLst/>
          </a:prstGeom>
          <a:solidFill>
            <a:schemeClr val="accent1"/>
          </a:solidFill>
          <a:ln/>
        </p:spPr>
      </p:sp>
      <p:pic>
        <p:nvPicPr>
          <p:cNvPr id="14" name="icon-178" descr="preencoded.png">    </p:cNvPr>
          <p:cNvPicPr>
            <a:picLocks noChangeAspect="1"/>
          </p:cNvPicPr>
          <p:nvPr/>
        </p:nvPicPr>
        <p:blipFill>
          <a:blip r:embed="rId5"/>
          <a:stretch>
            <a:fillRect/>
          </a:stretch>
        </p:blipFill>
        <p:spPr>
          <a:xfrm>
            <a:off x="5917082" y="3996842"/>
            <a:ext cx="281635" cy="281635"/>
          </a:xfrm>
          <a:prstGeom prst="rect">
            <a:avLst/>
          </a:prstGeom>
        </p:spPr>
      </p:pic>
      <p:sp>
        <p:nvSpPr>
          <p:cNvPr id="15" name="text-179"/>
          <p:cNvSpPr txBox="1"/>
          <p:nvPr/>
        </p:nvSpPr>
        <p:spPr>
          <a:xfrm>
            <a:off x="6537960" y="3867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Never lose work</a:t>
            </a:r>
            <a:endParaRPr lang="en-US" sz="1800" dirty="0"/>
          </a:p>
        </p:txBody>
      </p:sp>
      <p:sp>
        <p:nvSpPr>
          <p:cNvPr id="16" name="text-180"/>
          <p:cNvSpPr txBox="1"/>
          <p:nvPr/>
        </p:nvSpPr>
        <p:spPr>
          <a:xfrm>
            <a:off x="6537960" y="4251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Every change saves automatically; pick up any draft where you left off.</a:t>
            </a:r>
            <a:endParaRPr lang="en-US" sz="1500" dirty="0"/>
          </a:p>
        </p:txBody>
      </p:sp>
      <p:sp>
        <p:nvSpPr>
          <p:cNvPr id="17" name="icon-bg-181"/>
          <p:cNvSpPr/>
          <p:nvPr/>
        </p:nvSpPr>
        <p:spPr>
          <a:xfrm>
            <a:off x="5806440" y="5029200"/>
            <a:ext cx="502920" cy="502920"/>
          </a:xfrm>
          <a:prstGeom prst="ellipse">
            <a:avLst/>
          </a:prstGeom>
          <a:solidFill>
            <a:schemeClr val="accent1"/>
          </a:solidFill>
          <a:ln/>
        </p:spPr>
      </p:sp>
      <p:pic>
        <p:nvPicPr>
          <p:cNvPr id="18" name="icon-182" descr="preencoded.png">    </p:cNvPr>
          <p:cNvPicPr>
            <a:picLocks noChangeAspect="1"/>
          </p:cNvPicPr>
          <p:nvPr/>
        </p:nvPicPr>
        <p:blipFill>
          <a:blip r:embed="rId6"/>
          <a:stretch>
            <a:fillRect/>
          </a:stretch>
        </p:blipFill>
        <p:spPr>
          <a:xfrm>
            <a:off x="5917082" y="5139842"/>
            <a:ext cx="281635" cy="281635"/>
          </a:xfrm>
          <a:prstGeom prst="rect">
            <a:avLst/>
          </a:prstGeom>
        </p:spPr>
      </p:pic>
      <p:sp>
        <p:nvSpPr>
          <p:cNvPr id="19" name="text-183"/>
          <p:cNvSpPr txBox="1"/>
          <p:nvPr/>
        </p:nvSpPr>
        <p:spPr>
          <a:xfrm>
            <a:off x="6537960" y="5010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See the ads before they run</a:t>
            </a:r>
            <a:endParaRPr lang="en-US" sz="1800" dirty="0"/>
          </a:p>
        </p:txBody>
      </p:sp>
      <p:sp>
        <p:nvSpPr>
          <p:cNvPr id="20" name="text-184"/>
          <p:cNvSpPr txBox="1"/>
          <p:nvPr/>
        </p:nvSpPr>
        <p:spPr>
          <a:xfrm>
            <a:off x="6537960" y="5394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Previews show how the campaign will look in feeds and stories.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Or simply say it out loud</a:t>
            </a:r>
            <a:endParaRPr lang="en-US" sz="3400" dirty="0"/>
          </a:p>
        </p:txBody>
      </p:sp>
      <p:sp>
        <p:nvSpPr>
          <p:cNvPr id="3" name="text-185"/>
          <p:cNvSpPr txBox="1"/>
          <p:nvPr/>
        </p:nvSpPr>
        <p:spPr>
          <a:xfrm>
            <a:off x="548640" y="1554480"/>
            <a:ext cx="6035040" cy="109728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Answer four questions with your voice. The app drafts the campaign; you edit everything before it goes anywhere.</a:t>
            </a:r>
            <a:endParaRPr lang="en-US" sz="2200" dirty="0"/>
          </a:p>
        </p:txBody>
      </p:sp>
      <p:sp>
        <p:nvSpPr>
          <p:cNvPr id="4" name="card-186"/>
          <p:cNvSpPr/>
          <p:nvPr/>
        </p:nvSpPr>
        <p:spPr>
          <a:xfrm>
            <a:off x="548640" y="2880360"/>
            <a:ext cx="6035040" cy="548640"/>
          </a:xfrm>
          <a:prstGeom prst="roundRect">
            <a:avLst>
              <a:gd name="adj" fmla="val 25000"/>
            </a:avLst>
          </a:prstGeom>
          <a:solidFill>
            <a:schemeClr val="bg2"/>
          </a:solidFill>
          <a:ln/>
        </p:spPr>
      </p:sp>
      <p:sp>
        <p:nvSpPr>
          <p:cNvPr id="5" name="text-187"/>
          <p:cNvSpPr txBox="1"/>
          <p:nvPr/>
        </p:nvSpPr>
        <p:spPr>
          <a:xfrm>
            <a:off x="777240" y="2880360"/>
            <a:ext cx="365760" cy="548640"/>
          </a:xfrm>
          <a:prstGeom prst="rect">
            <a:avLst/>
          </a:prstGeom>
          <a:noFill/>
          <a:ln/>
        </p:spPr>
        <p:txBody>
          <a:bodyPr wrap="square" lIns="0" tIns="0" rIns="0" bIns="0" rtlCol="0" anchor="ctr"/>
          <a:lstStyle/>
          <a:p>
            <a:pPr indent="0" marL="0">
              <a:buNone/>
            </a:pPr>
            <a:r>
              <a:rPr lang="en-US" sz="1800" b="1" dirty="0">
                <a:solidFill>
                  <a:schemeClr val="accent1"/>
                </a:solidFill>
                <a:latin typeface="Georgia" pitchFamily="34" charset="0"/>
                <a:ea typeface="Georgia" pitchFamily="34" charset="-122"/>
                <a:cs typeface="Georgia" pitchFamily="34" charset="-120"/>
              </a:rPr>
              <a:t>1</a:t>
            </a:r>
            <a:endParaRPr lang="en-US" sz="1800" dirty="0"/>
          </a:p>
        </p:txBody>
      </p:sp>
      <p:sp>
        <p:nvSpPr>
          <p:cNvPr id="6" name="text-188"/>
          <p:cNvSpPr txBox="1"/>
          <p:nvPr/>
        </p:nvSpPr>
        <p:spPr>
          <a:xfrm>
            <a:off x="1234440" y="2880360"/>
            <a:ext cx="5212080" cy="54864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What do you want people to know?</a:t>
            </a:r>
            <a:endParaRPr lang="en-US" sz="1600" dirty="0"/>
          </a:p>
        </p:txBody>
      </p:sp>
      <p:sp>
        <p:nvSpPr>
          <p:cNvPr id="7" name="card-189"/>
          <p:cNvSpPr/>
          <p:nvPr/>
        </p:nvSpPr>
        <p:spPr>
          <a:xfrm>
            <a:off x="548640" y="3566160"/>
            <a:ext cx="6035040" cy="548640"/>
          </a:xfrm>
          <a:prstGeom prst="roundRect">
            <a:avLst>
              <a:gd name="adj" fmla="val 25000"/>
            </a:avLst>
          </a:prstGeom>
          <a:solidFill>
            <a:schemeClr val="bg2"/>
          </a:solidFill>
          <a:ln/>
        </p:spPr>
      </p:sp>
      <p:sp>
        <p:nvSpPr>
          <p:cNvPr id="8" name="text-190"/>
          <p:cNvSpPr txBox="1"/>
          <p:nvPr/>
        </p:nvSpPr>
        <p:spPr>
          <a:xfrm>
            <a:off x="777240" y="3566160"/>
            <a:ext cx="365760" cy="548640"/>
          </a:xfrm>
          <a:prstGeom prst="rect">
            <a:avLst/>
          </a:prstGeom>
          <a:noFill/>
          <a:ln/>
        </p:spPr>
        <p:txBody>
          <a:bodyPr wrap="square" lIns="0" tIns="0" rIns="0" bIns="0" rtlCol="0" anchor="ctr"/>
          <a:lstStyle/>
          <a:p>
            <a:pPr indent="0" marL="0">
              <a:buNone/>
            </a:pPr>
            <a:r>
              <a:rPr lang="en-US" sz="1800" b="1" dirty="0">
                <a:solidFill>
                  <a:schemeClr val="accent1"/>
                </a:solidFill>
                <a:latin typeface="Georgia" pitchFamily="34" charset="0"/>
                <a:ea typeface="Georgia" pitchFamily="34" charset="-122"/>
                <a:cs typeface="Georgia" pitchFamily="34" charset="-120"/>
              </a:rPr>
              <a:t>2</a:t>
            </a:r>
            <a:endParaRPr lang="en-US" sz="1800" dirty="0"/>
          </a:p>
        </p:txBody>
      </p:sp>
      <p:sp>
        <p:nvSpPr>
          <p:cNvPr id="9" name="text-191"/>
          <p:cNvSpPr txBox="1"/>
          <p:nvPr/>
        </p:nvSpPr>
        <p:spPr>
          <a:xfrm>
            <a:off x="1234440" y="3566160"/>
            <a:ext cx="5212080" cy="54864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Why does it matter now?</a:t>
            </a:r>
            <a:endParaRPr lang="en-US" sz="1600" dirty="0"/>
          </a:p>
        </p:txBody>
      </p:sp>
      <p:sp>
        <p:nvSpPr>
          <p:cNvPr id="10" name="card-192"/>
          <p:cNvSpPr/>
          <p:nvPr/>
        </p:nvSpPr>
        <p:spPr>
          <a:xfrm>
            <a:off x="548640" y="4251960"/>
            <a:ext cx="6035040" cy="548640"/>
          </a:xfrm>
          <a:prstGeom prst="roundRect">
            <a:avLst>
              <a:gd name="adj" fmla="val 25000"/>
            </a:avLst>
          </a:prstGeom>
          <a:solidFill>
            <a:schemeClr val="bg2"/>
          </a:solidFill>
          <a:ln/>
        </p:spPr>
      </p:sp>
      <p:sp>
        <p:nvSpPr>
          <p:cNvPr id="11" name="text-193"/>
          <p:cNvSpPr txBox="1"/>
          <p:nvPr/>
        </p:nvSpPr>
        <p:spPr>
          <a:xfrm>
            <a:off x="777240" y="4251960"/>
            <a:ext cx="365760" cy="548640"/>
          </a:xfrm>
          <a:prstGeom prst="rect">
            <a:avLst/>
          </a:prstGeom>
          <a:noFill/>
          <a:ln/>
        </p:spPr>
        <p:txBody>
          <a:bodyPr wrap="square" lIns="0" tIns="0" rIns="0" bIns="0" rtlCol="0" anchor="ctr"/>
          <a:lstStyle/>
          <a:p>
            <a:pPr indent="0" marL="0">
              <a:buNone/>
            </a:pPr>
            <a:r>
              <a:rPr lang="en-US" sz="1800" b="1" dirty="0">
                <a:solidFill>
                  <a:schemeClr val="accent1"/>
                </a:solidFill>
                <a:latin typeface="Georgia" pitchFamily="34" charset="0"/>
                <a:ea typeface="Georgia" pitchFamily="34" charset="-122"/>
                <a:cs typeface="Georgia" pitchFamily="34" charset="-120"/>
              </a:rPr>
              <a:t>3</a:t>
            </a:r>
            <a:endParaRPr lang="en-US" sz="1800" dirty="0"/>
          </a:p>
        </p:txBody>
      </p:sp>
      <p:sp>
        <p:nvSpPr>
          <p:cNvPr id="12" name="text-194"/>
          <p:cNvSpPr txBox="1"/>
          <p:nvPr/>
        </p:nvSpPr>
        <p:spPr>
          <a:xfrm>
            <a:off x="1234440" y="4251960"/>
            <a:ext cx="5212080" cy="54864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Who most needs to hear it?</a:t>
            </a:r>
            <a:endParaRPr lang="en-US" sz="1600" dirty="0"/>
          </a:p>
        </p:txBody>
      </p:sp>
      <p:sp>
        <p:nvSpPr>
          <p:cNvPr id="13" name="card-195"/>
          <p:cNvSpPr/>
          <p:nvPr/>
        </p:nvSpPr>
        <p:spPr>
          <a:xfrm>
            <a:off x="548640" y="4937760"/>
            <a:ext cx="6035040" cy="548640"/>
          </a:xfrm>
          <a:prstGeom prst="roundRect">
            <a:avLst>
              <a:gd name="adj" fmla="val 25000"/>
            </a:avLst>
          </a:prstGeom>
          <a:solidFill>
            <a:schemeClr val="bg2"/>
          </a:solidFill>
          <a:ln/>
        </p:spPr>
      </p:sp>
      <p:sp>
        <p:nvSpPr>
          <p:cNvPr id="14" name="text-196"/>
          <p:cNvSpPr txBox="1"/>
          <p:nvPr/>
        </p:nvSpPr>
        <p:spPr>
          <a:xfrm>
            <a:off x="777240" y="4937760"/>
            <a:ext cx="365760" cy="548640"/>
          </a:xfrm>
          <a:prstGeom prst="rect">
            <a:avLst/>
          </a:prstGeom>
          <a:noFill/>
          <a:ln/>
        </p:spPr>
        <p:txBody>
          <a:bodyPr wrap="square" lIns="0" tIns="0" rIns="0" bIns="0" rtlCol="0" anchor="ctr"/>
          <a:lstStyle/>
          <a:p>
            <a:pPr indent="0" marL="0">
              <a:buNone/>
            </a:pPr>
            <a:r>
              <a:rPr lang="en-US" sz="1800" b="1" dirty="0">
                <a:solidFill>
                  <a:schemeClr val="accent1"/>
                </a:solidFill>
                <a:latin typeface="Georgia" pitchFamily="34" charset="0"/>
                <a:ea typeface="Georgia" pitchFamily="34" charset="-122"/>
                <a:cs typeface="Georgia" pitchFamily="34" charset="-120"/>
              </a:rPr>
              <a:t>4</a:t>
            </a:r>
            <a:endParaRPr lang="en-US" sz="1800" dirty="0"/>
          </a:p>
        </p:txBody>
      </p:sp>
      <p:sp>
        <p:nvSpPr>
          <p:cNvPr id="15" name="text-197"/>
          <p:cNvSpPr txBox="1"/>
          <p:nvPr/>
        </p:nvSpPr>
        <p:spPr>
          <a:xfrm>
            <a:off x="1234440" y="4937760"/>
            <a:ext cx="5212080" cy="54864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What should they do next?</a:t>
            </a:r>
            <a:endParaRPr lang="en-US" sz="1600" dirty="0"/>
          </a:p>
        </p:txBody>
      </p:sp>
      <p:sp>
        <p:nvSpPr>
          <p:cNvPr id="16" name="text-198"/>
          <p:cNvSpPr txBox="1"/>
          <p:nvPr/>
        </p:nvSpPr>
        <p:spPr>
          <a:xfrm>
            <a:off x="548640" y="5715000"/>
            <a:ext cx="6035040" cy="365760"/>
          </a:xfrm>
          <a:prstGeom prst="rect">
            <a:avLst/>
          </a:prstGeom>
          <a:noFill/>
          <a:ln/>
        </p:spPr>
        <p:txBody>
          <a:bodyPr wrap="square" lIns="0" tIns="0" rIns="0" bIns="0" rtlCol="0" anchor="t"/>
          <a:lstStyle/>
          <a:p>
            <a:pPr indent="0" marL="0">
              <a:buNone/>
            </a:pPr>
            <a:r>
              <a:rPr lang="en-US" sz="1400" i="1" dirty="0">
                <a:solidFill>
                  <a:schemeClr val="tx2"/>
                </a:solidFill>
                <a:latin typeface="Arial" pitchFamily="34" charset="0"/>
                <a:ea typeface="Arial" pitchFamily="34" charset="-122"/>
                <a:cs typeface="Arial" pitchFamily="34" charset="-120"/>
              </a:rPr>
              <a:t>The funding goal is always set by the creator, never by AI.</a:t>
            </a:r>
            <a:endParaRPr lang="en-US" sz="1400" dirty="0"/>
          </a:p>
        </p:txBody>
      </p:sp>
      <p:pic>
        <p:nvPicPr>
          <p:cNvPr id="17" name="phone-voice-199" descr="preencoded.png">    </p:cNvPr>
          <p:cNvPicPr>
            <a:picLocks noChangeAspect="1"/>
          </p:cNvPicPr>
          <p:nvPr/>
        </p:nvPicPr>
        <p:blipFill>
          <a:blip r:embed="rId1"/>
          <a:stretch>
            <a:fillRect/>
          </a:stretch>
        </p:blipFill>
        <p:spPr>
          <a:xfrm>
            <a:off x="7863840" y="1371600"/>
            <a:ext cx="2274155" cy="480060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Creators always know what to do next</a:t>
            </a:r>
            <a:endParaRPr lang="en-US" sz="3400" dirty="0"/>
          </a:p>
        </p:txBody>
      </p:sp>
      <p:pic>
        <p:nvPicPr>
          <p:cNvPr id="3" name="phone-dashboard-200" descr="preencoded.png">    </p:cNvPr>
          <p:cNvPicPr>
            <a:picLocks noChangeAspect="1"/>
          </p:cNvPicPr>
          <p:nvPr/>
        </p:nvPicPr>
        <p:blipFill>
          <a:blip r:embed="rId1"/>
          <a:stretch>
            <a:fillRect/>
          </a:stretch>
        </p:blipFill>
        <p:spPr>
          <a:xfrm>
            <a:off x="731520" y="1371600"/>
            <a:ext cx="2274155" cy="4800600"/>
          </a:xfrm>
          <a:prstGeom prst="rect">
            <a:avLst/>
          </a:prstGeom>
        </p:spPr>
      </p:pic>
      <p:pic>
        <p:nvPicPr>
          <p:cNvPr id="4" name="phone-manage-201" descr="preencoded.png">    </p:cNvPr>
          <p:cNvPicPr>
            <a:picLocks noChangeAspect="1"/>
          </p:cNvPicPr>
          <p:nvPr/>
        </p:nvPicPr>
        <p:blipFill>
          <a:blip r:embed="rId2"/>
          <a:stretch>
            <a:fillRect/>
          </a:stretch>
        </p:blipFill>
        <p:spPr>
          <a:xfrm>
            <a:off x="3063240" y="1371600"/>
            <a:ext cx="2274155" cy="4800600"/>
          </a:xfrm>
          <a:prstGeom prst="rect">
            <a:avLst/>
          </a:prstGeom>
        </p:spPr>
      </p:pic>
      <p:sp>
        <p:nvSpPr>
          <p:cNvPr id="5" name="icon-bg-202"/>
          <p:cNvSpPr/>
          <p:nvPr/>
        </p:nvSpPr>
        <p:spPr>
          <a:xfrm>
            <a:off x="5806440" y="1600200"/>
            <a:ext cx="502920" cy="502920"/>
          </a:xfrm>
          <a:prstGeom prst="ellipse">
            <a:avLst/>
          </a:prstGeom>
          <a:solidFill>
            <a:schemeClr val="accent1"/>
          </a:solidFill>
          <a:ln/>
        </p:spPr>
      </p:sp>
      <p:pic>
        <p:nvPicPr>
          <p:cNvPr id="6" name="icon-203" descr="preencoded.png">    </p:cNvPr>
          <p:cNvPicPr>
            <a:picLocks noChangeAspect="1"/>
          </p:cNvPicPr>
          <p:nvPr/>
        </p:nvPicPr>
        <p:blipFill>
          <a:blip r:embed="rId3"/>
          <a:stretch>
            <a:fillRect/>
          </a:stretch>
        </p:blipFill>
        <p:spPr>
          <a:xfrm>
            <a:off x="5917082" y="1710842"/>
            <a:ext cx="281635" cy="281635"/>
          </a:xfrm>
          <a:prstGeom prst="rect">
            <a:avLst/>
          </a:prstGeom>
        </p:spPr>
      </p:pic>
      <p:sp>
        <p:nvSpPr>
          <p:cNvPr id="7" name="text-204"/>
          <p:cNvSpPr txBox="1"/>
          <p:nvPr/>
        </p:nvSpPr>
        <p:spPr>
          <a:xfrm>
            <a:off x="6537960" y="1581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One dashboard</a:t>
            </a:r>
            <a:endParaRPr lang="en-US" sz="1800" dirty="0"/>
          </a:p>
        </p:txBody>
      </p:sp>
      <p:sp>
        <p:nvSpPr>
          <p:cNvPr id="8" name="text-205"/>
          <p:cNvSpPr txBox="1"/>
          <p:nvPr/>
        </p:nvSpPr>
        <p:spPr>
          <a:xfrm>
            <a:off x="6537960" y="1965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Total raised, backers and live campaigns, sorted by stage: drafts, review, funding, promoting, completed.</a:t>
            </a:r>
            <a:endParaRPr lang="en-US" sz="1500" dirty="0"/>
          </a:p>
        </p:txBody>
      </p:sp>
      <p:sp>
        <p:nvSpPr>
          <p:cNvPr id="9" name="icon-bg-206"/>
          <p:cNvSpPr/>
          <p:nvPr/>
        </p:nvSpPr>
        <p:spPr>
          <a:xfrm>
            <a:off x="5806440" y="2743200"/>
            <a:ext cx="502920" cy="502920"/>
          </a:xfrm>
          <a:prstGeom prst="ellipse">
            <a:avLst/>
          </a:prstGeom>
          <a:solidFill>
            <a:schemeClr val="accent1"/>
          </a:solidFill>
          <a:ln/>
        </p:spPr>
      </p:sp>
      <p:pic>
        <p:nvPicPr>
          <p:cNvPr id="10" name="icon-207" descr="preencoded.png">    </p:cNvPr>
          <p:cNvPicPr>
            <a:picLocks noChangeAspect="1"/>
          </p:cNvPicPr>
          <p:nvPr/>
        </p:nvPicPr>
        <p:blipFill>
          <a:blip r:embed="rId4"/>
          <a:stretch>
            <a:fillRect/>
          </a:stretch>
        </p:blipFill>
        <p:spPr>
          <a:xfrm>
            <a:off x="5917082" y="2853842"/>
            <a:ext cx="281635" cy="281635"/>
          </a:xfrm>
          <a:prstGeom prst="rect">
            <a:avLst/>
          </a:prstGeom>
        </p:spPr>
      </p:pic>
      <p:sp>
        <p:nvSpPr>
          <p:cNvPr id="11" name="text-208"/>
          <p:cNvSpPr txBox="1"/>
          <p:nvPr/>
        </p:nvSpPr>
        <p:spPr>
          <a:xfrm>
            <a:off x="6537960" y="2724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clear next step</a:t>
            </a:r>
            <a:endParaRPr lang="en-US" sz="1800" dirty="0"/>
          </a:p>
        </p:txBody>
      </p:sp>
      <p:sp>
        <p:nvSpPr>
          <p:cNvPr id="12" name="text-209"/>
          <p:cNvSpPr txBox="1"/>
          <p:nvPr/>
        </p:nvSpPr>
        <p:spPr>
          <a:xfrm>
            <a:off x="6537960" y="3108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Each campaign says what to do now, like “Share it to reach the goal”.</a:t>
            </a:r>
            <a:endParaRPr lang="en-US" sz="1500" dirty="0"/>
          </a:p>
        </p:txBody>
      </p:sp>
      <p:sp>
        <p:nvSpPr>
          <p:cNvPr id="13" name="icon-bg-210"/>
          <p:cNvSpPr/>
          <p:nvPr/>
        </p:nvSpPr>
        <p:spPr>
          <a:xfrm>
            <a:off x="5806440" y="3886200"/>
            <a:ext cx="502920" cy="502920"/>
          </a:xfrm>
          <a:prstGeom prst="ellipse">
            <a:avLst/>
          </a:prstGeom>
          <a:solidFill>
            <a:schemeClr val="accent1"/>
          </a:solidFill>
          <a:ln/>
        </p:spPr>
      </p:sp>
      <p:pic>
        <p:nvPicPr>
          <p:cNvPr id="14" name="icon-211" descr="preencoded.png">    </p:cNvPr>
          <p:cNvPicPr>
            <a:picLocks noChangeAspect="1"/>
          </p:cNvPicPr>
          <p:nvPr/>
        </p:nvPicPr>
        <p:blipFill>
          <a:blip r:embed="rId5"/>
          <a:stretch>
            <a:fillRect/>
          </a:stretch>
        </p:blipFill>
        <p:spPr>
          <a:xfrm>
            <a:off x="5917082" y="3996842"/>
            <a:ext cx="281635" cy="281635"/>
          </a:xfrm>
          <a:prstGeom prst="rect">
            <a:avLst/>
          </a:prstGeom>
        </p:spPr>
      </p:pic>
      <p:sp>
        <p:nvSpPr>
          <p:cNvPr id="15" name="text-212"/>
          <p:cNvSpPr txBox="1"/>
          <p:nvPr/>
        </p:nvSpPr>
        <p:spPr>
          <a:xfrm>
            <a:off x="6537960" y="3867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The full journey</a:t>
            </a:r>
            <a:endParaRPr lang="en-US" sz="1800" dirty="0"/>
          </a:p>
        </p:txBody>
      </p:sp>
      <p:sp>
        <p:nvSpPr>
          <p:cNvPr id="16" name="text-213"/>
          <p:cNvSpPr txBox="1"/>
          <p:nvPr/>
        </p:nvSpPr>
        <p:spPr>
          <a:xfrm>
            <a:off x="6537960" y="4251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A timeline from submission to final report, with dates for each step.</a:t>
            </a:r>
            <a:endParaRPr lang="en-US" sz="1500" dirty="0"/>
          </a:p>
        </p:txBody>
      </p:sp>
      <p:sp>
        <p:nvSpPr>
          <p:cNvPr id="17" name="icon-bg-214"/>
          <p:cNvSpPr/>
          <p:nvPr/>
        </p:nvSpPr>
        <p:spPr>
          <a:xfrm>
            <a:off x="5806440" y="5029200"/>
            <a:ext cx="502920" cy="502920"/>
          </a:xfrm>
          <a:prstGeom prst="ellipse">
            <a:avLst/>
          </a:prstGeom>
          <a:solidFill>
            <a:schemeClr val="accent1"/>
          </a:solidFill>
          <a:ln/>
        </p:spPr>
      </p:sp>
      <p:pic>
        <p:nvPicPr>
          <p:cNvPr id="18" name="icon-215" descr="preencoded.png">    </p:cNvPr>
          <p:cNvPicPr>
            <a:picLocks noChangeAspect="1"/>
          </p:cNvPicPr>
          <p:nvPr/>
        </p:nvPicPr>
        <p:blipFill>
          <a:blip r:embed="rId6"/>
          <a:stretch>
            <a:fillRect/>
          </a:stretch>
        </p:blipFill>
        <p:spPr>
          <a:xfrm>
            <a:off x="5917082" y="5139842"/>
            <a:ext cx="281635" cy="281635"/>
          </a:xfrm>
          <a:prstGeom prst="rect">
            <a:avLst/>
          </a:prstGeom>
        </p:spPr>
      </p:pic>
      <p:sp>
        <p:nvSpPr>
          <p:cNvPr id="19" name="text-216"/>
          <p:cNvSpPr txBox="1"/>
          <p:nvPr/>
        </p:nvSpPr>
        <p:spPr>
          <a:xfrm>
            <a:off x="6537960" y="5010912"/>
            <a:ext cx="510509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Updates for backers</a:t>
            </a:r>
            <a:endParaRPr lang="en-US" sz="1800" dirty="0"/>
          </a:p>
        </p:txBody>
      </p:sp>
      <p:sp>
        <p:nvSpPr>
          <p:cNvPr id="20" name="text-217"/>
          <p:cNvSpPr txBox="1"/>
          <p:nvPr/>
        </p:nvSpPr>
        <p:spPr>
          <a:xfrm>
            <a:off x="6537960" y="5394960"/>
            <a:ext cx="5105095"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Creators post news that reaches everyone who backed or follows the campaign.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Everyone stays in the loop</a:t>
            </a:r>
            <a:endParaRPr lang="en-US" sz="3400" dirty="0"/>
          </a:p>
        </p:txBody>
      </p:sp>
      <p:sp>
        <p:nvSpPr>
          <p:cNvPr id="3" name="text-218"/>
          <p:cNvSpPr txBox="1"/>
          <p:nvPr/>
        </p:nvSpPr>
        <p:spPr>
          <a:xfrm>
            <a:off x="548640" y="1554480"/>
            <a:ext cx="6217920" cy="91440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Activity is one place for everything that happens to the campaigns you back, follow or created.</a:t>
            </a:r>
            <a:endParaRPr lang="en-US" sz="2200" dirty="0"/>
          </a:p>
        </p:txBody>
      </p:sp>
      <p:sp>
        <p:nvSpPr>
          <p:cNvPr id="4" name="card-219"/>
          <p:cNvSpPr/>
          <p:nvPr/>
        </p:nvSpPr>
        <p:spPr>
          <a:xfrm>
            <a:off x="548640" y="2788920"/>
            <a:ext cx="2926080" cy="1234440"/>
          </a:xfrm>
          <a:prstGeom prst="roundRect">
            <a:avLst>
              <a:gd name="adj" fmla="val 11111"/>
            </a:avLst>
          </a:prstGeom>
          <a:solidFill>
            <a:schemeClr val="bg2"/>
          </a:solidFill>
          <a:ln/>
        </p:spPr>
      </p:sp>
      <p:sp>
        <p:nvSpPr>
          <p:cNvPr id="5" name="icon-bg-220"/>
          <p:cNvSpPr/>
          <p:nvPr/>
        </p:nvSpPr>
        <p:spPr>
          <a:xfrm>
            <a:off x="777240" y="3017520"/>
            <a:ext cx="457200" cy="457200"/>
          </a:xfrm>
          <a:prstGeom prst="ellipse">
            <a:avLst/>
          </a:prstGeom>
          <a:solidFill>
            <a:schemeClr val="accent1"/>
          </a:solidFill>
          <a:ln/>
        </p:spPr>
      </p:sp>
      <p:pic>
        <p:nvPicPr>
          <p:cNvPr id="6" name="icon-221" descr="preencoded.png">    </p:cNvPr>
          <p:cNvPicPr>
            <a:picLocks noChangeAspect="1"/>
          </p:cNvPicPr>
          <p:nvPr/>
        </p:nvPicPr>
        <p:blipFill>
          <a:blip r:embed="rId1"/>
          <a:stretch>
            <a:fillRect/>
          </a:stretch>
        </p:blipFill>
        <p:spPr>
          <a:xfrm>
            <a:off x="877824" y="3118104"/>
            <a:ext cx="256032" cy="256032"/>
          </a:xfrm>
          <a:prstGeom prst="rect">
            <a:avLst/>
          </a:prstGeom>
        </p:spPr>
      </p:pic>
      <p:sp>
        <p:nvSpPr>
          <p:cNvPr id="7" name="text-222"/>
          <p:cNvSpPr txBox="1"/>
          <p:nvPr/>
        </p:nvSpPr>
        <p:spPr>
          <a:xfrm>
            <a:off x="1417320" y="3035808"/>
            <a:ext cx="192024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Payments</a:t>
            </a:r>
            <a:endParaRPr lang="en-US" sz="1600" dirty="0"/>
          </a:p>
        </p:txBody>
      </p:sp>
      <p:sp>
        <p:nvSpPr>
          <p:cNvPr id="8" name="text-223"/>
          <p:cNvSpPr txBox="1"/>
          <p:nvPr/>
        </p:nvSpPr>
        <p:spPr>
          <a:xfrm>
            <a:off x="777240" y="3538728"/>
            <a:ext cx="2560320" cy="4572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Confirmations, receipts and refunds</a:t>
            </a:r>
            <a:endParaRPr lang="en-US" sz="1300" dirty="0"/>
          </a:p>
        </p:txBody>
      </p:sp>
      <p:sp>
        <p:nvSpPr>
          <p:cNvPr id="9" name="card-224"/>
          <p:cNvSpPr/>
          <p:nvPr/>
        </p:nvSpPr>
        <p:spPr>
          <a:xfrm>
            <a:off x="3703320" y="2788920"/>
            <a:ext cx="2926080" cy="1234440"/>
          </a:xfrm>
          <a:prstGeom prst="roundRect">
            <a:avLst>
              <a:gd name="adj" fmla="val 11111"/>
            </a:avLst>
          </a:prstGeom>
          <a:solidFill>
            <a:schemeClr val="bg2"/>
          </a:solidFill>
          <a:ln/>
        </p:spPr>
      </p:sp>
      <p:sp>
        <p:nvSpPr>
          <p:cNvPr id="10" name="icon-bg-225"/>
          <p:cNvSpPr/>
          <p:nvPr/>
        </p:nvSpPr>
        <p:spPr>
          <a:xfrm>
            <a:off x="3931920" y="3017520"/>
            <a:ext cx="457200" cy="457200"/>
          </a:xfrm>
          <a:prstGeom prst="ellipse">
            <a:avLst/>
          </a:prstGeom>
          <a:solidFill>
            <a:schemeClr val="accent1"/>
          </a:solidFill>
          <a:ln/>
        </p:spPr>
      </p:sp>
      <p:pic>
        <p:nvPicPr>
          <p:cNvPr id="11" name="icon-226" descr="preencoded.png">    </p:cNvPr>
          <p:cNvPicPr>
            <a:picLocks noChangeAspect="1"/>
          </p:cNvPicPr>
          <p:nvPr/>
        </p:nvPicPr>
        <p:blipFill>
          <a:blip r:embed="rId2"/>
          <a:stretch>
            <a:fillRect/>
          </a:stretch>
        </p:blipFill>
        <p:spPr>
          <a:xfrm>
            <a:off x="4032504" y="3118104"/>
            <a:ext cx="256032" cy="256032"/>
          </a:xfrm>
          <a:prstGeom prst="rect">
            <a:avLst/>
          </a:prstGeom>
        </p:spPr>
      </p:pic>
      <p:sp>
        <p:nvSpPr>
          <p:cNvPr id="12" name="text-227"/>
          <p:cNvSpPr txBox="1"/>
          <p:nvPr/>
        </p:nvSpPr>
        <p:spPr>
          <a:xfrm>
            <a:off x="4572000" y="3035808"/>
            <a:ext cx="192024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Milestones</a:t>
            </a:r>
            <a:endParaRPr lang="en-US" sz="1600" dirty="0"/>
          </a:p>
        </p:txBody>
      </p:sp>
      <p:sp>
        <p:nvSpPr>
          <p:cNvPr id="13" name="text-228"/>
          <p:cNvSpPr txBox="1"/>
          <p:nvPr/>
        </p:nvSpPr>
        <p:spPr>
          <a:xfrm>
            <a:off x="3931920" y="3538728"/>
            <a:ext cx="2560320" cy="4572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25%, 50%, 75% funded, and goal reached</a:t>
            </a:r>
            <a:endParaRPr lang="en-US" sz="1300" dirty="0"/>
          </a:p>
        </p:txBody>
      </p:sp>
      <p:sp>
        <p:nvSpPr>
          <p:cNvPr id="14" name="card-229"/>
          <p:cNvSpPr/>
          <p:nvPr/>
        </p:nvSpPr>
        <p:spPr>
          <a:xfrm>
            <a:off x="548640" y="4206240"/>
            <a:ext cx="2926080" cy="1234440"/>
          </a:xfrm>
          <a:prstGeom prst="roundRect">
            <a:avLst>
              <a:gd name="adj" fmla="val 11111"/>
            </a:avLst>
          </a:prstGeom>
          <a:solidFill>
            <a:schemeClr val="bg2"/>
          </a:solidFill>
          <a:ln/>
        </p:spPr>
      </p:sp>
      <p:sp>
        <p:nvSpPr>
          <p:cNvPr id="15" name="icon-bg-230"/>
          <p:cNvSpPr/>
          <p:nvPr/>
        </p:nvSpPr>
        <p:spPr>
          <a:xfrm>
            <a:off x="777240" y="4434840"/>
            <a:ext cx="457200" cy="457200"/>
          </a:xfrm>
          <a:prstGeom prst="ellipse">
            <a:avLst/>
          </a:prstGeom>
          <a:solidFill>
            <a:schemeClr val="accent1"/>
          </a:solidFill>
          <a:ln/>
        </p:spPr>
      </p:sp>
      <p:pic>
        <p:nvPicPr>
          <p:cNvPr id="16" name="icon-231" descr="preencoded.png">    </p:cNvPr>
          <p:cNvPicPr>
            <a:picLocks noChangeAspect="1"/>
          </p:cNvPicPr>
          <p:nvPr/>
        </p:nvPicPr>
        <p:blipFill>
          <a:blip r:embed="rId3"/>
          <a:stretch>
            <a:fillRect/>
          </a:stretch>
        </p:blipFill>
        <p:spPr>
          <a:xfrm>
            <a:off x="877824" y="4535424"/>
            <a:ext cx="256032" cy="256032"/>
          </a:xfrm>
          <a:prstGeom prst="rect">
            <a:avLst/>
          </a:prstGeom>
        </p:spPr>
      </p:pic>
      <p:sp>
        <p:nvSpPr>
          <p:cNvPr id="17" name="text-232"/>
          <p:cNvSpPr txBox="1"/>
          <p:nvPr/>
        </p:nvSpPr>
        <p:spPr>
          <a:xfrm>
            <a:off x="1417320" y="4453128"/>
            <a:ext cx="192024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Review decisions</a:t>
            </a:r>
            <a:endParaRPr lang="en-US" sz="1600" dirty="0"/>
          </a:p>
        </p:txBody>
      </p:sp>
      <p:sp>
        <p:nvSpPr>
          <p:cNvPr id="18" name="text-233"/>
          <p:cNvSpPr txBox="1"/>
          <p:nvPr/>
        </p:nvSpPr>
        <p:spPr>
          <a:xfrm>
            <a:off x="777240" y="4956048"/>
            <a:ext cx="2560320" cy="4572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Approved, or changes requested with the reviewer’s note</a:t>
            </a:r>
            <a:endParaRPr lang="en-US" sz="1300" dirty="0"/>
          </a:p>
        </p:txBody>
      </p:sp>
      <p:sp>
        <p:nvSpPr>
          <p:cNvPr id="19" name="card-234"/>
          <p:cNvSpPr/>
          <p:nvPr/>
        </p:nvSpPr>
        <p:spPr>
          <a:xfrm>
            <a:off x="3703320" y="4206240"/>
            <a:ext cx="2926080" cy="1234440"/>
          </a:xfrm>
          <a:prstGeom prst="roundRect">
            <a:avLst>
              <a:gd name="adj" fmla="val 11111"/>
            </a:avLst>
          </a:prstGeom>
          <a:solidFill>
            <a:schemeClr val="bg2"/>
          </a:solidFill>
          <a:ln/>
        </p:spPr>
      </p:sp>
      <p:sp>
        <p:nvSpPr>
          <p:cNvPr id="20" name="icon-bg-235"/>
          <p:cNvSpPr/>
          <p:nvPr/>
        </p:nvSpPr>
        <p:spPr>
          <a:xfrm>
            <a:off x="3931920" y="4434840"/>
            <a:ext cx="457200" cy="457200"/>
          </a:xfrm>
          <a:prstGeom prst="ellipse">
            <a:avLst/>
          </a:prstGeom>
          <a:solidFill>
            <a:schemeClr val="accent1"/>
          </a:solidFill>
          <a:ln/>
        </p:spPr>
      </p:sp>
      <p:pic>
        <p:nvPicPr>
          <p:cNvPr id="21" name="icon-236" descr="preencoded.png">    </p:cNvPr>
          <p:cNvPicPr>
            <a:picLocks noChangeAspect="1"/>
          </p:cNvPicPr>
          <p:nvPr/>
        </p:nvPicPr>
        <p:blipFill>
          <a:blip r:embed="rId4"/>
          <a:stretch>
            <a:fillRect/>
          </a:stretch>
        </p:blipFill>
        <p:spPr>
          <a:xfrm>
            <a:off x="4032504" y="4535424"/>
            <a:ext cx="256032" cy="256032"/>
          </a:xfrm>
          <a:prstGeom prst="rect">
            <a:avLst/>
          </a:prstGeom>
        </p:spPr>
      </p:pic>
      <p:sp>
        <p:nvSpPr>
          <p:cNvPr id="22" name="text-237"/>
          <p:cNvSpPr txBox="1"/>
          <p:nvPr/>
        </p:nvSpPr>
        <p:spPr>
          <a:xfrm>
            <a:off x="4572000" y="4453128"/>
            <a:ext cx="192024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Ads and reports</a:t>
            </a:r>
            <a:endParaRPr lang="en-US" sz="1600" dirty="0"/>
          </a:p>
        </p:txBody>
      </p:sp>
      <p:sp>
        <p:nvSpPr>
          <p:cNvPr id="23" name="text-238"/>
          <p:cNvSpPr txBox="1"/>
          <p:nvPr/>
        </p:nvSpPr>
        <p:spPr>
          <a:xfrm>
            <a:off x="3931920" y="4956048"/>
            <a:ext cx="2560320" cy="4572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Ads live, creator updates, final report ready</a:t>
            </a:r>
            <a:endParaRPr lang="en-US" sz="1300" dirty="0"/>
          </a:p>
        </p:txBody>
      </p:sp>
      <p:sp>
        <p:nvSpPr>
          <p:cNvPr id="24" name="text-239"/>
          <p:cNvSpPr txBox="1"/>
          <p:nvPr/>
        </p:nvSpPr>
        <p:spPr>
          <a:xfrm>
            <a:off x="548640" y="5715000"/>
            <a:ext cx="6217920" cy="365760"/>
          </a:xfrm>
          <a:prstGeom prst="rect">
            <a:avLst/>
          </a:prstGeom>
          <a:noFill/>
          <a:ln/>
        </p:spPr>
        <p:txBody>
          <a:bodyPr wrap="square" lIns="0" tIns="0" rIns="0" bIns="0" rtlCol="0" anchor="t"/>
          <a:lstStyle/>
          <a:p>
            <a:pPr indent="0" marL="0">
              <a:buNone/>
            </a:pPr>
            <a:r>
              <a:rPr lang="en-US" sz="1400" i="1" dirty="0">
                <a:solidFill>
                  <a:schemeClr val="tx2"/>
                </a:solidFill>
                <a:latin typeface="Arial" pitchFamily="34" charset="0"/>
                <a:ea typeface="Arial" pitchFamily="34" charset="-122"/>
                <a:cs typeface="Arial" pitchFamily="34" charset="-120"/>
              </a:rPr>
              <a:t>People choose which kinds they get in Settings.</a:t>
            </a:r>
            <a:endParaRPr lang="en-US" sz="1400" dirty="0"/>
          </a:p>
        </p:txBody>
      </p:sp>
      <p:pic>
        <p:nvPicPr>
          <p:cNvPr id="25" name="phone-activity-in-240" descr="preencoded.png">    </p:cNvPr>
          <p:cNvPicPr>
            <a:picLocks noChangeAspect="1"/>
          </p:cNvPicPr>
          <p:nvPr/>
        </p:nvPicPr>
        <p:blipFill>
          <a:blip r:embed="rId5"/>
          <a:stretch>
            <a:fillRect/>
          </a:stretch>
        </p:blipFill>
        <p:spPr>
          <a:xfrm>
            <a:off x="7863840" y="1371600"/>
            <a:ext cx="2274155" cy="480060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Proof, not promises: every campaign ends with a report</a:t>
            </a:r>
            <a:endParaRPr lang="en-US" sz="3400" dirty="0"/>
          </a:p>
        </p:txBody>
      </p:sp>
      <p:pic>
        <p:nvPicPr>
          <p:cNvPr id="3" name="phone-report-241" descr="preencoded.png">    </p:cNvPr>
          <p:cNvPicPr>
            <a:picLocks noChangeAspect="1"/>
          </p:cNvPicPr>
          <p:nvPr/>
        </p:nvPicPr>
        <p:blipFill>
          <a:blip r:embed="rId1"/>
          <a:stretch>
            <a:fillRect/>
          </a:stretch>
        </p:blipFill>
        <p:spPr>
          <a:xfrm>
            <a:off x="731520" y="1371600"/>
            <a:ext cx="2274155" cy="4800600"/>
          </a:xfrm>
          <a:prstGeom prst="rect">
            <a:avLst/>
          </a:prstGeom>
        </p:spPr>
      </p:pic>
      <p:sp>
        <p:nvSpPr>
          <p:cNvPr id="4" name="text-242"/>
          <p:cNvSpPr txBox="1"/>
          <p:nvPr/>
        </p:nvSpPr>
        <p:spPr>
          <a:xfrm>
            <a:off x="3657600" y="1554480"/>
            <a:ext cx="7985455" cy="82296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A public report shows backers and creators exactly what their money did.</a:t>
            </a:r>
            <a:endParaRPr lang="en-US" sz="2200" dirty="0"/>
          </a:p>
        </p:txBody>
      </p:sp>
      <p:sp>
        <p:nvSpPr>
          <p:cNvPr id="5" name="card-243"/>
          <p:cNvSpPr/>
          <p:nvPr/>
        </p:nvSpPr>
        <p:spPr>
          <a:xfrm>
            <a:off x="3657600" y="2606040"/>
            <a:ext cx="2478938" cy="1463040"/>
          </a:xfrm>
          <a:prstGeom prst="roundRect">
            <a:avLst>
              <a:gd name="adj" fmla="val 9375"/>
            </a:avLst>
          </a:prstGeom>
          <a:solidFill>
            <a:schemeClr val="bg2"/>
          </a:solidFill>
          <a:ln/>
        </p:spPr>
      </p:sp>
      <p:sp>
        <p:nvSpPr>
          <p:cNvPr id="6" name="text-244"/>
          <p:cNvSpPr txBox="1"/>
          <p:nvPr/>
        </p:nvSpPr>
        <p:spPr>
          <a:xfrm>
            <a:off x="3931920" y="2743200"/>
            <a:ext cx="2021738" cy="64008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$5,410</a:t>
            </a:r>
            <a:endParaRPr lang="en-US" sz="3000" dirty="0"/>
          </a:p>
        </p:txBody>
      </p:sp>
      <p:sp>
        <p:nvSpPr>
          <p:cNvPr id="7" name="text-245"/>
          <p:cNvSpPr txBox="1"/>
          <p:nvPr/>
        </p:nvSpPr>
        <p:spPr>
          <a:xfrm>
            <a:off x="3931920" y="3401568"/>
            <a:ext cx="2021738" cy="5943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raised from backers</a:t>
            </a:r>
            <a:endParaRPr lang="en-US" sz="1400" dirty="0"/>
          </a:p>
        </p:txBody>
      </p:sp>
      <p:sp>
        <p:nvSpPr>
          <p:cNvPr id="8" name="card-246"/>
          <p:cNvSpPr/>
          <p:nvPr/>
        </p:nvSpPr>
        <p:spPr>
          <a:xfrm>
            <a:off x="6410858" y="2606040"/>
            <a:ext cx="2478938" cy="1463040"/>
          </a:xfrm>
          <a:prstGeom prst="roundRect">
            <a:avLst>
              <a:gd name="adj" fmla="val 9375"/>
            </a:avLst>
          </a:prstGeom>
          <a:solidFill>
            <a:schemeClr val="bg2"/>
          </a:solidFill>
          <a:ln/>
        </p:spPr>
      </p:sp>
      <p:sp>
        <p:nvSpPr>
          <p:cNvPr id="9" name="text-247"/>
          <p:cNvSpPr txBox="1"/>
          <p:nvPr/>
        </p:nvSpPr>
        <p:spPr>
          <a:xfrm>
            <a:off x="6685178" y="2743200"/>
            <a:ext cx="2021738" cy="64008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$4,704</a:t>
            </a:r>
            <a:endParaRPr lang="en-US" sz="3000" dirty="0"/>
          </a:p>
        </p:txBody>
      </p:sp>
      <p:sp>
        <p:nvSpPr>
          <p:cNvPr id="10" name="text-248"/>
          <p:cNvSpPr txBox="1"/>
          <p:nvPr/>
        </p:nvSpPr>
        <p:spPr>
          <a:xfrm>
            <a:off x="6685178" y="3401568"/>
            <a:ext cx="2021738" cy="5943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spent on ads</a:t>
            </a:r>
            <a:endParaRPr lang="en-US" sz="1400" dirty="0"/>
          </a:p>
        </p:txBody>
      </p:sp>
      <p:sp>
        <p:nvSpPr>
          <p:cNvPr id="11" name="card-249"/>
          <p:cNvSpPr/>
          <p:nvPr/>
        </p:nvSpPr>
        <p:spPr>
          <a:xfrm>
            <a:off x="9164117" y="2606040"/>
            <a:ext cx="2478938" cy="1463040"/>
          </a:xfrm>
          <a:prstGeom prst="roundRect">
            <a:avLst>
              <a:gd name="adj" fmla="val 9375"/>
            </a:avLst>
          </a:prstGeom>
          <a:solidFill>
            <a:schemeClr val="bg2"/>
          </a:solidFill>
          <a:ln/>
        </p:spPr>
      </p:sp>
      <p:sp>
        <p:nvSpPr>
          <p:cNvPr id="12" name="text-250"/>
          <p:cNvSpPr txBox="1"/>
          <p:nvPr/>
        </p:nvSpPr>
        <p:spPr>
          <a:xfrm>
            <a:off x="9438437" y="2743200"/>
            <a:ext cx="2021738" cy="64008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$165</a:t>
            </a:r>
            <a:endParaRPr lang="en-US" sz="3000" dirty="0"/>
          </a:p>
        </p:txBody>
      </p:sp>
      <p:sp>
        <p:nvSpPr>
          <p:cNvPr id="13" name="text-251"/>
          <p:cNvSpPr txBox="1"/>
          <p:nvPr/>
        </p:nvSpPr>
        <p:spPr>
          <a:xfrm>
            <a:off x="9438437" y="3401568"/>
            <a:ext cx="2021738" cy="5943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unspent, refunded to backers</a:t>
            </a:r>
            <a:endParaRPr lang="en-US" sz="1400" dirty="0"/>
          </a:p>
        </p:txBody>
      </p:sp>
      <p:sp>
        <p:nvSpPr>
          <p:cNvPr id="14" name="text-252"/>
          <p:cNvSpPr txBox="1"/>
          <p:nvPr/>
        </p:nvSpPr>
        <p:spPr>
          <a:xfrm>
            <a:off x="3657600" y="4343400"/>
            <a:ext cx="7985455" cy="182880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2"/>
                </a:solidFill>
                <a:latin typeface="Arial" pitchFamily="34" charset="0"/>
                <a:ea typeface="Arial" pitchFamily="34" charset="-122"/>
                <a:cs typeface="Arial" pitchFamily="34" charset="-120"/>
              </a:rPr>
              <a:t>Measured and estimated side by side.</a:t>
            </a:r>
            <a:pPr indent="0" marL="0">
              <a:buNone/>
            </a:pPr>
            <a:r>
              <a:rPr lang="en-US" sz="1600" dirty="0">
                <a:solidFill>
                  <a:schemeClr val="tx2"/>
                </a:solidFill>
                <a:latin typeface="Arial" pitchFamily="34" charset="0"/>
                <a:ea typeface="Arial" pitchFamily="34" charset="-122"/>
                <a:cs typeface="Arial" pitchFamily="34" charset="-120"/>
              </a:rPr>
              <a:t> People reached, impressions and spend by channel, clearly separated from projections.</a:t>
            </a:r>
            <a:endParaRPr lang="en-US" sz="1600" dirty="0"/>
          </a:p>
          <a:p>
            <a:pPr marL="203200" indent="-203200">
              <a:spcAft>
                <a:spcPts val="800"/>
              </a:spcAft>
              <a:buSzPct val="100000"/>
              <a:buChar char="•"/>
            </a:pPr>
            <a:r>
              <a:rPr lang="en-US" sz="1600" b="1" dirty="0">
                <a:solidFill>
                  <a:schemeClr val="tx2"/>
                </a:solidFill>
                <a:latin typeface="Arial" pitchFamily="34" charset="0"/>
                <a:ea typeface="Arial" pitchFamily="34" charset="-122"/>
                <a:cs typeface="Arial" pitchFamily="34" charset="-120"/>
              </a:rPr>
              <a:t>Shareable proof for creators</a:t>
            </a:r>
            <a:pPr indent="0" marL="0">
              <a:buNone/>
            </a:pPr>
            <a:r>
              <a:rPr lang="en-US" sz="1600" dirty="0">
                <a:solidFill>
                  <a:schemeClr val="tx2"/>
                </a:solidFill>
                <a:latin typeface="Arial" pitchFamily="34" charset="0"/>
                <a:ea typeface="Arial" pitchFamily="34" charset="-122"/>
                <a:cs typeface="Arial" pitchFamily="34" charset="-120"/>
              </a:rPr>
              <a:t> to show funders, boards and their community.</a:t>
            </a:r>
            <a:endParaRPr lang="en-US" sz="1600" dirty="0"/>
          </a:p>
          <a:p>
            <a:pPr marL="203200" indent="-203200">
              <a:spcAft>
                <a:spcPts val="800"/>
              </a:spcAft>
              <a:buSzPct val="100000"/>
              <a:buChar char="•"/>
            </a:pPr>
            <a:r>
              <a:rPr lang="en-US" sz="1600" b="1" dirty="0">
                <a:solidFill>
                  <a:schemeClr val="tx2"/>
                </a:solidFill>
                <a:latin typeface="Arial" pitchFamily="34" charset="0"/>
                <a:ea typeface="Arial" pitchFamily="34" charset="-122"/>
                <a:cs typeface="Arial" pitchFamily="34" charset="-120"/>
              </a:rPr>
              <a:t>A reason to back again.</a:t>
            </a:r>
            <a:pPr indent="0" marL="0">
              <a:buNone/>
            </a:pPr>
            <a:r>
              <a:rPr lang="en-US" sz="1600" dirty="0">
                <a:solidFill>
                  <a:schemeClr val="tx2"/>
                </a:solidFill>
                <a:latin typeface="Arial" pitchFamily="34" charset="0"/>
                <a:ea typeface="Arial" pitchFamily="34" charset="-122"/>
                <a:cs typeface="Arial" pitchFamily="34" charset="-120"/>
              </a:rPr>
              <a:t> Backers see the outcome, not just a thank-you.</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bg1"/>
                </a:solidFill>
                <a:latin typeface="Georgia" pitchFamily="34" charset="0"/>
                <a:ea typeface="Georgia" pitchFamily="34" charset="-122"/>
                <a:cs typeface="Georgia" pitchFamily="34" charset="-120"/>
              </a:rPr>
              <a:t>Designed to feel calm, clear and premium</a:t>
            </a:r>
            <a:endParaRPr lang="en-US" sz="3400" dirty="0"/>
          </a:p>
        </p:txBody>
      </p:sp>
      <p:pic>
        <p:nvPicPr>
          <p:cNvPr id="3" name="phone-home-dark-253" descr="preencoded.png">    </p:cNvPr>
          <p:cNvPicPr>
            <a:picLocks noChangeAspect="1"/>
          </p:cNvPicPr>
          <p:nvPr/>
        </p:nvPicPr>
        <p:blipFill>
          <a:blip r:embed="rId1"/>
          <a:stretch>
            <a:fillRect/>
          </a:stretch>
        </p:blipFill>
        <p:spPr>
          <a:xfrm>
            <a:off x="731520" y="1371600"/>
            <a:ext cx="2274155" cy="4800600"/>
          </a:xfrm>
          <a:prstGeom prst="rect">
            <a:avLst/>
          </a:prstGeom>
        </p:spPr>
      </p:pic>
      <p:pic>
        <p:nvPicPr>
          <p:cNvPr id="4" name="phone-detail-dark-254" descr="preencoded.png">    </p:cNvPr>
          <p:cNvPicPr>
            <a:picLocks noChangeAspect="1"/>
          </p:cNvPicPr>
          <p:nvPr/>
        </p:nvPicPr>
        <p:blipFill>
          <a:blip r:embed="rId2"/>
          <a:stretch>
            <a:fillRect/>
          </a:stretch>
        </p:blipFill>
        <p:spPr>
          <a:xfrm>
            <a:off x="3063240" y="1371600"/>
            <a:ext cx="2274155" cy="4800600"/>
          </a:xfrm>
          <a:prstGeom prst="rect">
            <a:avLst/>
          </a:prstGeom>
        </p:spPr>
      </p:pic>
      <p:sp>
        <p:nvSpPr>
          <p:cNvPr id="5" name="icon-bg-255"/>
          <p:cNvSpPr/>
          <p:nvPr/>
        </p:nvSpPr>
        <p:spPr>
          <a:xfrm>
            <a:off x="5806440" y="1600200"/>
            <a:ext cx="502920" cy="502920"/>
          </a:xfrm>
          <a:prstGeom prst="ellipse">
            <a:avLst/>
          </a:prstGeom>
          <a:solidFill>
            <a:schemeClr val="accent2"/>
          </a:solidFill>
          <a:ln/>
        </p:spPr>
      </p:sp>
      <p:pic>
        <p:nvPicPr>
          <p:cNvPr id="6" name="icon-256" descr="preencoded.png">    </p:cNvPr>
          <p:cNvPicPr>
            <a:picLocks noChangeAspect="1"/>
          </p:cNvPicPr>
          <p:nvPr/>
        </p:nvPicPr>
        <p:blipFill>
          <a:blip r:embed="rId3"/>
          <a:stretch>
            <a:fillRect/>
          </a:stretch>
        </p:blipFill>
        <p:spPr>
          <a:xfrm>
            <a:off x="5917082" y="1710842"/>
            <a:ext cx="281635" cy="281635"/>
          </a:xfrm>
          <a:prstGeom prst="rect">
            <a:avLst/>
          </a:prstGeom>
        </p:spPr>
      </p:pic>
      <p:sp>
        <p:nvSpPr>
          <p:cNvPr id="7" name="text-257"/>
          <p:cNvSpPr txBox="1"/>
          <p:nvPr/>
        </p:nvSpPr>
        <p:spPr>
          <a:xfrm>
            <a:off x="6537960" y="1581912"/>
            <a:ext cx="5105095"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Light and dark</a:t>
            </a:r>
            <a:endParaRPr lang="en-US" sz="1800" dirty="0"/>
          </a:p>
        </p:txBody>
      </p:sp>
      <p:sp>
        <p:nvSpPr>
          <p:cNvPr id="8" name="text-258"/>
          <p:cNvSpPr txBox="1"/>
          <p:nvPr/>
        </p:nvSpPr>
        <p:spPr>
          <a:xfrm>
            <a:off x="6537960" y="1965960"/>
            <a:ext cx="5105095" cy="64008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Follows the phone’s setting, tuned for both.</a:t>
            </a:r>
            <a:endParaRPr lang="en-US" sz="1500" dirty="0"/>
          </a:p>
        </p:txBody>
      </p:sp>
      <p:sp>
        <p:nvSpPr>
          <p:cNvPr id="9" name="icon-bg-259"/>
          <p:cNvSpPr/>
          <p:nvPr/>
        </p:nvSpPr>
        <p:spPr>
          <a:xfrm>
            <a:off x="5806440" y="2743200"/>
            <a:ext cx="502920" cy="502920"/>
          </a:xfrm>
          <a:prstGeom prst="ellipse">
            <a:avLst/>
          </a:prstGeom>
          <a:solidFill>
            <a:schemeClr val="accent2"/>
          </a:solidFill>
          <a:ln/>
        </p:spPr>
      </p:sp>
      <p:pic>
        <p:nvPicPr>
          <p:cNvPr id="10" name="icon-260" descr="preencoded.png">    </p:cNvPr>
          <p:cNvPicPr>
            <a:picLocks noChangeAspect="1"/>
          </p:cNvPicPr>
          <p:nvPr/>
        </p:nvPicPr>
        <p:blipFill>
          <a:blip r:embed="rId4"/>
          <a:stretch>
            <a:fillRect/>
          </a:stretch>
        </p:blipFill>
        <p:spPr>
          <a:xfrm>
            <a:off x="5917082" y="2853842"/>
            <a:ext cx="281635" cy="281635"/>
          </a:xfrm>
          <a:prstGeom prst="rect">
            <a:avLst/>
          </a:prstGeom>
        </p:spPr>
      </p:pic>
      <p:sp>
        <p:nvSpPr>
          <p:cNvPr id="11" name="text-261"/>
          <p:cNvSpPr txBox="1"/>
          <p:nvPr/>
        </p:nvSpPr>
        <p:spPr>
          <a:xfrm>
            <a:off x="6537960" y="2724912"/>
            <a:ext cx="5105095"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Smooth, purposeful motion</a:t>
            </a:r>
            <a:endParaRPr lang="en-US" sz="1800" dirty="0"/>
          </a:p>
        </p:txBody>
      </p:sp>
      <p:sp>
        <p:nvSpPr>
          <p:cNvPr id="12" name="text-262"/>
          <p:cNvSpPr txBox="1"/>
          <p:nvPr/>
        </p:nvSpPr>
        <p:spPr>
          <a:xfrm>
            <a:off x="6537960" y="3108960"/>
            <a:ext cx="5105095" cy="64008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Covers glide open, progress fills, confetti when you back.</a:t>
            </a:r>
            <a:endParaRPr lang="en-US" sz="1500" dirty="0"/>
          </a:p>
        </p:txBody>
      </p:sp>
      <p:sp>
        <p:nvSpPr>
          <p:cNvPr id="13" name="icon-bg-263"/>
          <p:cNvSpPr/>
          <p:nvPr/>
        </p:nvSpPr>
        <p:spPr>
          <a:xfrm>
            <a:off x="5806440" y="3886200"/>
            <a:ext cx="502920" cy="502920"/>
          </a:xfrm>
          <a:prstGeom prst="ellipse">
            <a:avLst/>
          </a:prstGeom>
          <a:solidFill>
            <a:schemeClr val="accent2"/>
          </a:solidFill>
          <a:ln/>
        </p:spPr>
      </p:sp>
      <p:pic>
        <p:nvPicPr>
          <p:cNvPr id="14" name="icon-264" descr="preencoded.png">    </p:cNvPr>
          <p:cNvPicPr>
            <a:picLocks noChangeAspect="1"/>
          </p:cNvPicPr>
          <p:nvPr/>
        </p:nvPicPr>
        <p:blipFill>
          <a:blip r:embed="rId5"/>
          <a:stretch>
            <a:fillRect/>
          </a:stretch>
        </p:blipFill>
        <p:spPr>
          <a:xfrm>
            <a:off x="5917082" y="3996842"/>
            <a:ext cx="281635" cy="281635"/>
          </a:xfrm>
          <a:prstGeom prst="rect">
            <a:avLst/>
          </a:prstGeom>
        </p:spPr>
      </p:pic>
      <p:sp>
        <p:nvSpPr>
          <p:cNvPr id="15" name="text-265"/>
          <p:cNvSpPr txBox="1"/>
          <p:nvPr/>
        </p:nvSpPr>
        <p:spPr>
          <a:xfrm>
            <a:off x="6537960" y="3867912"/>
            <a:ext cx="5105095"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Feels physical</a:t>
            </a:r>
            <a:endParaRPr lang="en-US" sz="1800" dirty="0"/>
          </a:p>
        </p:txBody>
      </p:sp>
      <p:sp>
        <p:nvSpPr>
          <p:cNvPr id="16" name="text-266"/>
          <p:cNvSpPr txBox="1"/>
          <p:nvPr/>
        </p:nvSpPr>
        <p:spPr>
          <a:xfrm>
            <a:off x="6537960" y="4251960"/>
            <a:ext cx="5105095" cy="64008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Subtle haptics confirm taps, payments and milestones.</a:t>
            </a:r>
            <a:endParaRPr lang="en-US" sz="1500" dirty="0"/>
          </a:p>
        </p:txBody>
      </p:sp>
      <p:sp>
        <p:nvSpPr>
          <p:cNvPr id="17" name="icon-bg-267"/>
          <p:cNvSpPr/>
          <p:nvPr/>
        </p:nvSpPr>
        <p:spPr>
          <a:xfrm>
            <a:off x="5806440" y="5029200"/>
            <a:ext cx="502920" cy="502920"/>
          </a:xfrm>
          <a:prstGeom prst="ellipse">
            <a:avLst/>
          </a:prstGeom>
          <a:solidFill>
            <a:schemeClr val="accent2"/>
          </a:solidFill>
          <a:ln/>
        </p:spPr>
      </p:sp>
      <p:pic>
        <p:nvPicPr>
          <p:cNvPr id="18" name="icon-268" descr="preencoded.png">    </p:cNvPr>
          <p:cNvPicPr>
            <a:picLocks noChangeAspect="1"/>
          </p:cNvPicPr>
          <p:nvPr/>
        </p:nvPicPr>
        <p:blipFill>
          <a:blip r:embed="rId6"/>
          <a:stretch>
            <a:fillRect/>
          </a:stretch>
        </p:blipFill>
        <p:spPr>
          <a:xfrm>
            <a:off x="5917082" y="5139842"/>
            <a:ext cx="281635" cy="281635"/>
          </a:xfrm>
          <a:prstGeom prst="rect">
            <a:avLst/>
          </a:prstGeom>
        </p:spPr>
      </p:pic>
      <p:sp>
        <p:nvSpPr>
          <p:cNvPr id="19" name="text-269"/>
          <p:cNvSpPr txBox="1"/>
          <p:nvPr/>
        </p:nvSpPr>
        <p:spPr>
          <a:xfrm>
            <a:off x="6537960" y="5010912"/>
            <a:ext cx="5105095"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Respects accessibility</a:t>
            </a:r>
            <a:endParaRPr lang="en-US" sz="1800" dirty="0"/>
          </a:p>
        </p:txBody>
      </p:sp>
      <p:sp>
        <p:nvSpPr>
          <p:cNvPr id="20" name="text-270"/>
          <p:cNvSpPr txBox="1"/>
          <p:nvPr/>
        </p:nvSpPr>
        <p:spPr>
          <a:xfrm>
            <a:off x="6537960" y="5394960"/>
            <a:ext cx="5105095" cy="64008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Honors Reduce Motion; screens are labeled for screen readers.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How the money works: a $100 contribution</a:t>
            </a:r>
            <a:endParaRPr lang="en-US" sz="3400" dirty="0"/>
          </a:p>
        </p:txBody>
      </p:sp>
      <p:sp>
        <p:nvSpPr>
          <p:cNvPr id="3" name="card-271"/>
          <p:cNvSpPr/>
          <p:nvPr/>
        </p:nvSpPr>
        <p:spPr>
          <a:xfrm>
            <a:off x="548640" y="1600200"/>
            <a:ext cx="1999427" cy="3017520"/>
          </a:xfrm>
          <a:prstGeom prst="roundRect">
            <a:avLst>
              <a:gd name="adj" fmla="val 6860"/>
            </a:avLst>
          </a:prstGeom>
          <a:solidFill>
            <a:schemeClr val="bg2"/>
          </a:solidFill>
          <a:ln/>
        </p:spPr>
      </p:sp>
      <p:sp>
        <p:nvSpPr>
          <p:cNvPr id="4" name="text-272"/>
          <p:cNvSpPr txBox="1"/>
          <p:nvPr/>
        </p:nvSpPr>
        <p:spPr>
          <a:xfrm>
            <a:off x="749808" y="1828800"/>
            <a:ext cx="1633667"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$103.20</a:t>
            </a:r>
            <a:endParaRPr lang="en-US" sz="2800" dirty="0"/>
          </a:p>
        </p:txBody>
      </p:sp>
      <p:sp>
        <p:nvSpPr>
          <p:cNvPr id="5" name="text-273"/>
          <p:cNvSpPr txBox="1"/>
          <p:nvPr/>
        </p:nvSpPr>
        <p:spPr>
          <a:xfrm>
            <a:off x="749808" y="2697480"/>
            <a:ext cx="1633667"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Backer pays</a:t>
            </a:r>
            <a:endParaRPr lang="en-US" sz="1800" dirty="0"/>
          </a:p>
        </p:txBody>
      </p:sp>
      <p:sp>
        <p:nvSpPr>
          <p:cNvPr id="6" name="text-274"/>
          <p:cNvSpPr txBox="1"/>
          <p:nvPr/>
        </p:nvSpPr>
        <p:spPr>
          <a:xfrm>
            <a:off x="749808" y="3154680"/>
            <a:ext cx="1633667" cy="12801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Card processing (2.9% + 30¢) is added at checkout</a:t>
            </a:r>
            <a:endParaRPr lang="en-US" sz="1400" dirty="0"/>
          </a:p>
        </p:txBody>
      </p:sp>
      <p:sp>
        <p:nvSpPr>
          <p:cNvPr id="7" name="arrow-275"/>
          <p:cNvSpPr/>
          <p:nvPr/>
        </p:nvSpPr>
        <p:spPr>
          <a:xfrm>
            <a:off x="2575499" y="3108960"/>
            <a:ext cx="219456" cy="914"/>
          </a:xfrm>
          <a:prstGeom prst="line">
            <a:avLst/>
          </a:prstGeom>
          <a:noFill/>
          <a:ln w="25400">
            <a:solidFill>
              <a:schemeClr val="accent6"/>
            </a:solidFill>
            <a:prstDash val="solid"/>
            <a:tailEnd type="triangle"/>
          </a:ln>
        </p:spPr>
      </p:sp>
      <p:sp>
        <p:nvSpPr>
          <p:cNvPr id="8" name="card-276"/>
          <p:cNvSpPr/>
          <p:nvPr/>
        </p:nvSpPr>
        <p:spPr>
          <a:xfrm>
            <a:off x="2822387" y="1600200"/>
            <a:ext cx="1999427" cy="3017520"/>
          </a:xfrm>
          <a:prstGeom prst="roundRect">
            <a:avLst>
              <a:gd name="adj" fmla="val 6860"/>
            </a:avLst>
          </a:prstGeom>
          <a:solidFill>
            <a:schemeClr val="bg2"/>
          </a:solidFill>
          <a:ln/>
        </p:spPr>
      </p:sp>
      <p:sp>
        <p:nvSpPr>
          <p:cNvPr id="9" name="text-277"/>
          <p:cNvSpPr txBox="1"/>
          <p:nvPr/>
        </p:nvSpPr>
        <p:spPr>
          <a:xfrm>
            <a:off x="3023555" y="1828800"/>
            <a:ext cx="1633667" cy="73152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$100</a:t>
            </a:r>
            <a:endParaRPr lang="en-US" sz="2800" dirty="0"/>
          </a:p>
        </p:txBody>
      </p:sp>
      <p:sp>
        <p:nvSpPr>
          <p:cNvPr id="10" name="text-278"/>
          <p:cNvSpPr txBox="1"/>
          <p:nvPr/>
        </p:nvSpPr>
        <p:spPr>
          <a:xfrm>
            <a:off x="3023555" y="2697480"/>
            <a:ext cx="1633667"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Into the pool</a:t>
            </a:r>
            <a:endParaRPr lang="en-US" sz="1800" dirty="0"/>
          </a:p>
        </p:txBody>
      </p:sp>
      <p:sp>
        <p:nvSpPr>
          <p:cNvPr id="11" name="text-279"/>
          <p:cNvSpPr txBox="1"/>
          <p:nvPr/>
        </p:nvSpPr>
        <p:spPr>
          <a:xfrm>
            <a:off x="3023555" y="3154680"/>
            <a:ext cx="1633667" cy="12801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The full contribution counts toward the goal</a:t>
            </a:r>
            <a:endParaRPr lang="en-US" sz="1400" dirty="0"/>
          </a:p>
        </p:txBody>
      </p:sp>
      <p:sp>
        <p:nvSpPr>
          <p:cNvPr id="12" name="arrow-280"/>
          <p:cNvSpPr/>
          <p:nvPr/>
        </p:nvSpPr>
        <p:spPr>
          <a:xfrm>
            <a:off x="4849246" y="3108960"/>
            <a:ext cx="219456" cy="914"/>
          </a:xfrm>
          <a:prstGeom prst="line">
            <a:avLst/>
          </a:prstGeom>
          <a:noFill/>
          <a:ln w="25400">
            <a:solidFill>
              <a:schemeClr val="accent6"/>
            </a:solidFill>
            <a:prstDash val="solid"/>
            <a:tailEnd type="triangle"/>
          </a:ln>
        </p:spPr>
      </p:sp>
      <p:sp>
        <p:nvSpPr>
          <p:cNvPr id="13" name="card-281"/>
          <p:cNvSpPr/>
          <p:nvPr/>
        </p:nvSpPr>
        <p:spPr>
          <a:xfrm>
            <a:off x="5096134" y="1600200"/>
            <a:ext cx="1999427" cy="3017520"/>
          </a:xfrm>
          <a:prstGeom prst="roundRect">
            <a:avLst>
              <a:gd name="adj" fmla="val 6860"/>
            </a:avLst>
          </a:prstGeom>
          <a:solidFill>
            <a:schemeClr val="bg2"/>
          </a:solidFill>
          <a:ln/>
        </p:spPr>
      </p:sp>
      <p:sp>
        <p:nvSpPr>
          <p:cNvPr id="14" name="text-282"/>
          <p:cNvSpPr txBox="1"/>
          <p:nvPr/>
        </p:nvSpPr>
        <p:spPr>
          <a:xfrm>
            <a:off x="5297302" y="1828800"/>
            <a:ext cx="1633667" cy="731520"/>
          </a:xfrm>
          <a:prstGeom prst="rect">
            <a:avLst/>
          </a:prstGeom>
          <a:noFill/>
          <a:ln/>
        </p:spPr>
        <p:txBody>
          <a:bodyPr wrap="square" lIns="0" tIns="0" rIns="0" bIns="0" rtlCol="0" anchor="t"/>
          <a:lstStyle/>
          <a:p>
            <a:pPr indent="0" marL="0">
              <a:buNone/>
            </a:pPr>
            <a:r>
              <a:rPr lang="en-US" sz="2800" b="1" dirty="0">
                <a:solidFill>
                  <a:schemeClr val="accent4"/>
                </a:solidFill>
                <a:latin typeface="Georgia" pitchFamily="34" charset="0"/>
                <a:ea typeface="Georgia" pitchFamily="34" charset="-122"/>
                <a:cs typeface="Georgia" pitchFamily="34" charset="-120"/>
              </a:rPr>
              <a:t>$10</a:t>
            </a:r>
            <a:endParaRPr lang="en-US" sz="2800" dirty="0"/>
          </a:p>
        </p:txBody>
      </p:sp>
      <p:sp>
        <p:nvSpPr>
          <p:cNvPr id="15" name="text-283"/>
          <p:cNvSpPr txBox="1"/>
          <p:nvPr/>
        </p:nvSpPr>
        <p:spPr>
          <a:xfrm>
            <a:off x="5297302" y="2697480"/>
            <a:ext cx="1633667"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Platform fee</a:t>
            </a:r>
            <a:endParaRPr lang="en-US" sz="1800" dirty="0"/>
          </a:p>
        </p:txBody>
      </p:sp>
      <p:sp>
        <p:nvSpPr>
          <p:cNvPr id="16" name="text-284"/>
          <p:cNvSpPr txBox="1"/>
          <p:nvPr/>
        </p:nvSpPr>
        <p:spPr>
          <a:xfrm>
            <a:off x="5297302" y="3154680"/>
            <a:ext cx="1633667" cy="12801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Pays for review, ad setup and reporting</a:t>
            </a:r>
            <a:endParaRPr lang="en-US" sz="1400" dirty="0"/>
          </a:p>
        </p:txBody>
      </p:sp>
      <p:sp>
        <p:nvSpPr>
          <p:cNvPr id="17" name="arrow-285"/>
          <p:cNvSpPr/>
          <p:nvPr/>
        </p:nvSpPr>
        <p:spPr>
          <a:xfrm>
            <a:off x="7122993" y="3108960"/>
            <a:ext cx="219456" cy="914"/>
          </a:xfrm>
          <a:prstGeom prst="line">
            <a:avLst/>
          </a:prstGeom>
          <a:noFill/>
          <a:ln w="25400">
            <a:solidFill>
              <a:schemeClr val="accent6"/>
            </a:solidFill>
            <a:prstDash val="solid"/>
            <a:tailEnd type="triangle"/>
          </a:ln>
        </p:spPr>
      </p:sp>
      <p:sp>
        <p:nvSpPr>
          <p:cNvPr id="18" name="card-286"/>
          <p:cNvSpPr/>
          <p:nvPr/>
        </p:nvSpPr>
        <p:spPr>
          <a:xfrm>
            <a:off x="7369881" y="1600200"/>
            <a:ext cx="1999427" cy="3017520"/>
          </a:xfrm>
          <a:prstGeom prst="roundRect">
            <a:avLst>
              <a:gd name="adj" fmla="val 6860"/>
            </a:avLst>
          </a:prstGeom>
          <a:solidFill>
            <a:schemeClr val="bg2"/>
          </a:solidFill>
          <a:ln/>
        </p:spPr>
      </p:sp>
      <p:sp>
        <p:nvSpPr>
          <p:cNvPr id="19" name="text-287"/>
          <p:cNvSpPr txBox="1"/>
          <p:nvPr/>
        </p:nvSpPr>
        <p:spPr>
          <a:xfrm>
            <a:off x="7571049" y="1828800"/>
            <a:ext cx="1633667" cy="731520"/>
          </a:xfrm>
          <a:prstGeom prst="rect">
            <a:avLst/>
          </a:prstGeom>
          <a:noFill/>
          <a:ln/>
        </p:spPr>
        <p:txBody>
          <a:bodyPr wrap="square" lIns="0" tIns="0" rIns="0" bIns="0" rtlCol="0" anchor="t"/>
          <a:lstStyle/>
          <a:p>
            <a:pPr indent="0" marL="0">
              <a:buNone/>
            </a:pPr>
            <a:r>
              <a:rPr lang="en-US" sz="2800" b="1" dirty="0">
                <a:solidFill>
                  <a:schemeClr val="accent3"/>
                </a:solidFill>
                <a:latin typeface="Georgia" pitchFamily="34" charset="0"/>
                <a:ea typeface="Georgia" pitchFamily="34" charset="-122"/>
                <a:cs typeface="Georgia" pitchFamily="34" charset="-120"/>
              </a:rPr>
              <a:t>$90</a:t>
            </a:r>
            <a:endParaRPr lang="en-US" sz="2800" dirty="0"/>
          </a:p>
        </p:txBody>
      </p:sp>
      <p:sp>
        <p:nvSpPr>
          <p:cNvPr id="20" name="text-288"/>
          <p:cNvSpPr txBox="1"/>
          <p:nvPr/>
        </p:nvSpPr>
        <p:spPr>
          <a:xfrm>
            <a:off x="7571049" y="2697480"/>
            <a:ext cx="1633667"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Buys ads</a:t>
            </a:r>
            <a:endParaRPr lang="en-US" sz="1800" dirty="0"/>
          </a:p>
        </p:txBody>
      </p:sp>
      <p:sp>
        <p:nvSpPr>
          <p:cNvPr id="21" name="text-289"/>
          <p:cNvSpPr txBox="1"/>
          <p:nvPr/>
        </p:nvSpPr>
        <p:spPr>
          <a:xfrm>
            <a:off x="7571049" y="3154680"/>
            <a:ext cx="1633667" cy="12801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Placed with ad networks for this message</a:t>
            </a:r>
            <a:endParaRPr lang="en-US" sz="1400" dirty="0"/>
          </a:p>
        </p:txBody>
      </p:sp>
      <p:sp>
        <p:nvSpPr>
          <p:cNvPr id="22" name="arrow-290"/>
          <p:cNvSpPr/>
          <p:nvPr/>
        </p:nvSpPr>
        <p:spPr>
          <a:xfrm>
            <a:off x="9396740" y="3108960"/>
            <a:ext cx="219456" cy="914"/>
          </a:xfrm>
          <a:prstGeom prst="line">
            <a:avLst/>
          </a:prstGeom>
          <a:noFill/>
          <a:ln w="25400">
            <a:solidFill>
              <a:schemeClr val="accent6"/>
            </a:solidFill>
            <a:prstDash val="solid"/>
            <a:tailEnd type="triangle"/>
          </a:ln>
        </p:spPr>
      </p:sp>
      <p:sp>
        <p:nvSpPr>
          <p:cNvPr id="23" name="card-291"/>
          <p:cNvSpPr/>
          <p:nvPr/>
        </p:nvSpPr>
        <p:spPr>
          <a:xfrm>
            <a:off x="9643628" y="1600200"/>
            <a:ext cx="1999427" cy="3017520"/>
          </a:xfrm>
          <a:prstGeom prst="roundRect">
            <a:avLst>
              <a:gd name="adj" fmla="val 6860"/>
            </a:avLst>
          </a:prstGeom>
          <a:solidFill>
            <a:schemeClr val="bg2"/>
          </a:solidFill>
          <a:ln/>
        </p:spPr>
      </p:sp>
      <p:sp>
        <p:nvSpPr>
          <p:cNvPr id="24" name="text-292"/>
          <p:cNvSpPr txBox="1"/>
          <p:nvPr/>
        </p:nvSpPr>
        <p:spPr>
          <a:xfrm>
            <a:off x="9844796" y="1828800"/>
            <a:ext cx="1633667" cy="73152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≈3,600</a:t>
            </a:r>
            <a:endParaRPr lang="en-US" sz="2800" dirty="0"/>
          </a:p>
        </p:txBody>
      </p:sp>
      <p:sp>
        <p:nvSpPr>
          <p:cNvPr id="25" name="text-293"/>
          <p:cNvSpPr txBox="1"/>
          <p:nvPr/>
        </p:nvSpPr>
        <p:spPr>
          <a:xfrm>
            <a:off x="9844796" y="2697480"/>
            <a:ext cx="1633667"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Est. reach</a:t>
            </a:r>
            <a:endParaRPr lang="en-US" sz="1800" dirty="0"/>
          </a:p>
        </p:txBody>
      </p:sp>
      <p:sp>
        <p:nvSpPr>
          <p:cNvPr id="26" name="text-294"/>
          <p:cNvSpPr txBox="1"/>
          <p:nvPr/>
        </p:nvSpPr>
        <p:spPr>
          <a:xfrm>
            <a:off x="9844796" y="3154680"/>
            <a:ext cx="1633667" cy="12801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People reached: about 2,500 to 4,700</a:t>
            </a:r>
            <a:endParaRPr lang="en-US" sz="1400" dirty="0"/>
          </a:p>
        </p:txBody>
      </p:sp>
      <p:sp>
        <p:nvSpPr>
          <p:cNvPr id="27" name="icon-bg-295"/>
          <p:cNvSpPr/>
          <p:nvPr/>
        </p:nvSpPr>
        <p:spPr>
          <a:xfrm>
            <a:off x="548640" y="5074920"/>
            <a:ext cx="502920" cy="502920"/>
          </a:xfrm>
          <a:prstGeom prst="ellipse">
            <a:avLst/>
          </a:prstGeom>
          <a:solidFill>
            <a:schemeClr val="accent1"/>
          </a:solidFill>
          <a:ln/>
        </p:spPr>
      </p:sp>
      <p:pic>
        <p:nvPicPr>
          <p:cNvPr id="28" name="icon-296" descr="preencoded.png">    </p:cNvPr>
          <p:cNvPicPr>
            <a:picLocks noChangeAspect="1"/>
          </p:cNvPicPr>
          <p:nvPr/>
        </p:nvPicPr>
        <p:blipFill>
          <a:blip r:embed="rId1"/>
          <a:stretch>
            <a:fillRect/>
          </a:stretch>
        </p:blipFill>
        <p:spPr>
          <a:xfrm>
            <a:off x="659282" y="5185562"/>
            <a:ext cx="281635" cy="281635"/>
          </a:xfrm>
          <a:prstGeom prst="rect">
            <a:avLst/>
          </a:prstGeom>
        </p:spPr>
      </p:pic>
      <p:sp>
        <p:nvSpPr>
          <p:cNvPr id="29" name="text-297"/>
          <p:cNvSpPr txBox="1"/>
          <p:nvPr/>
        </p:nvSpPr>
        <p:spPr>
          <a:xfrm>
            <a:off x="1280160" y="4983480"/>
            <a:ext cx="10362895" cy="6858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Revenue model: </a:t>
            </a:r>
            <a:pPr indent="0" marL="0">
              <a:buNone/>
            </a:pPr>
            <a:r>
              <a:rPr lang="en-US" sz="1600" dirty="0">
                <a:solidFill>
                  <a:schemeClr val="tx2"/>
                </a:solidFill>
                <a:latin typeface="Arial" pitchFamily="34" charset="0"/>
                <a:ea typeface="Arial" pitchFamily="34" charset="-122"/>
                <a:cs typeface="Arial" pitchFamily="34" charset="-120"/>
              </a:rPr>
              <a:t>a 10% platform fee on funds raised. If a campaign raises less than $250, nothing runs and every backer is refunded in full.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Where we are today: a working prototype</a:t>
            </a:r>
            <a:endParaRPr lang="en-US" sz="3400" dirty="0"/>
          </a:p>
        </p:txBody>
      </p:sp>
      <p:sp>
        <p:nvSpPr>
          <p:cNvPr id="3" name="card-298"/>
          <p:cNvSpPr/>
          <p:nvPr/>
        </p:nvSpPr>
        <p:spPr>
          <a:xfrm>
            <a:off x="548640" y="1463040"/>
            <a:ext cx="5364328" cy="4023360"/>
          </a:xfrm>
          <a:prstGeom prst="roundRect">
            <a:avLst>
              <a:gd name="adj" fmla="val 3409"/>
            </a:avLst>
          </a:prstGeom>
          <a:solidFill>
            <a:schemeClr val="bg2"/>
          </a:solidFill>
          <a:ln/>
        </p:spPr>
      </p:sp>
      <p:sp>
        <p:nvSpPr>
          <p:cNvPr id="4" name="icon-bg-299"/>
          <p:cNvSpPr/>
          <p:nvPr/>
        </p:nvSpPr>
        <p:spPr>
          <a:xfrm>
            <a:off x="868680" y="1737360"/>
            <a:ext cx="548640" cy="548640"/>
          </a:xfrm>
          <a:prstGeom prst="ellipse">
            <a:avLst/>
          </a:prstGeom>
          <a:solidFill>
            <a:schemeClr val="accent3"/>
          </a:solidFill>
          <a:ln/>
        </p:spPr>
      </p:sp>
      <p:pic>
        <p:nvPicPr>
          <p:cNvPr id="5" name="icon-300" descr="preencoded.png">    </p:cNvPr>
          <p:cNvPicPr>
            <a:picLocks noChangeAspect="1"/>
          </p:cNvPicPr>
          <p:nvPr/>
        </p:nvPicPr>
        <p:blipFill>
          <a:blip r:embed="rId1"/>
          <a:stretch>
            <a:fillRect/>
          </a:stretch>
        </p:blipFill>
        <p:spPr>
          <a:xfrm>
            <a:off x="989381" y="1858061"/>
            <a:ext cx="307238" cy="307238"/>
          </a:xfrm>
          <a:prstGeom prst="rect">
            <a:avLst/>
          </a:prstGeom>
        </p:spPr>
      </p:pic>
      <p:sp>
        <p:nvSpPr>
          <p:cNvPr id="6" name="text-301"/>
          <p:cNvSpPr txBox="1"/>
          <p:nvPr/>
        </p:nvSpPr>
        <p:spPr>
          <a:xfrm>
            <a:off x="1600200" y="1737360"/>
            <a:ext cx="4084168" cy="548640"/>
          </a:xfrm>
          <a:prstGeom prst="rect">
            <a:avLst/>
          </a:prstGeom>
          <a:noFill/>
          <a:ln/>
        </p:spPr>
        <p:txBody>
          <a:bodyPr wrap="square" lIns="0" tIns="0" rIns="0" bIns="0" rtlCol="0" anchor="ctr"/>
          <a:lstStyle/>
          <a:p>
            <a:pPr indent="0" marL="0">
              <a:buNone/>
            </a:pPr>
            <a:r>
              <a:rPr lang="en-US" sz="2400" b="1" dirty="0">
                <a:solidFill>
                  <a:schemeClr val="tx1"/>
                </a:solidFill>
                <a:latin typeface="Georgia" pitchFamily="34" charset="0"/>
                <a:ea typeface="Georgia" pitchFamily="34" charset="-122"/>
                <a:cs typeface="Georgia" pitchFamily="34" charset="-120"/>
              </a:rPr>
              <a:t>Working today</a:t>
            </a:r>
            <a:endParaRPr lang="en-US" sz="2400" dirty="0"/>
          </a:p>
        </p:txBody>
      </p:sp>
      <p:sp>
        <p:nvSpPr>
          <p:cNvPr id="7" name="text-302"/>
          <p:cNvSpPr txBox="1"/>
          <p:nvPr/>
        </p:nvSpPr>
        <p:spPr>
          <a:xfrm>
            <a:off x="914400" y="2606040"/>
            <a:ext cx="4632808" cy="32004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The full app on iPhone and Android</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Real accounts: sign up, sign in, password reset</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Every flow end to end: discover, back, create, review, report</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Notifications, creator dashboard and public reports</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Light and dark mode, accessibility settings</a:t>
            </a:r>
            <a:endParaRPr lang="en-US" sz="1600" dirty="0"/>
          </a:p>
        </p:txBody>
      </p:sp>
      <p:sp>
        <p:nvSpPr>
          <p:cNvPr id="8" name="card-303"/>
          <p:cNvSpPr/>
          <p:nvPr/>
        </p:nvSpPr>
        <p:spPr>
          <a:xfrm>
            <a:off x="6278728" y="1463040"/>
            <a:ext cx="5364328" cy="4023360"/>
          </a:xfrm>
          <a:prstGeom prst="roundRect">
            <a:avLst>
              <a:gd name="adj" fmla="val 3409"/>
            </a:avLst>
          </a:prstGeom>
          <a:solidFill>
            <a:schemeClr val="bg2"/>
          </a:solidFill>
          <a:ln/>
        </p:spPr>
      </p:sp>
      <p:sp>
        <p:nvSpPr>
          <p:cNvPr id="9" name="icon-bg-304"/>
          <p:cNvSpPr/>
          <p:nvPr/>
        </p:nvSpPr>
        <p:spPr>
          <a:xfrm>
            <a:off x="6598768" y="1737360"/>
            <a:ext cx="548640" cy="548640"/>
          </a:xfrm>
          <a:prstGeom prst="ellipse">
            <a:avLst/>
          </a:prstGeom>
          <a:solidFill>
            <a:schemeClr val="accent4"/>
          </a:solidFill>
          <a:ln/>
        </p:spPr>
      </p:sp>
      <p:pic>
        <p:nvPicPr>
          <p:cNvPr id="10" name="icon-305" descr="preencoded.png">    </p:cNvPr>
          <p:cNvPicPr>
            <a:picLocks noChangeAspect="1"/>
          </p:cNvPicPr>
          <p:nvPr/>
        </p:nvPicPr>
        <p:blipFill>
          <a:blip r:embed="rId2"/>
          <a:stretch>
            <a:fillRect/>
          </a:stretch>
        </p:blipFill>
        <p:spPr>
          <a:xfrm>
            <a:off x="6719468" y="1858061"/>
            <a:ext cx="307238" cy="307238"/>
          </a:xfrm>
          <a:prstGeom prst="rect">
            <a:avLst/>
          </a:prstGeom>
        </p:spPr>
      </p:pic>
      <p:sp>
        <p:nvSpPr>
          <p:cNvPr id="11" name="text-306"/>
          <p:cNvSpPr txBox="1"/>
          <p:nvPr/>
        </p:nvSpPr>
        <p:spPr>
          <a:xfrm>
            <a:off x="7330288" y="1737360"/>
            <a:ext cx="4084168" cy="548640"/>
          </a:xfrm>
          <a:prstGeom prst="rect">
            <a:avLst/>
          </a:prstGeom>
          <a:noFill/>
          <a:ln/>
        </p:spPr>
        <p:txBody>
          <a:bodyPr wrap="square" lIns="0" tIns="0" rIns="0" bIns="0" rtlCol="0" anchor="ctr"/>
          <a:lstStyle/>
          <a:p>
            <a:pPr indent="0" marL="0">
              <a:buNone/>
            </a:pPr>
            <a:r>
              <a:rPr lang="en-US" sz="2400" b="1" dirty="0">
                <a:solidFill>
                  <a:schemeClr val="tx1"/>
                </a:solidFill>
                <a:latin typeface="Georgia" pitchFamily="34" charset="0"/>
                <a:ea typeface="Georgia" pitchFamily="34" charset="-122"/>
                <a:cs typeface="Georgia" pitchFamily="34" charset="-120"/>
              </a:rPr>
              <a:t>Simulated in the prototype</a:t>
            </a:r>
            <a:endParaRPr lang="en-US" sz="2400" dirty="0"/>
          </a:p>
        </p:txBody>
      </p:sp>
      <p:sp>
        <p:nvSpPr>
          <p:cNvPr id="12" name="text-307"/>
          <p:cNvSpPr txBox="1"/>
          <p:nvPr/>
        </p:nvSpPr>
        <p:spPr>
          <a:xfrm>
            <a:off x="6644488" y="2606040"/>
            <a:ext cx="4632808" cy="32004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Payments use a test card: no real money moves</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Review decisions happen automatically on a timer</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Ad delivery and reach figures are sample data</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Campaigns and activity are stored on the device</a:t>
            </a:r>
            <a:endParaRPr lang="en-US" sz="1600" dirty="0"/>
          </a:p>
          <a:p>
            <a:pPr marL="203200" indent="-203200">
              <a:spcAft>
                <a:spcPts val="800"/>
              </a:spcAft>
              <a:buSzPct val="100000"/>
              <a:buChar char="•"/>
            </a:pPr>
            <a:r>
              <a:rPr lang="en-US" sz="1600" dirty="0">
                <a:solidFill>
                  <a:schemeClr val="tx1"/>
                </a:solidFill>
                <a:latin typeface="Arial" pitchFamily="34" charset="0"/>
                <a:ea typeface="Arial" pitchFamily="34" charset="-122"/>
                <a:cs typeface="Arial" pitchFamily="34" charset="-120"/>
              </a:rPr>
              <a:t>Voice answers are typed out from a sample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dirty="0">
                <a:solidFill>
                  <a:schemeClr val="tx1"/>
                </a:solidFill>
                <a:latin typeface="Georgia" pitchFamily="34" charset="0"/>
                <a:ea typeface="Georgia" pitchFamily="34" charset="-122"/>
                <a:cs typeface="Georgia" pitchFamily="34" charset="-120"/>
              </a:rPr>
              <a:t>From prototype to pilot</a:t>
            </a:r>
            <a:endParaRPr lang="en-US" sz="3400" dirty="0"/>
          </a:p>
        </p:txBody>
      </p:sp>
      <p:sp>
        <p:nvSpPr>
          <p:cNvPr id="3" name="card-308"/>
          <p:cNvSpPr/>
          <p:nvPr/>
        </p:nvSpPr>
        <p:spPr>
          <a:xfrm>
            <a:off x="548640" y="1463040"/>
            <a:ext cx="3393338" cy="2606040"/>
          </a:xfrm>
          <a:prstGeom prst="roundRect">
            <a:avLst>
              <a:gd name="adj" fmla="val 5263"/>
            </a:avLst>
          </a:prstGeom>
          <a:solidFill>
            <a:schemeClr val="bg2"/>
          </a:solidFill>
          <a:ln/>
        </p:spPr>
      </p:sp>
      <p:sp>
        <p:nvSpPr>
          <p:cNvPr id="4" name="phase-309"/>
          <p:cNvSpPr/>
          <p:nvPr/>
        </p:nvSpPr>
        <p:spPr>
          <a:xfrm>
            <a:off x="822960" y="1691640"/>
            <a:ext cx="548640" cy="548640"/>
          </a:xfrm>
          <a:prstGeom prst="ellipse">
            <a:avLst/>
          </a:prstGeom>
          <a:solidFill>
            <a:schemeClr val="accent1"/>
          </a:solidFill>
          <a:ln/>
        </p:spPr>
      </p:sp>
      <p:sp>
        <p:nvSpPr>
          <p:cNvPr id="5" name="text-310"/>
          <p:cNvSpPr txBox="1"/>
          <p:nvPr/>
        </p:nvSpPr>
        <p:spPr>
          <a:xfrm>
            <a:off x="82296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1</a:t>
            </a:r>
            <a:endParaRPr lang="en-US" sz="2000" dirty="0"/>
          </a:p>
        </p:txBody>
      </p:sp>
      <p:sp>
        <p:nvSpPr>
          <p:cNvPr id="6" name="text-311"/>
          <p:cNvSpPr txBox="1"/>
          <p:nvPr/>
        </p:nvSpPr>
        <p:spPr>
          <a:xfrm>
            <a:off x="1554480" y="1691640"/>
            <a:ext cx="2204618" cy="54864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Get pilot-ready</a:t>
            </a:r>
            <a:endParaRPr lang="en-US" sz="2000" dirty="0"/>
          </a:p>
        </p:txBody>
      </p:sp>
      <p:sp>
        <p:nvSpPr>
          <p:cNvPr id="7" name="text-312"/>
          <p:cNvSpPr txBox="1"/>
          <p:nvPr/>
        </p:nvSpPr>
        <p:spPr>
          <a:xfrm>
            <a:off x="868680" y="2468880"/>
            <a:ext cx="2844698" cy="15544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Real payments and refunds</a:t>
            </a:r>
            <a:endParaRPr lang="en-US" sz="1600" dirty="0"/>
          </a:p>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Shared data across devices</a:t>
            </a:r>
            <a:endParaRPr lang="en-US" sz="1600" dirty="0"/>
          </a:p>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Review tools for our team</a:t>
            </a:r>
            <a:endParaRPr lang="en-US" sz="1600" dirty="0"/>
          </a:p>
        </p:txBody>
      </p:sp>
      <p:sp>
        <p:nvSpPr>
          <p:cNvPr id="8" name="arrow-313"/>
          <p:cNvSpPr/>
          <p:nvPr/>
        </p:nvSpPr>
        <p:spPr>
          <a:xfrm>
            <a:off x="4015130" y="2743200"/>
            <a:ext cx="310896" cy="914"/>
          </a:xfrm>
          <a:prstGeom prst="line">
            <a:avLst/>
          </a:prstGeom>
          <a:noFill/>
          <a:ln w="25400">
            <a:solidFill>
              <a:schemeClr val="accent1"/>
            </a:solidFill>
            <a:prstDash val="solid"/>
            <a:tailEnd type="triangle"/>
          </a:ln>
        </p:spPr>
      </p:sp>
      <p:sp>
        <p:nvSpPr>
          <p:cNvPr id="9" name="card-314"/>
          <p:cNvSpPr/>
          <p:nvPr/>
        </p:nvSpPr>
        <p:spPr>
          <a:xfrm>
            <a:off x="4399178" y="1463040"/>
            <a:ext cx="3393338" cy="2606040"/>
          </a:xfrm>
          <a:prstGeom prst="roundRect">
            <a:avLst>
              <a:gd name="adj" fmla="val 5263"/>
            </a:avLst>
          </a:prstGeom>
          <a:solidFill>
            <a:schemeClr val="bg2"/>
          </a:solidFill>
          <a:ln/>
        </p:spPr>
      </p:sp>
      <p:sp>
        <p:nvSpPr>
          <p:cNvPr id="10" name="phase-315"/>
          <p:cNvSpPr/>
          <p:nvPr/>
        </p:nvSpPr>
        <p:spPr>
          <a:xfrm>
            <a:off x="4673498" y="1691640"/>
            <a:ext cx="548640" cy="548640"/>
          </a:xfrm>
          <a:prstGeom prst="ellipse">
            <a:avLst/>
          </a:prstGeom>
          <a:solidFill>
            <a:schemeClr val="accent1"/>
          </a:solidFill>
          <a:ln/>
        </p:spPr>
      </p:sp>
      <p:sp>
        <p:nvSpPr>
          <p:cNvPr id="11" name="text-316"/>
          <p:cNvSpPr txBox="1"/>
          <p:nvPr/>
        </p:nvSpPr>
        <p:spPr>
          <a:xfrm>
            <a:off x="4673498"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2</a:t>
            </a:r>
            <a:endParaRPr lang="en-US" sz="2000" dirty="0"/>
          </a:p>
        </p:txBody>
      </p:sp>
      <p:sp>
        <p:nvSpPr>
          <p:cNvPr id="12" name="text-317"/>
          <p:cNvSpPr txBox="1"/>
          <p:nvPr/>
        </p:nvSpPr>
        <p:spPr>
          <a:xfrm>
            <a:off x="5405018" y="1691640"/>
            <a:ext cx="2204618" cy="54864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Run a pilot</a:t>
            </a:r>
            <a:endParaRPr lang="en-US" sz="2000" dirty="0"/>
          </a:p>
        </p:txBody>
      </p:sp>
      <p:sp>
        <p:nvSpPr>
          <p:cNvPr id="13" name="text-318"/>
          <p:cNvSpPr txBox="1"/>
          <p:nvPr/>
        </p:nvSpPr>
        <p:spPr>
          <a:xfrm>
            <a:off x="4719218" y="2468880"/>
            <a:ext cx="2844698" cy="15544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A handful of local organizations</a:t>
            </a:r>
            <a:endParaRPr lang="en-US" sz="1600" dirty="0"/>
          </a:p>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One city, a few categories</a:t>
            </a:r>
            <a:endParaRPr lang="en-US" sz="1600" dirty="0"/>
          </a:p>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Measure reach and repeat backing</a:t>
            </a:r>
            <a:endParaRPr lang="en-US" sz="1600" dirty="0"/>
          </a:p>
        </p:txBody>
      </p:sp>
      <p:sp>
        <p:nvSpPr>
          <p:cNvPr id="14" name="arrow-319"/>
          <p:cNvSpPr/>
          <p:nvPr/>
        </p:nvSpPr>
        <p:spPr>
          <a:xfrm>
            <a:off x="7865669" y="2743200"/>
            <a:ext cx="310896" cy="914"/>
          </a:xfrm>
          <a:prstGeom prst="line">
            <a:avLst/>
          </a:prstGeom>
          <a:noFill/>
          <a:ln w="25400">
            <a:solidFill>
              <a:schemeClr val="accent1"/>
            </a:solidFill>
            <a:prstDash val="solid"/>
            <a:tailEnd type="triangle"/>
          </a:ln>
        </p:spPr>
      </p:sp>
      <p:sp>
        <p:nvSpPr>
          <p:cNvPr id="15" name="card-320"/>
          <p:cNvSpPr/>
          <p:nvPr/>
        </p:nvSpPr>
        <p:spPr>
          <a:xfrm>
            <a:off x="8249717" y="1463040"/>
            <a:ext cx="3393338" cy="2606040"/>
          </a:xfrm>
          <a:prstGeom prst="roundRect">
            <a:avLst>
              <a:gd name="adj" fmla="val 5263"/>
            </a:avLst>
          </a:prstGeom>
          <a:solidFill>
            <a:schemeClr val="bg2"/>
          </a:solidFill>
          <a:ln/>
        </p:spPr>
      </p:sp>
      <p:sp>
        <p:nvSpPr>
          <p:cNvPr id="16" name="phase-321"/>
          <p:cNvSpPr/>
          <p:nvPr/>
        </p:nvSpPr>
        <p:spPr>
          <a:xfrm>
            <a:off x="8524037" y="1691640"/>
            <a:ext cx="548640" cy="548640"/>
          </a:xfrm>
          <a:prstGeom prst="ellipse">
            <a:avLst/>
          </a:prstGeom>
          <a:solidFill>
            <a:schemeClr val="accent1"/>
          </a:solidFill>
          <a:ln/>
        </p:spPr>
      </p:sp>
      <p:sp>
        <p:nvSpPr>
          <p:cNvPr id="17" name="text-322"/>
          <p:cNvSpPr txBox="1"/>
          <p:nvPr/>
        </p:nvSpPr>
        <p:spPr>
          <a:xfrm>
            <a:off x="8524037"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3</a:t>
            </a:r>
            <a:endParaRPr lang="en-US" sz="2000" dirty="0"/>
          </a:p>
        </p:txBody>
      </p:sp>
      <p:sp>
        <p:nvSpPr>
          <p:cNvPr id="18" name="text-323"/>
          <p:cNvSpPr txBox="1"/>
          <p:nvPr/>
        </p:nvSpPr>
        <p:spPr>
          <a:xfrm>
            <a:off x="9255557" y="1691640"/>
            <a:ext cx="2204618" cy="54864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Launch</a:t>
            </a:r>
            <a:endParaRPr lang="en-US" sz="2000" dirty="0"/>
          </a:p>
        </p:txBody>
      </p:sp>
      <p:sp>
        <p:nvSpPr>
          <p:cNvPr id="19" name="text-324"/>
          <p:cNvSpPr txBox="1"/>
          <p:nvPr/>
        </p:nvSpPr>
        <p:spPr>
          <a:xfrm>
            <a:off x="8569757" y="2468880"/>
            <a:ext cx="2844698" cy="15544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Ad network partnerships</a:t>
            </a:r>
            <a:endParaRPr lang="en-US" sz="1600" dirty="0"/>
          </a:p>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Push notifications</a:t>
            </a:r>
            <a:endParaRPr lang="en-US" sz="1600" dirty="0"/>
          </a:p>
          <a:p>
            <a:pPr marL="203200" indent="-203200">
              <a:spcAft>
                <a:spcPts val="800"/>
              </a:spcAft>
              <a:buSzPct val="100000"/>
              <a:buChar char="•"/>
            </a:pPr>
            <a:r>
              <a:rPr lang="en-US" sz="1500" dirty="0">
                <a:solidFill>
                  <a:schemeClr val="tx2"/>
                </a:solidFill>
                <a:latin typeface="Arial" pitchFamily="34" charset="0"/>
                <a:ea typeface="Arial" pitchFamily="34" charset="-122"/>
                <a:cs typeface="Arial" pitchFamily="34" charset="-120"/>
              </a:rPr>
              <a:t>App Store and Google Play</a:t>
            </a:r>
            <a:endParaRPr lang="en-US" sz="1600" dirty="0"/>
          </a:p>
        </p:txBody>
      </p:sp>
      <p:sp>
        <p:nvSpPr>
          <p:cNvPr id="20" name="text-325"/>
          <p:cNvSpPr txBox="1"/>
          <p:nvPr/>
        </p:nvSpPr>
        <p:spPr>
          <a:xfrm>
            <a:off x="548640" y="4389120"/>
            <a:ext cx="548640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How you can help</a:t>
            </a:r>
            <a:endParaRPr lang="en-US" sz="2000" dirty="0"/>
          </a:p>
        </p:txBody>
      </p:sp>
      <p:sp>
        <p:nvSpPr>
          <p:cNvPr id="21" name="icon-bg-326"/>
          <p:cNvSpPr/>
          <p:nvPr/>
        </p:nvSpPr>
        <p:spPr>
          <a:xfrm>
            <a:off x="548640" y="4937760"/>
            <a:ext cx="457200" cy="457200"/>
          </a:xfrm>
          <a:prstGeom prst="ellipse">
            <a:avLst/>
          </a:prstGeom>
          <a:solidFill>
            <a:schemeClr val="accent1"/>
          </a:solidFill>
          <a:ln/>
        </p:spPr>
      </p:sp>
      <p:pic>
        <p:nvPicPr>
          <p:cNvPr id="22" name="icon-327" descr="preencoded.png">    </p:cNvPr>
          <p:cNvPicPr>
            <a:picLocks noChangeAspect="1"/>
          </p:cNvPicPr>
          <p:nvPr/>
        </p:nvPicPr>
        <p:blipFill>
          <a:blip r:embed="rId1"/>
          <a:stretch>
            <a:fillRect/>
          </a:stretch>
        </p:blipFill>
        <p:spPr>
          <a:xfrm>
            <a:off x="649224" y="5038344"/>
            <a:ext cx="256032" cy="256032"/>
          </a:xfrm>
          <a:prstGeom prst="rect">
            <a:avLst/>
          </a:prstGeom>
        </p:spPr>
      </p:pic>
      <p:sp>
        <p:nvSpPr>
          <p:cNvPr id="23" name="text-328"/>
          <p:cNvSpPr txBox="1"/>
          <p:nvPr/>
        </p:nvSpPr>
        <p:spPr>
          <a:xfrm>
            <a:off x="1188720" y="4937760"/>
            <a:ext cx="284469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Product</a:t>
            </a:r>
            <a:endParaRPr lang="en-US" sz="1600" dirty="0"/>
          </a:p>
        </p:txBody>
      </p:sp>
      <p:sp>
        <p:nvSpPr>
          <p:cNvPr id="24" name="text-329"/>
          <p:cNvSpPr txBox="1"/>
          <p:nvPr/>
        </p:nvSpPr>
        <p:spPr>
          <a:xfrm>
            <a:off x="1188720" y="5303520"/>
            <a:ext cx="2798978"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Choose pilot categories and the success measures that matter.</a:t>
            </a:r>
            <a:endParaRPr lang="en-US" sz="1400" dirty="0"/>
          </a:p>
        </p:txBody>
      </p:sp>
      <p:sp>
        <p:nvSpPr>
          <p:cNvPr id="25" name="icon-bg-330"/>
          <p:cNvSpPr/>
          <p:nvPr/>
        </p:nvSpPr>
        <p:spPr>
          <a:xfrm>
            <a:off x="4353458" y="4937760"/>
            <a:ext cx="457200" cy="457200"/>
          </a:xfrm>
          <a:prstGeom prst="ellipse">
            <a:avLst/>
          </a:prstGeom>
          <a:solidFill>
            <a:schemeClr val="accent1"/>
          </a:solidFill>
          <a:ln/>
        </p:spPr>
      </p:sp>
      <p:pic>
        <p:nvPicPr>
          <p:cNvPr id="26" name="icon-331" descr="preencoded.png">    </p:cNvPr>
          <p:cNvPicPr>
            <a:picLocks noChangeAspect="1"/>
          </p:cNvPicPr>
          <p:nvPr/>
        </p:nvPicPr>
        <p:blipFill>
          <a:blip r:embed="rId2"/>
          <a:stretch>
            <a:fillRect/>
          </a:stretch>
        </p:blipFill>
        <p:spPr>
          <a:xfrm>
            <a:off x="4454042" y="5038344"/>
            <a:ext cx="256032" cy="256032"/>
          </a:xfrm>
          <a:prstGeom prst="rect">
            <a:avLst/>
          </a:prstGeom>
        </p:spPr>
      </p:pic>
      <p:sp>
        <p:nvSpPr>
          <p:cNvPr id="27" name="text-332"/>
          <p:cNvSpPr txBox="1"/>
          <p:nvPr/>
        </p:nvSpPr>
        <p:spPr>
          <a:xfrm>
            <a:off x="4993538" y="4937760"/>
            <a:ext cx="284469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Marketing</a:t>
            </a:r>
            <a:endParaRPr lang="en-US" sz="1600" dirty="0"/>
          </a:p>
        </p:txBody>
      </p:sp>
      <p:sp>
        <p:nvSpPr>
          <p:cNvPr id="28" name="text-333"/>
          <p:cNvSpPr txBox="1"/>
          <p:nvPr/>
        </p:nvSpPr>
        <p:spPr>
          <a:xfrm>
            <a:off x="4993538" y="5303520"/>
            <a:ext cx="2798978"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Test the message “fund the reach, not the cause” and recruit pilot creators.</a:t>
            </a:r>
            <a:endParaRPr lang="en-US" sz="1400" dirty="0"/>
          </a:p>
        </p:txBody>
      </p:sp>
      <p:sp>
        <p:nvSpPr>
          <p:cNvPr id="29" name="icon-bg-334"/>
          <p:cNvSpPr/>
          <p:nvPr/>
        </p:nvSpPr>
        <p:spPr>
          <a:xfrm>
            <a:off x="8158277" y="4937760"/>
            <a:ext cx="457200" cy="457200"/>
          </a:xfrm>
          <a:prstGeom prst="ellipse">
            <a:avLst/>
          </a:prstGeom>
          <a:solidFill>
            <a:schemeClr val="accent1"/>
          </a:solidFill>
          <a:ln/>
        </p:spPr>
      </p:sp>
      <p:pic>
        <p:nvPicPr>
          <p:cNvPr id="30" name="icon-335" descr="preencoded.png">    </p:cNvPr>
          <p:cNvPicPr>
            <a:picLocks noChangeAspect="1"/>
          </p:cNvPicPr>
          <p:nvPr/>
        </p:nvPicPr>
        <p:blipFill>
          <a:blip r:embed="rId3"/>
          <a:stretch>
            <a:fillRect/>
          </a:stretch>
        </p:blipFill>
        <p:spPr>
          <a:xfrm>
            <a:off x="8258861" y="5038344"/>
            <a:ext cx="256032" cy="256032"/>
          </a:xfrm>
          <a:prstGeom prst="rect">
            <a:avLst/>
          </a:prstGeom>
        </p:spPr>
      </p:pic>
      <p:sp>
        <p:nvSpPr>
          <p:cNvPr id="31" name="text-336"/>
          <p:cNvSpPr txBox="1"/>
          <p:nvPr/>
        </p:nvSpPr>
        <p:spPr>
          <a:xfrm>
            <a:off x="8798357" y="4937760"/>
            <a:ext cx="284469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Everyone</a:t>
            </a:r>
            <a:endParaRPr lang="en-US" sz="1600" dirty="0"/>
          </a:p>
        </p:txBody>
      </p:sp>
      <p:sp>
        <p:nvSpPr>
          <p:cNvPr id="32" name="text-337"/>
          <p:cNvSpPr txBox="1"/>
          <p:nvPr/>
        </p:nvSpPr>
        <p:spPr>
          <a:xfrm>
            <a:off x="8798357" y="5303520"/>
            <a:ext cx="2798978"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Try the app and tell us where it confuses or delights you.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logo-close" descr="/Users/kaushiksharma/Desktop/campaign-app/assets/images/splash-icon-dark.png">    </p:cNvPr>
          <p:cNvPicPr>
            <a:picLocks noChangeAspect="1"/>
          </p:cNvPicPr>
          <p:nvPr/>
        </p:nvPicPr>
        <p:blipFill>
          <a:blip r:embed="rId1"/>
          <a:stretch>
            <a:fillRect/>
          </a:stretch>
        </p:blipFill>
        <p:spPr>
          <a:xfrm>
            <a:off x="502920" y="1234440"/>
            <a:ext cx="1097280" cy="1097280"/>
          </a:xfrm>
          <a:prstGeom prst="rect">
            <a:avLst/>
          </a:prstGeom>
        </p:spPr>
      </p:pic>
      <p:sp>
        <p:nvSpPr>
          <p:cNvPr id="3" name="text-338"/>
          <p:cNvSpPr txBox="1"/>
          <p:nvPr/>
        </p:nvSpPr>
        <p:spPr>
          <a:xfrm>
            <a:off x="548640" y="2651760"/>
            <a:ext cx="6949440" cy="1463040"/>
          </a:xfrm>
          <a:prstGeom prst="rect">
            <a:avLst/>
          </a:prstGeom>
          <a:noFill/>
          <a:ln/>
        </p:spPr>
        <p:txBody>
          <a:bodyPr wrap="square" lIns="0" tIns="0" rIns="0" bIns="0" rtlCol="0" anchor="t"/>
          <a:lstStyle/>
          <a:p>
            <a:pPr indent="0" marL="0">
              <a:buNone/>
            </a:pPr>
            <a:r>
              <a:rPr lang="en-US" sz="4000" dirty="0">
                <a:solidFill>
                  <a:schemeClr val="bg1"/>
                </a:solidFill>
                <a:latin typeface="Georgia" pitchFamily="34" charset="0"/>
                <a:ea typeface="Georgia" pitchFamily="34" charset="-122"/>
                <a:cs typeface="Georgia" pitchFamily="34" charset="-120"/>
              </a:rPr>
              <a:t>Help important messages travel further.</a:t>
            </a:r>
            <a:endParaRPr lang="en-US" sz="4000" dirty="0"/>
          </a:p>
        </p:txBody>
      </p:sp>
      <p:sp>
        <p:nvSpPr>
          <p:cNvPr id="4" name="text-339"/>
          <p:cNvSpPr txBox="1"/>
          <p:nvPr/>
        </p:nvSpPr>
        <p:spPr>
          <a:xfrm>
            <a:off x="548640" y="4297680"/>
            <a:ext cx="6400800" cy="548640"/>
          </a:xfrm>
          <a:prstGeom prst="rect">
            <a:avLst/>
          </a:prstGeom>
          <a:noFill/>
          <a:ln/>
        </p:spPr>
        <p:txBody>
          <a:bodyPr wrap="square" lIns="0" tIns="0" rIns="0" bIns="0" rtlCol="0" anchor="t"/>
          <a:lstStyle/>
          <a:p>
            <a:pPr indent="0" marL="0">
              <a:buNone/>
            </a:pPr>
            <a:r>
              <a:rPr lang="en-US" sz="2000" dirty="0">
                <a:solidFill>
                  <a:schemeClr val="accent2"/>
                </a:solidFill>
                <a:latin typeface="Arial" pitchFamily="34" charset="0"/>
                <a:ea typeface="Arial" pitchFamily="34" charset="-122"/>
                <a:cs typeface="Arial" pitchFamily="34" charset="-120"/>
              </a:rPr>
              <a:t>Questions and feedback welcome.</a:t>
            </a:r>
            <a:endParaRPr lang="en-US" sz="2000" dirty="0"/>
          </a:p>
        </p:txBody>
      </p:sp>
      <p:pic>
        <p:nvPicPr>
          <p:cNvPr id="5" name="phone-detail-340" descr="preencoded.png">    </p:cNvPr>
          <p:cNvPicPr>
            <a:picLocks noChangeAspect="1"/>
          </p:cNvPicPr>
          <p:nvPr/>
        </p:nvPicPr>
        <p:blipFill>
          <a:blip r:embed="rId2"/>
          <a:stretch>
            <a:fillRect/>
          </a:stretch>
        </p:blipFill>
        <p:spPr>
          <a:xfrm>
            <a:off x="7818120" y="502920"/>
            <a:ext cx="2772304" cy="5852160"/>
          </a:xfrm>
          <a:prstGeom prst="rect">
            <a:avLst/>
          </a:prstGeom>
        </p:spPr>
      </p:pic>
    </p:spTree>
  </p:cSld>
  <p:clrMapOvr>
    <a:masterClrMapping/>
  </p:clrMapOvr>
</p:sld>
</file>

<file path=ppt/theme/theme1.xml><?xml version="1.0" encoding="utf-8"?>
<a:theme xmlns:a="http://schemas.openxmlformats.org/drawingml/2006/main" name="Campaigns">
  <a:themeElements>
    <a:clrScheme name="Campaigns">
      <a:dk1>
        <a:srgbClr val="14161F"/>
      </a:dk1>
      <a:lt1>
        <a:srgbClr val="FFFFFF"/>
      </a:lt1>
      <a:dk2>
        <a:srgbClr val="4A4F66"/>
      </a:dk2>
      <a:lt2>
        <a:srgbClr val="EEF0FB"/>
      </a:lt2>
      <a:accent1>
        <a:srgbClr val="3341C4"/>
      </a:accent1>
      <a:accent2>
        <a:srgbClr val="8F9BFF"/>
      </a:accent2>
      <a:accent3>
        <a:srgbClr val="1F8A5B"/>
      </a:accent3>
      <a:accent4>
        <a:srgbClr val="D9A21B"/>
      </a:accent4>
      <a:accent5>
        <a:srgbClr val="C2413B"/>
      </a:accent5>
      <a:accent6>
        <a:srgbClr val="8A8FA6"/>
      </a:accent6>
      <a:hlink>
        <a:srgbClr val="3341C4"/>
      </a:hlink>
      <a:folHlink>
        <a:srgbClr val="2A36A6"/>
      </a:folHlink>
    </a:clrScheme>
    <a:fontScheme name="Campaign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Campaigns: product overview</dc:title>
  <dc:subject>Product pitch for product, marketing and business teams</dc:subject>
  <dc:creator>Campaigns</dc:creator>
  <cp:lastModifiedBy>Campaigns</cp:lastModifiedBy>
  <cp:revision>1</cp:revision>
  <dcterms:created xsi:type="dcterms:W3CDTF">2026-10-18T17:41:28Z</dcterms:created>
  <dcterms:modified xsi:type="dcterms:W3CDTF">2026-10-18T17:41:28Z</dcterms:modified>
</cp:coreProperties>
</file>